
<file path=[Content_Types].xml><?xml version="1.0" encoding="utf-8"?>
<Types xmlns="http://schemas.openxmlformats.org/package/2006/content-types">
  <Default Extension="bin" ContentType="application/vnd.openxmlformats-officedocument.presentationml.printerSetting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ns0:presentation xmlns:ns0="http://schemas.openxmlformats.org/presentationml/2006/main" xmlns:ns1="http://schemas.openxmlformats.org/officeDocument/2006/relationships" xmlns:ns2="http://schemas.openxmlformats.org/drawingml/2006/main" saveSubsetFonts="1" autoCompressPictures="0" embedTrueTypeFonts="1">
  <ns0:sldMasterIdLst>
    <ns0:sldMasterId id="2147483648" ns1:id="rId1"/>
  </ns0:sldMasterIdLst>
  <ns0:sldIdLst>
    <ns0:sldId id="256" ns1:id="rId7"/>
    <ns0:sldId id="257" ns1:id="rId8"/>
    <ns0:sldId id="258" ns1:id="rId9"/>
    <ns0:sldId id="259" ns1:id="rId10"/>
    <ns0:sldId id="260" ns1:id="rId11"/>
    <ns0:sldId id="261" ns1:id="rId12"/>
    <ns0:sldId id="262" ns1:id="rId13"/>
    <ns0:sldId id="268" ns1:id="rId23"/>
    <ns0:sldId id="263" ns1:id="rId14"/>
    <ns0:sldId id="264" ns1:id="rId15"/>
    <ns0:sldId id="265" ns1:id="rId16"/>
    <ns0:sldId id="269" ns1:id="rId24"/>
    <ns0:sldId id="270" ns1:id="rId25"/>
    <ns0:sldId id="266" ns1:id="rId17"/>
    <ns0:sldId id="267" ns1:id="rId18"/>
  </ns0:sldIdLst>
  <ns0:sldSz cx="12192000" cy="6858000" type="screen4x3"/>
  <ns0:notesSz cx="6858000" cy="9144000"/>
  <ns0:embeddedFontLst>
    <ns0:embeddedFont>
      <ns0:font typeface="Be Vietnam Pro"/>
      <ns0:bold ns1:id="rIdFont19"/>
      <ns0:regular ns1:id="rIdFont20"/>
    </ns0:embeddedFont>
    <ns0:embeddedFont>
      <ns0:font typeface="JetBrains Mono"/>
      <ns0:bold ns1:id="rIdFont21"/>
      <ns0:regular ns1:id="rIdFont22"/>
    </ns0:embeddedFont>
  </ns0:embeddedFontLst>
  <ns0:defaultTextStyle>
    <ns2:defPPr>
      <ns2:defRPr lang="en-US"/>
    </ns2:defPPr>
    <ns2:lvl1pPr marL="0" algn="l" defTabSz="457200" rtl="0" eaLnBrk="1" latinLnBrk="0" hangingPunct="1">
      <ns2:defRPr sz="1800" kern="1200">
        <ns2:solidFill>
          <ns2:schemeClr val="tx1"/>
        </ns2:solidFill>
        <ns2:latin typeface="+mn-lt"/>
        <ns2:ea typeface="+mn-ea"/>
        <ns2:cs typeface="+mn-cs"/>
      </ns2:defRPr>
    </ns2:lvl1pPr>
    <ns2:lvl2pPr marL="457200" algn="l" defTabSz="457200" rtl="0" eaLnBrk="1" latinLnBrk="0" hangingPunct="1">
      <ns2:defRPr sz="1800" kern="1200">
        <ns2:solidFill>
          <ns2:schemeClr val="tx1"/>
        </ns2:solidFill>
        <ns2:latin typeface="+mn-lt"/>
        <ns2:ea typeface="+mn-ea"/>
        <ns2:cs typeface="+mn-cs"/>
      </ns2:defRPr>
    </ns2:lvl2pPr>
    <ns2:lvl3pPr marL="914400" algn="l" defTabSz="457200" rtl="0" eaLnBrk="1" latinLnBrk="0" hangingPunct="1">
      <ns2:defRPr sz="1800" kern="1200">
        <ns2:solidFill>
          <ns2:schemeClr val="tx1"/>
        </ns2:solidFill>
        <ns2:latin typeface="+mn-lt"/>
        <ns2:ea typeface="+mn-ea"/>
        <ns2:cs typeface="+mn-cs"/>
      </ns2:defRPr>
    </ns2:lvl3pPr>
    <ns2:lvl4pPr marL="1371600" algn="l" defTabSz="457200" rtl="0" eaLnBrk="1" latinLnBrk="0" hangingPunct="1">
      <ns2:defRPr sz="1800" kern="1200">
        <ns2:solidFill>
          <ns2:schemeClr val="tx1"/>
        </ns2:solidFill>
        <ns2:latin typeface="+mn-lt"/>
        <ns2:ea typeface="+mn-ea"/>
        <ns2:cs typeface="+mn-cs"/>
      </ns2:defRPr>
    </ns2:lvl4pPr>
    <ns2:lvl5pPr marL="1828800" algn="l" defTabSz="457200" rtl="0" eaLnBrk="1" latinLnBrk="0" hangingPunct="1">
      <ns2:defRPr sz="1800" kern="1200">
        <ns2:solidFill>
          <ns2:schemeClr val="tx1"/>
        </ns2:solidFill>
        <ns2:latin typeface="+mn-lt"/>
        <ns2:ea typeface="+mn-ea"/>
        <ns2:cs typeface="+mn-cs"/>
      </ns2:defRPr>
    </ns2:lvl5pPr>
    <ns2:lvl6pPr marL="2286000" algn="l" defTabSz="457200" rtl="0" eaLnBrk="1" latinLnBrk="0" hangingPunct="1">
      <ns2:defRPr sz="1800" kern="1200">
        <ns2:solidFill>
          <ns2:schemeClr val="tx1"/>
        </ns2:solidFill>
        <ns2:latin typeface="+mn-lt"/>
        <ns2:ea typeface="+mn-ea"/>
        <ns2:cs typeface="+mn-cs"/>
      </ns2:defRPr>
    </ns2:lvl6pPr>
    <ns2:lvl7pPr marL="2743200" algn="l" defTabSz="457200" rtl="0" eaLnBrk="1" latinLnBrk="0" hangingPunct="1">
      <ns2:defRPr sz="1800" kern="1200">
        <ns2:solidFill>
          <ns2:schemeClr val="tx1"/>
        </ns2:solidFill>
        <ns2:latin typeface="+mn-lt"/>
        <ns2:ea typeface="+mn-ea"/>
        <ns2:cs typeface="+mn-cs"/>
      </ns2:defRPr>
    </ns2:lvl7pPr>
    <ns2:lvl8pPr marL="3200400" algn="l" defTabSz="457200" rtl="0" eaLnBrk="1" latinLnBrk="0" hangingPunct="1">
      <ns2:defRPr sz="1800" kern="1200">
        <ns2:solidFill>
          <ns2:schemeClr val="tx1"/>
        </ns2:solidFill>
        <ns2:latin typeface="+mn-lt"/>
        <ns2:ea typeface="+mn-ea"/>
        <ns2:cs typeface="+mn-cs"/>
      </ns2:defRPr>
    </ns2:lvl8pPr>
    <ns2:lvl9pPr marL="3657600" algn="l" defTabSz="457200" rtl="0" eaLnBrk="1" latinLnBrk="0" hangingPunct="1">
      <ns2:defRPr sz="1800" kern="1200">
        <ns2:solidFill>
          <ns2:schemeClr val="tx1"/>
        </ns2:solidFill>
        <ns2:latin typeface="+mn-lt"/>
        <ns2:ea typeface="+mn-ea"/>
        <ns2:cs typeface="+mn-cs"/>
      </ns2:defRPr>
    </ns2: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Font19" Type="http://schemas.openxmlformats.org/officeDocument/2006/relationships/font" Target="fonts/ab2887d1-2696-4c65-ae54-df2dcb7203a4.fntdata"/><Relationship Id="rIdFont20" Type="http://schemas.openxmlformats.org/officeDocument/2006/relationships/font" Target="fonts/704b16b6-8826-4b44-84ce-65e1cb085c59.fntdata"/><Relationship Id="rIdFont21" Type="http://schemas.openxmlformats.org/officeDocument/2006/relationships/font" Target="fonts/5bf475ca-6ffd-4231-b315-af7f96828c66.fntdata"/><Relationship Id="rIdFont22" Type="http://schemas.openxmlformats.org/officeDocument/2006/relationships/font" Target="fonts/ed3c3731-1c78-4af9-882d-6932a12b0900.fntdata"/><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4.xml"/><Relationship Id="rId18" Type="http://schemas.openxmlformats.org/officeDocument/2006/relationships/slide" Target="slides/slide15.xml"/><Relationship Id="rId23" Type="http://schemas.openxmlformats.org/officeDocument/2006/relationships/slide" Target="slides/slide8.xml"/><Relationship Id="rId24" Type="http://schemas.openxmlformats.org/officeDocument/2006/relationships/slide" Target="slides/slide12.xml"/><Relationship Id="rId25"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34.png"/><Relationship Id="rId11" Type="http://schemas.openxmlformats.org/officeDocument/2006/relationships/image" Target="../media/image35.png"/><Relationship Id="rId12" Type="http://schemas.openxmlformats.org/officeDocument/2006/relationships/image" Target="../media/image36.png"/><Relationship Id="rId13" Type="http://schemas.openxmlformats.org/officeDocument/2006/relationships/image" Target="../media/image37.png"/><Relationship Id="rId14" Type="http://schemas.openxmlformats.org/officeDocument/2006/relationships/image" Target="../media/image3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3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92C"/>
        </a:solidFill>
        <a:effectLst/>
      </p:bgPr>
    </p:bg>
    <p:spTree>
      <p:nvGrpSpPr>
        <p:cNvPr id="1" name=""/>
        <p:cNvGrpSpPr/>
        <p:nvPr/>
      </p:nvGrpSpPr>
      <p:grpSpPr/>
      <p:sp>
        <p:nvSpPr>
          <p:cNvPr id="2" name="Rounded Rectangle 1"/>
          <p:cNvSpPr/>
          <p:nvPr/>
        </p:nvSpPr>
        <p:spPr>
          <a:xfrm>
            <a:off x="609600" y="4057650"/>
            <a:ext cx="838200" cy="47625"/>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609600" y="533400"/>
            <a:ext cx="1619250" cy="647700"/>
          </a:xfrm>
          <a:prstGeom prst="rect">
            <a:avLst/>
          </a:prstGeom>
        </p:spPr>
      </p:pic>
      <p:pic>
        <p:nvPicPr>
          <p:cNvPr id="6" name="Picture 5" descr="image.png"/>
          <p:cNvPicPr>
            <a:picLocks noChangeAspect="1"/>
          </p:cNvPicPr>
          <p:nvPr/>
        </p:nvPicPr>
        <p:blipFill>
          <a:blip r:embed="rId3"/>
          <a:stretch>
            <a:fillRect/>
          </a:stretch>
        </p:blipFill>
        <p:spPr>
          <a:xfrm>
            <a:off x="800100" y="647700"/>
            <a:ext cx="1238250" cy="419100"/>
          </a:xfrm>
          <a:prstGeom prst="rect">
            <a:avLst/>
          </a:prstGeom>
        </p:spPr>
      </p:pic>
      <p:sp>
        <p:nvSpPr>
          <p:cNvPr id="7" name="TextBox 6"/>
          <p:cNvSpPr txBox="1"/>
          <p:nvPr/>
        </p:nvSpPr>
        <p:spPr>
          <a:xfrm>
            <a:off x="609600" y="2047875"/>
            <a:ext cx="11582400" cy="190500"/>
          </a:xfrm>
          <a:prstGeom prst="rect">
            <a:avLst/>
          </a:prstGeom>
          <a:noFill/>
        </p:spPr>
        <p:txBody>
          <a:bodyPr wrap="none" lIns="0" rIns="0" tIns="0" bIns="0" anchor="t">
            <a:spAutoFit/>
          </a:bodyPr>
          <a:lstStyle/>
          <a:p>
            <a:pPr algn="l"/>
            <a:r>
              <a:rPr b="1" sz="1200" i="0" u="none">
                <a:solidFill>
                  <a:srgbClr val="10B981"/>
                </a:solidFill>
                <a:latin typeface="Be Vietnam Pro"/>
              </a:rPr>
              <a:t>BÁO CÁO TIỂU LUẬN GIỮA KỲ</a:t>
            </a:r>
          </a:p>
        </p:txBody>
      </p:sp>
      <p:sp>
        <p:nvSpPr>
          <p:cNvPr id="8" name="TextBox 7"/>
          <p:cNvSpPr txBox="1"/>
          <p:nvPr/>
        </p:nvSpPr>
        <p:spPr>
          <a:xfrm>
            <a:off x="609600" y="2390775"/>
            <a:ext cx="11582400" cy="676275"/>
          </a:xfrm>
          <a:prstGeom prst="rect">
            <a:avLst/>
          </a:prstGeom>
          <a:noFill/>
        </p:spPr>
        <p:txBody>
          <a:bodyPr wrap="none" lIns="0" rIns="0" tIns="0" bIns="0" anchor="t">
            <a:spAutoFit/>
          </a:bodyPr>
          <a:lstStyle/>
          <a:p>
            <a:pPr algn="l"/>
            <a:r>
              <a:rPr b="1" sz="4200" i="0" u="none">
                <a:solidFill>
                  <a:srgbClr val="F8FAFC"/>
                </a:solidFill>
                <a:latin typeface="Be Vietnam Pro"/>
              </a:rPr>
              <a:t>ENSEMBLE LEARNING</a:t>
            </a:r>
          </a:p>
        </p:txBody>
      </p:sp>
      <p:sp>
        <p:nvSpPr>
          <p:cNvPr id="9" name="TextBox 8"/>
          <p:cNvSpPr txBox="1"/>
          <p:nvPr/>
        </p:nvSpPr>
        <p:spPr>
          <a:xfrm>
            <a:off x="609600" y="3219450"/>
            <a:ext cx="9239250" cy="571500"/>
          </a:xfrm>
          <a:prstGeom prst="rect">
            <a:avLst/>
          </a:prstGeom>
          <a:noFill/>
        </p:spPr>
        <p:txBody>
          <a:bodyPr wrap="square" lIns="0" rIns="0" tIns="0" bIns="0" anchor="t">
            <a:spAutoFit/>
          </a:bodyPr>
          <a:lstStyle/>
          <a:p>
            <a:pPr algn="l"/>
            <a:r>
              <a:rPr b="0" sz="1800" i="0" u="none">
                <a:solidFill>
                  <a:srgbClr val="94A3B8"/>
                </a:solidFill>
                <a:latin typeface="Be Vietnam Pro"/>
              </a:rPr>
              <a:t>Quy trình Thuật toán AdaBoost &amp; Thực nghiệm Phân loại Dữ liệu Thực tế Breast Cancer Wisconsin</a:t>
            </a:r>
          </a:p>
        </p:txBody>
      </p:sp>
      <p:sp>
        <p:nvSpPr>
          <p:cNvPr id="10" name="TextBox 9"/>
          <p:cNvSpPr txBox="1"/>
          <p:nvPr/>
        </p:nvSpPr>
        <p:spPr>
          <a:xfrm>
            <a:off x="4772025" y="638175"/>
            <a:ext cx="6810375" cy="180975"/>
          </a:xfrm>
          <a:prstGeom prst="rect">
            <a:avLst/>
          </a:prstGeom>
          <a:noFill/>
        </p:spPr>
        <p:txBody>
          <a:bodyPr wrap="none" lIns="0" rIns="0" tIns="0" bIns="0" anchor="t">
            <a:spAutoFit/>
          </a:bodyPr>
          <a:lstStyle/>
          <a:p>
            <a:pPr algn="r"/>
            <a:r>
              <a:rPr b="1" sz="1125" i="0" u="none">
                <a:solidFill>
                  <a:srgbClr val="2DD4BF"/>
                </a:solidFill>
                <a:latin typeface="Be Vietnam Pro"/>
              </a:rPr>
              <a:t>TRƯỜNG ĐẠI HỌC TÔN ĐỨC THẮNG (TDTU)</a:t>
            </a:r>
          </a:p>
        </p:txBody>
      </p:sp>
      <p:sp>
        <p:nvSpPr>
          <p:cNvPr id="11" name="TextBox 10"/>
          <p:cNvSpPr txBox="1"/>
          <p:nvPr/>
        </p:nvSpPr>
        <p:spPr>
          <a:xfrm>
            <a:off x="4772025" y="857250"/>
            <a:ext cx="6810375" cy="219075"/>
          </a:xfrm>
          <a:prstGeom prst="rect">
            <a:avLst/>
          </a:prstGeom>
          <a:noFill/>
        </p:spPr>
        <p:txBody>
          <a:bodyPr wrap="none" lIns="0" rIns="0" tIns="0" bIns="0" anchor="t">
            <a:spAutoFit/>
          </a:bodyPr>
          <a:lstStyle/>
          <a:p>
            <a:pPr algn="r"/>
            <a:r>
              <a:rPr b="0" sz="1350" i="0" u="none">
                <a:solidFill>
                  <a:srgbClr val="CBD5E1"/>
                </a:solidFill>
                <a:latin typeface="Be Vietnam Pro"/>
              </a:rPr>
              <a:t>Môn học: Nhập môn Học máy (Introduction to Machine Learning)</a:t>
            </a:r>
          </a:p>
        </p:txBody>
      </p:sp>
      <p:sp>
        <p:nvSpPr>
          <p:cNvPr id="12" name="Rounded Rectangle 11"/>
          <p:cNvSpPr/>
          <p:nvPr/>
        </p:nvSpPr>
        <p:spPr>
          <a:xfrm>
            <a:off x="566928" y="4892040"/>
            <a:ext cx="3520440" cy="1417320"/>
          </a:xfrm>
          <a:prstGeom prst="roundRect">
            <a:avLst/>
          </a:prstGeom>
          <a:solidFill>
            <a:srgbClr val="F1F5F9"/>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37160"/>
          <a:lstStyle/>
          <a:p>
            <a:pPr algn="ctr">
              <a:defRPr sz="850" b="1">
                <a:solidFill>
                  <a:srgbClr val="0E7490"/>
                </a:solidFill>
              </a:defRPr>
            </a:pPr>
            <a:r>
              <a:t>GÓI A • LÝ THUYẾT &amp; TỔNG HỢP BÁO CÁO</a:t>
            </a:r>
          </a:p>
          <a:p>
            <a:pPr>
              <a:defRPr sz="1350" b="1">
                <a:solidFill>
                  <a:srgbClr val="0F172A"/>
                </a:solidFill>
              </a:defRPr>
            </a:pPr>
            <a:r>
              <a:t>Trần Hữu Nam</a:t>
            </a:r>
          </a:p>
          <a:p>
            <a:pPr>
              <a:defRPr sz="850">
                <a:solidFill>
                  <a:srgbClr val="475569"/>
                </a:solidFill>
              </a:defRPr>
            </a:pPr>
            <a:r>
              <a:t>MSSV: 52400217</a:t>
            </a:r>
            <a:br/>
            <a:r>
              <a:t>Cơ sở lý thuyết, Bias-Variance Tradeoff &amp; Báo cáo Word/PDF</a:t>
            </a:r>
          </a:p>
        </p:txBody>
      </p:sp>
      <p:sp>
        <p:nvSpPr>
          <p:cNvPr id="13" name="Rounded Rectangle 12"/>
          <p:cNvSpPr/>
          <p:nvPr/>
        </p:nvSpPr>
        <p:spPr>
          <a:xfrm>
            <a:off x="4334256" y="4892040"/>
            <a:ext cx="3520440" cy="1417320"/>
          </a:xfrm>
          <a:prstGeom prst="roundRect">
            <a:avLst/>
          </a:prstGeom>
          <a:solidFill>
            <a:srgbClr val="F1F5F9"/>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37160"/>
          <a:lstStyle/>
          <a:p>
            <a:pPr algn="ctr">
              <a:defRPr sz="850" b="1">
                <a:solidFill>
                  <a:srgbClr val="0E7490"/>
                </a:solidFill>
              </a:defRPr>
            </a:pPr>
            <a:r>
              <a:t>GÓI B • QUY TRÌNH THUẬT TOÁN &amp; SLIDE</a:t>
            </a:r>
          </a:p>
          <a:p>
            <a:pPr>
              <a:defRPr sz="1350" b="1">
                <a:solidFill>
                  <a:srgbClr val="0F172A"/>
                </a:solidFill>
              </a:defRPr>
            </a:pPr>
            <a:r>
              <a:t>Nguyễn Anh Hào</a:t>
            </a:r>
          </a:p>
          <a:p>
            <a:pPr>
              <a:defRPr sz="850">
                <a:solidFill>
                  <a:srgbClr val="475569"/>
                </a:solidFill>
              </a:defRPr>
            </a:pPr>
            <a:r>
              <a:t>MSSV: 52400186</a:t>
            </a:r>
            <a:br/>
            <a:r>
              <a:t>Giải thuật AdaBoost, Tính toán Số học &amp; Thiết kế Bài thuyết trình</a:t>
            </a:r>
          </a:p>
        </p:txBody>
      </p:sp>
      <p:sp>
        <p:nvSpPr>
          <p:cNvPr id="14" name="Rounded Rectangle 13"/>
          <p:cNvSpPr/>
          <p:nvPr/>
        </p:nvSpPr>
        <p:spPr>
          <a:xfrm>
            <a:off x="8101584" y="4892040"/>
            <a:ext cx="3520440" cy="1417320"/>
          </a:xfrm>
          <a:prstGeom prst="roundRect">
            <a:avLst/>
          </a:prstGeom>
          <a:solidFill>
            <a:srgbClr val="F1F5F9"/>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37160"/>
          <a:lstStyle/>
          <a:p>
            <a:pPr algn="ctr">
              <a:defRPr sz="850" b="1">
                <a:solidFill>
                  <a:srgbClr val="0E7490"/>
                </a:solidFill>
              </a:defRPr>
            </a:pPr>
            <a:r>
              <a:t>GÓI C • DỮ LIỆU &amp; THỰC NGHIỆM MÔ HÌNH</a:t>
            </a:r>
          </a:p>
          <a:p>
            <a:pPr>
              <a:defRPr sz="1350" b="1">
                <a:solidFill>
                  <a:srgbClr val="0F172A"/>
                </a:solidFill>
              </a:defRPr>
            </a:pPr>
            <a:r>
              <a:t>Nguyễn Trọng Quý</a:t>
            </a:r>
          </a:p>
          <a:p>
            <a:pPr>
              <a:defRPr sz="850">
                <a:solidFill>
                  <a:srgbClr val="475569"/>
                </a:solidFill>
              </a:defRPr>
            </a:pPr>
            <a:r>
              <a:t>MSSV: 52400230</a:t>
            </a:r>
            <a:br/>
            <a:r>
              <a:t>Pipeline Wisconsin, Hard Voting tự code &amp; Đánh giá Hiệu năng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66928" y="4846320"/>
            <a:ext cx="11045952" cy="777240"/>
          </a:xfrm>
          <a:prstGeom prst="roundRect">
            <a:avLst>
              <a:gd name="adj" fmla="val 16216"/>
            </a:avLst>
          </a:prstGeom>
          <a:solidFill>
            <a:srgbClr val="0F2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66928" y="2057400"/>
            <a:ext cx="2587752" cy="2560320"/>
          </a:xfrm>
          <a:prstGeom prst="roundRect">
            <a:avLst>
              <a:gd name="adj" fmla="val 574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392424" y="2057400"/>
            <a:ext cx="2587752" cy="2560320"/>
          </a:xfrm>
          <a:prstGeom prst="roundRect">
            <a:avLst>
              <a:gd name="adj" fmla="val 517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208776" y="2057400"/>
            <a:ext cx="2587752" cy="2560320"/>
          </a:xfrm>
          <a:prstGeom prst="roundRect">
            <a:avLst>
              <a:gd name="adj" fmla="val 574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034272" y="2057400"/>
            <a:ext cx="2587752" cy="2560320"/>
          </a:xfrm>
          <a:prstGeom prst="roundRect">
            <a:avLst>
              <a:gd name="adj" fmla="val 517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95528" y="2286000"/>
            <a:ext cx="493776" cy="493776"/>
          </a:xfrm>
          <a:prstGeom prst="rect">
            <a:avLst/>
          </a:prstGeom>
        </p:spPr>
      </p:pic>
      <p:pic>
        <p:nvPicPr>
          <p:cNvPr id="8" name="Picture 7" descr="image.png"/>
          <p:cNvPicPr>
            <a:picLocks noChangeAspect="1"/>
          </p:cNvPicPr>
          <p:nvPr/>
        </p:nvPicPr>
        <p:blipFill>
          <a:blip r:embed="rId3"/>
          <a:stretch>
            <a:fillRect/>
          </a:stretch>
        </p:blipFill>
        <p:spPr>
          <a:xfrm>
            <a:off x="3621024" y="2286000"/>
            <a:ext cx="493776" cy="493776"/>
          </a:xfrm>
          <a:prstGeom prst="rect">
            <a:avLst/>
          </a:prstGeom>
        </p:spPr>
      </p:pic>
      <p:pic>
        <p:nvPicPr>
          <p:cNvPr id="9" name="Picture 8" descr="image.png"/>
          <p:cNvPicPr>
            <a:picLocks noChangeAspect="1"/>
          </p:cNvPicPr>
          <p:nvPr/>
        </p:nvPicPr>
        <p:blipFill>
          <a:blip r:embed="rId4"/>
          <a:stretch>
            <a:fillRect/>
          </a:stretch>
        </p:blipFill>
        <p:spPr>
          <a:xfrm>
            <a:off x="6437376" y="2286000"/>
            <a:ext cx="493776" cy="493776"/>
          </a:xfrm>
          <a:prstGeom prst="rect">
            <a:avLst/>
          </a:prstGeom>
        </p:spPr>
      </p:pic>
      <p:pic>
        <p:nvPicPr>
          <p:cNvPr id="10" name="Picture 9" descr="image.png"/>
          <p:cNvPicPr>
            <a:picLocks noChangeAspect="1"/>
          </p:cNvPicPr>
          <p:nvPr/>
        </p:nvPicPr>
        <p:blipFill>
          <a:blip r:embed="rId5"/>
          <a:stretch>
            <a:fillRect/>
          </a:stretch>
        </p:blipFill>
        <p:spPr>
          <a:xfrm>
            <a:off x="9262872" y="2286000"/>
            <a:ext cx="493776" cy="493776"/>
          </a:xfrm>
          <a:prstGeom prst="rect">
            <a:avLst/>
          </a:prstGeom>
        </p:spPr>
      </p:pic>
      <p:pic>
        <p:nvPicPr>
          <p:cNvPr id="11" name="Picture 10" descr="image.png"/>
          <p:cNvPicPr>
            <a:picLocks noChangeAspect="1"/>
          </p:cNvPicPr>
          <p:nvPr/>
        </p:nvPicPr>
        <p:blipFill>
          <a:blip r:embed="rId6"/>
          <a:stretch>
            <a:fillRect/>
          </a:stretch>
        </p:blipFill>
        <p:spPr>
          <a:xfrm>
            <a:off x="822960" y="5074920"/>
            <a:ext cx="219075" cy="247650"/>
          </a:xfrm>
          <a:prstGeom prst="rect">
            <a:avLst/>
          </a:prstGeom>
        </p:spPr>
      </p:pic>
      <p:pic>
        <p:nvPicPr>
          <p:cNvPr id="12" name="Picture 11" descr="image.png"/>
          <p:cNvPicPr>
            <a:picLocks noChangeAspect="1"/>
          </p:cNvPicPr>
          <p:nvPr/>
        </p:nvPicPr>
        <p:blipFill>
          <a:blip r:embed="rId7"/>
          <a:stretch>
            <a:fillRect/>
          </a:stretch>
        </p:blipFill>
        <p:spPr>
          <a:xfrm>
            <a:off x="914400" y="2404872"/>
            <a:ext cx="171450" cy="228600"/>
          </a:xfrm>
          <a:prstGeom prst="rect">
            <a:avLst/>
          </a:prstGeom>
        </p:spPr>
      </p:pic>
      <p:pic>
        <p:nvPicPr>
          <p:cNvPr id="13" name="Picture 12" descr="image.png"/>
          <p:cNvPicPr>
            <a:picLocks noChangeAspect="1"/>
          </p:cNvPicPr>
          <p:nvPr/>
        </p:nvPicPr>
        <p:blipFill>
          <a:blip r:embed="rId8"/>
          <a:stretch>
            <a:fillRect/>
          </a:stretch>
        </p:blipFill>
        <p:spPr>
          <a:xfrm>
            <a:off x="3739896" y="2404872"/>
            <a:ext cx="228600" cy="228600"/>
          </a:xfrm>
          <a:prstGeom prst="rect">
            <a:avLst/>
          </a:prstGeom>
        </p:spPr>
      </p:pic>
      <p:pic>
        <p:nvPicPr>
          <p:cNvPr id="14" name="Picture 13" descr="image.png"/>
          <p:cNvPicPr>
            <a:picLocks noChangeAspect="1"/>
          </p:cNvPicPr>
          <p:nvPr/>
        </p:nvPicPr>
        <p:blipFill>
          <a:blip r:embed="rId9"/>
          <a:stretch>
            <a:fillRect/>
          </a:stretch>
        </p:blipFill>
        <p:spPr>
          <a:xfrm>
            <a:off x="6556248" y="2404872"/>
            <a:ext cx="285750" cy="228600"/>
          </a:xfrm>
          <a:prstGeom prst="rect">
            <a:avLst/>
          </a:prstGeom>
        </p:spPr>
      </p:pic>
      <p:pic>
        <p:nvPicPr>
          <p:cNvPr id="15" name="Picture 14" descr="image.png"/>
          <p:cNvPicPr>
            <a:picLocks noChangeAspect="1"/>
          </p:cNvPicPr>
          <p:nvPr/>
        </p:nvPicPr>
        <p:blipFill>
          <a:blip r:embed="rId10"/>
          <a:stretch>
            <a:fillRect/>
          </a:stretch>
        </p:blipFill>
        <p:spPr>
          <a:xfrm>
            <a:off x="9381744" y="2404872"/>
            <a:ext cx="200025" cy="228600"/>
          </a:xfrm>
          <a:prstGeom prst="rect">
            <a:avLst/>
          </a:prstGeom>
        </p:spPr>
      </p:pic>
      <p:sp>
        <p:nvSpPr>
          <p:cNvPr id="16" name="TextBox 15"/>
          <p:cNvSpPr txBox="1"/>
          <p:nvPr/>
        </p:nvSpPr>
        <p:spPr>
          <a:xfrm>
            <a:off x="571500" y="419100"/>
            <a:ext cx="11620500" cy="171450"/>
          </a:xfrm>
          <a:prstGeom prst="rect">
            <a:avLst/>
          </a:prstGeom>
          <a:noFill/>
        </p:spPr>
        <p:txBody>
          <a:bodyPr wrap="none" lIns="0" rIns="0" tIns="0" bIns="0" anchor="t">
            <a:spAutoFit/>
          </a:bodyPr>
          <a:lstStyle/>
          <a:p>
            <a:pPr algn="l"/>
            <a:r>
              <a:rPr b="1" sz="1050" i="0" u="none">
                <a:solidFill>
                  <a:srgbClr val="0D9488"/>
                </a:solidFill>
                <a:latin typeface="Be Vietnam Pro"/>
              </a:rPr>
              <a:t>PHẦN 1 • GÓI B — QUY TRÌNH THUẬT TOÁN ADABOOST (NGUYỄN ANH HÀO)</a:t>
            </a:r>
          </a:p>
        </p:txBody>
      </p:sp>
      <p:sp>
        <p:nvSpPr>
          <p:cNvPr id="17" name="TextBox 16"/>
          <p:cNvSpPr txBox="1"/>
          <p:nvPr/>
        </p:nvSpPr>
        <p:spPr>
          <a:xfrm>
            <a:off x="571500" y="647700"/>
            <a:ext cx="11620500" cy="409575"/>
          </a:xfrm>
          <a:prstGeom prst="rect">
            <a:avLst/>
          </a:prstGeom>
          <a:noFill/>
        </p:spPr>
        <p:txBody>
          <a:bodyPr wrap="none" lIns="0" rIns="0" tIns="0" bIns="0" anchor="t">
            <a:spAutoFit/>
          </a:bodyPr>
          <a:lstStyle/>
          <a:p>
            <a:pPr algn="l"/>
            <a:r>
              <a:rPr b="1" sz="2550" i="0" u="none">
                <a:solidFill>
                  <a:srgbClr val="0F2C59"/>
                </a:solidFill>
                <a:latin typeface="Be Vietnam Pro"/>
              </a:rPr>
              <a:t>Giới thiệu Thuật toán AdaBoost (Adaptive Boosting)</a:t>
            </a:r>
          </a:p>
        </p:txBody>
      </p:sp>
      <p:sp>
        <p:nvSpPr>
          <p:cNvPr id="18" name="TextBox 17"/>
          <p:cNvSpPr txBox="1"/>
          <p:nvPr/>
        </p:nvSpPr>
        <p:spPr>
          <a:xfrm>
            <a:off x="795528" y="2926080"/>
            <a:ext cx="2148840" cy="320040"/>
          </a:xfrm>
          <a:prstGeom prst="rect">
            <a:avLst/>
          </a:prstGeom>
          <a:noFill/>
        </p:spPr>
        <p:txBody>
          <a:bodyPr wrap="none" lIns="0" rIns="0" tIns="0" bIns="0" anchor="t">
            <a:spAutoFit/>
          </a:bodyPr>
          <a:lstStyle/>
          <a:p>
            <a:pPr algn="l">
              <a:defRPr sz="1300" b="1">
                <a:solidFill>
                  <a:srgbClr val="0F172A"/>
                </a:solidFill>
              </a:defRPr>
            </a:pPr>
            <a:r>
              <a:rPr b="1" sz="1575" i="0" u="none">
                <a:solidFill>
                  <a:srgbClr val="0F2C59"/>
                </a:solidFill>
                <a:latin typeface="Be Vietnam Pro"/>
              </a:rPr>
              <a:t>Tác giả (1995)</a:t>
            </a:r>
          </a:p>
        </p:txBody>
      </p:sp>
      <p:sp>
        <p:nvSpPr>
          <p:cNvPr id="19" name="TextBox 18"/>
          <p:cNvSpPr txBox="1"/>
          <p:nvPr/>
        </p:nvSpPr>
        <p:spPr>
          <a:xfrm>
            <a:off x="795528" y="3291840"/>
            <a:ext cx="2148840" cy="1143000"/>
          </a:xfrm>
          <a:prstGeom prst="rect">
            <a:avLst/>
          </a:prstGeom>
          <a:noFill/>
        </p:spPr>
        <p:txBody>
          <a:bodyPr wrap="square" lIns="0" rIns="0" tIns="0" bIns="0" anchor="t">
            <a:spAutoFit/>
          </a:bodyPr>
          <a:lstStyle/>
          <a:p>
            <a:pPr algn="l">
              <a:defRPr sz="1100">
                <a:solidFill>
                  <a:srgbClr val="475569"/>
                </a:solidFill>
              </a:defRPr>
            </a:pPr>
            <a:r>
              <a:rPr b="0" sz="1350" i="0" u="none">
                <a:solidFill>
                  <a:srgbClr val="334155"/>
                </a:solidFill>
                <a:latin typeface="Be Vietnam Pro"/>
              </a:rPr>
              <a:t>Yoav Freund cùng Robert Schapire công bố.</a:t>
            </a:r>
          </a:p>
        </p:txBody>
      </p:sp>
      <p:sp>
        <p:nvSpPr>
          <p:cNvPr id="20" name="TextBox 19"/>
          <p:cNvSpPr txBox="1"/>
          <p:nvPr/>
        </p:nvSpPr>
        <p:spPr>
          <a:xfrm>
            <a:off x="3621024" y="2926080"/>
            <a:ext cx="2148840" cy="320040"/>
          </a:xfrm>
          <a:prstGeom prst="rect">
            <a:avLst/>
          </a:prstGeom>
          <a:noFill/>
        </p:spPr>
        <p:txBody>
          <a:bodyPr wrap="none" lIns="0" rIns="0" tIns="0" bIns="0" anchor="t">
            <a:spAutoFit/>
          </a:bodyPr>
          <a:lstStyle/>
          <a:p>
            <a:pPr algn="l">
              <a:defRPr sz="1300" b="1">
                <a:solidFill>
                  <a:srgbClr val="0F172A"/>
                </a:solidFill>
              </a:defRPr>
            </a:pPr>
            <a:r>
              <a:rPr b="1" sz="1575" i="0" u="none">
                <a:solidFill>
                  <a:srgbClr val="0F2C59"/>
                </a:solidFill>
                <a:latin typeface="Be Vietnam Pro"/>
              </a:rPr>
              <a:t>Huấn luyện Tuần tự</a:t>
            </a:r>
          </a:p>
        </p:txBody>
      </p:sp>
      <p:sp>
        <p:nvSpPr>
          <p:cNvPr id="21" name="TextBox 20"/>
          <p:cNvSpPr txBox="1"/>
          <p:nvPr/>
        </p:nvSpPr>
        <p:spPr>
          <a:xfrm>
            <a:off x="3621024" y="3291840"/>
            <a:ext cx="2148840" cy="1143000"/>
          </a:xfrm>
          <a:prstGeom prst="rect">
            <a:avLst/>
          </a:prstGeom>
          <a:noFill/>
        </p:spPr>
        <p:txBody>
          <a:bodyPr wrap="square" lIns="0" rIns="0" tIns="0" bIns="0" anchor="t">
            <a:spAutoFit/>
          </a:bodyPr>
          <a:lstStyle/>
          <a:p>
            <a:pPr algn="l">
              <a:defRPr sz="1100">
                <a:solidFill>
                  <a:srgbClr val="475569"/>
                </a:solidFill>
              </a:defRPr>
            </a:pPr>
            <a:r>
              <a:rPr b="0" sz="1350" i="0" u="none">
                <a:solidFill>
                  <a:srgbClr val="334155"/>
                </a:solidFill>
                <a:latin typeface="Be Vietnam Pro"/>
              </a:rPr>
              <a:t>Kết hợp chuỗi Weak Learners (Decision Stumps).</a:t>
            </a:r>
          </a:p>
        </p:txBody>
      </p:sp>
      <p:sp>
        <p:nvSpPr>
          <p:cNvPr id="22" name="TextBox 21"/>
          <p:cNvSpPr txBox="1"/>
          <p:nvPr/>
        </p:nvSpPr>
        <p:spPr>
          <a:xfrm>
            <a:off x="6437376" y="2926080"/>
            <a:ext cx="2148840" cy="320040"/>
          </a:xfrm>
          <a:prstGeom prst="rect">
            <a:avLst/>
          </a:prstGeom>
          <a:noFill/>
        </p:spPr>
        <p:txBody>
          <a:bodyPr wrap="none" lIns="0" rIns="0" tIns="0" bIns="0" anchor="t">
            <a:spAutoFit/>
          </a:bodyPr>
          <a:lstStyle/>
          <a:p>
            <a:pPr algn="l">
              <a:defRPr sz="1300" b="1">
                <a:solidFill>
                  <a:srgbClr val="0F172A"/>
                </a:solidFill>
              </a:defRPr>
            </a:pPr>
            <a:r>
              <a:rPr b="1" sz="1575" i="0" u="none">
                <a:solidFill>
                  <a:srgbClr val="0F2C59"/>
                </a:solidFill>
                <a:latin typeface="Be Vietnam Pro"/>
              </a:rPr>
              <a:t>Cơ chế Thích nghi</a:t>
            </a:r>
          </a:p>
        </p:txBody>
      </p:sp>
      <p:sp>
        <p:nvSpPr>
          <p:cNvPr id="23" name="TextBox 22"/>
          <p:cNvSpPr txBox="1"/>
          <p:nvPr/>
        </p:nvSpPr>
        <p:spPr>
          <a:xfrm>
            <a:off x="6437376" y="3291840"/>
            <a:ext cx="2148840" cy="1143000"/>
          </a:xfrm>
          <a:prstGeom prst="rect">
            <a:avLst/>
          </a:prstGeom>
          <a:noFill/>
        </p:spPr>
        <p:txBody>
          <a:bodyPr wrap="square" lIns="0" rIns="0" tIns="0" bIns="0" anchor="t">
            <a:spAutoFit/>
          </a:bodyPr>
          <a:lstStyle/>
          <a:p>
            <a:pPr algn="l">
              <a:defRPr sz="1100">
                <a:solidFill>
                  <a:srgbClr val="475569"/>
                </a:solidFill>
              </a:defRPr>
            </a:pPr>
            <a:r>
              <a:rPr b="0" sz="1350" i="0" u="none">
                <a:solidFill>
                  <a:srgbClr val="334155"/>
                </a:solidFill>
                <a:latin typeface="Be Vietnam Pro"/>
              </a:rPr>
              <a:t>Tăng trọng số mẫu sai; giảm mẫu đúng.</a:t>
            </a:r>
          </a:p>
        </p:txBody>
      </p:sp>
      <p:sp>
        <p:nvSpPr>
          <p:cNvPr id="24" name="TextBox 23"/>
          <p:cNvSpPr txBox="1"/>
          <p:nvPr/>
        </p:nvSpPr>
        <p:spPr>
          <a:xfrm>
            <a:off x="9262872" y="2926080"/>
            <a:ext cx="2148840" cy="320040"/>
          </a:xfrm>
          <a:prstGeom prst="rect">
            <a:avLst/>
          </a:prstGeom>
          <a:noFill/>
        </p:spPr>
        <p:txBody>
          <a:bodyPr wrap="none" lIns="0" rIns="0" tIns="0" bIns="0" anchor="t">
            <a:spAutoFit/>
          </a:bodyPr>
          <a:lstStyle/>
          <a:p>
            <a:pPr algn="l">
              <a:defRPr sz="1300" b="1">
                <a:solidFill>
                  <a:srgbClr val="0F172A"/>
                </a:solidFill>
              </a:defRPr>
            </a:pPr>
            <a:r>
              <a:rPr b="1" sz="1575" i="0" u="none">
                <a:solidFill>
                  <a:srgbClr val="0F2C59"/>
                </a:solidFill>
                <a:latin typeface="Be Vietnam Pro"/>
              </a:rPr>
              <a:t>Kết hợp Biểu quyết</a:t>
            </a:r>
          </a:p>
        </p:txBody>
      </p:sp>
      <p:sp>
        <p:nvSpPr>
          <p:cNvPr id="25" name="TextBox 24"/>
          <p:cNvSpPr txBox="1"/>
          <p:nvPr/>
        </p:nvSpPr>
        <p:spPr>
          <a:xfrm>
            <a:off x="9262872" y="3291840"/>
            <a:ext cx="2148840" cy="1143000"/>
          </a:xfrm>
          <a:prstGeom prst="rect">
            <a:avLst/>
          </a:prstGeom>
          <a:noFill/>
        </p:spPr>
        <p:txBody>
          <a:bodyPr wrap="square" lIns="0" rIns="0" tIns="0" bIns="0" anchor="t">
            <a:spAutoFit/>
          </a:bodyPr>
          <a:lstStyle/>
          <a:p>
            <a:pPr algn="l">
              <a:defRPr sz="1100">
                <a:solidFill>
                  <a:srgbClr val="475569"/>
                </a:solidFill>
              </a:defRPr>
            </a:pPr>
            <a:r>
              <a:rPr b="0" sz="1350" i="0" u="none">
                <a:solidFill>
                  <a:srgbClr val="334155"/>
                </a:solidFill>
                <a:latin typeface="Be Vietnam Pro"/>
              </a:rPr>
              <a:t>Weighted Majority Voting theo độ tin cậy Alpha.</a:t>
            </a:r>
          </a:p>
        </p:txBody>
      </p:sp>
      <p:sp>
        <p:nvSpPr>
          <p:cNvPr id="26" name="TextBox 25"/>
          <p:cNvSpPr txBox="1"/>
          <p:nvPr/>
        </p:nvSpPr>
        <p:spPr>
          <a:xfrm>
            <a:off x="1188720" y="4956048"/>
            <a:ext cx="10195560" cy="548640"/>
          </a:xfrm>
          <a:prstGeom prst="rect">
            <a:avLst/>
          </a:prstGeom>
          <a:noFill/>
        </p:spPr>
        <p:txBody>
          <a:bodyPr wrap="none" lIns="0" rIns="0" tIns="0" bIns="0" anchor="t">
            <a:spAutoFit/>
          </a:bodyPr>
          <a:lstStyle/>
          <a:p>
            <a:pPr algn="l">
              <a:defRPr sz="1100"/>
            </a:pPr>
            <a:r>
              <a:rPr b="1" sz="1500" i="0" u="none">
                <a:solidFill>
                  <a:srgbClr val="FFFFFF"/>
                </a:solidFill>
                <a:latin typeface="Be Vietnam Pro"/>
              </a:rPr>
              <a:t>Nguyên lý cốt lõi: Mô hình sau tập trung sửa sai cho mô hình trước thông qua phân phối trọng số động.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65760"/>
            <a:ext cx="11000232" cy="777240"/>
          </a:xfrm>
          <a:prstGeom prst="rect">
            <a:avLst/>
          </a:prstGeom>
          <a:noFill/>
        </p:spPr>
        <p:txBody>
          <a:bodyPr wrap="square" lIns="0" tIns="0" rIns="0" bIns="0">
            <a:spAutoFit/>
          </a:bodyPr>
          <a:lstStyle/>
          <a:p>
            <a:pPr>
              <a:defRPr sz="950" b="1">
                <a:solidFill>
                  <a:srgbClr val="0E7490"/>
                </a:solidFill>
              </a:defRPr>
            </a:pPr>
            <a:r>
              <a:t>PHẦN 1 • CƠ SỞ TOÁN HỌC ADABOOST</a:t>
            </a:r>
          </a:p>
          <a:p>
            <a:pPr>
              <a:defRPr sz="1900" b="1">
                <a:solidFill>
                  <a:srgbClr val="0F172A"/>
                </a:solidFill>
              </a:defRPr>
            </a:pPr>
            <a:r>
              <a:t>Sơ đồ Quy trình &amp; 4 Công thức Cốt lõi</a:t>
            </a:r>
          </a:p>
        </p:txBody>
      </p:sp>
      <p:sp>
        <p:nvSpPr>
          <p:cNvPr id="3" name="Rounded Rectangle 2"/>
          <p:cNvSpPr/>
          <p:nvPr/>
        </p:nvSpPr>
        <p:spPr>
          <a:xfrm>
            <a:off x="566928" y="1298448"/>
            <a:ext cx="2560320" cy="331012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777240" cy="292608"/>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BƯỚC 1</a:t>
            </a:r>
          </a:p>
        </p:txBody>
      </p:sp>
      <p:sp>
        <p:nvSpPr>
          <p:cNvPr id="5" name="TextBox 4"/>
          <p:cNvSpPr txBox="1"/>
          <p:nvPr/>
        </p:nvSpPr>
        <p:spPr>
          <a:xfrm>
            <a:off x="1572768" y="1426464"/>
            <a:ext cx="1417320" cy="365760"/>
          </a:xfrm>
          <a:prstGeom prst="rect">
            <a:avLst/>
          </a:prstGeom>
          <a:noFill/>
        </p:spPr>
        <p:txBody>
          <a:bodyPr wrap="square" anchor="ctr">
            <a:spAutoFit/>
          </a:bodyPr>
          <a:lstStyle/>
          <a:p>
            <a:pPr>
              <a:defRPr sz="1200" b="1">
                <a:solidFill>
                  <a:srgbClr val="0F172A"/>
                </a:solidFill>
              </a:defRPr>
            </a:pPr>
            <a:r>
              <a:t>Khởi tạo Trọng số</a:t>
            </a:r>
          </a:p>
        </p:txBody>
      </p:sp>
      <p:sp>
        <p:nvSpPr>
          <p:cNvPr id="6" name="TextBox 5"/>
          <p:cNvSpPr txBox="1"/>
          <p:nvPr/>
        </p:nvSpPr>
        <p:spPr>
          <a:xfrm>
            <a:off x="731520" y="1847088"/>
            <a:ext cx="2231136" cy="548640"/>
          </a:xfrm>
          <a:prstGeom prst="rect">
            <a:avLst/>
          </a:prstGeom>
          <a:noFill/>
        </p:spPr>
        <p:txBody>
          <a:bodyPr wrap="square">
            <a:spAutoFit/>
          </a:bodyPr>
          <a:lstStyle/>
          <a:p>
            <a:pPr>
              <a:defRPr sz="1000">
                <a:solidFill>
                  <a:srgbClr val="475569"/>
                </a:solidFill>
              </a:defRPr>
            </a:pPr>
            <a:r>
              <a:t>Phân phối đều cho N mẫu dữ liệu ban đầu:</a:t>
            </a:r>
          </a:p>
        </p:txBody>
      </p:sp>
      <p:sp>
        <p:nvSpPr>
          <p:cNvPr id="7" name="Rounded Rectangle 6"/>
          <p:cNvSpPr/>
          <p:nvPr/>
        </p:nvSpPr>
        <p:spPr>
          <a:xfrm>
            <a:off x="731520" y="2487168"/>
            <a:ext cx="2231136" cy="1956816"/>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1.png"/>
          <p:cNvPicPr>
            <a:picLocks noChangeAspect="1"/>
          </p:cNvPicPr>
          <p:nvPr/>
        </p:nvPicPr>
        <p:blipFill>
          <a:blip r:embed="rId10"/>
          <a:stretch>
            <a:fillRect/>
          </a:stretch>
        </p:blipFill>
        <p:spPr>
          <a:xfrm>
            <a:off x="864108" y="3188325"/>
            <a:ext cx="1965960" cy="554501"/>
          </a:xfrm>
          <a:prstGeom prst="rect">
            <a:avLst/>
          </a:prstGeom>
        </p:spPr>
      </p:pic>
      <p:sp>
        <p:nvSpPr>
          <p:cNvPr id="9" name="TextBox 8"/>
          <p:cNvSpPr txBox="1"/>
          <p:nvPr/>
        </p:nvSpPr>
        <p:spPr>
          <a:xfrm>
            <a:off x="3163824" y="2761488"/>
            <a:ext cx="182880" cy="365760"/>
          </a:xfrm>
          <a:prstGeom prst="rect">
            <a:avLst/>
          </a:prstGeom>
          <a:noFill/>
        </p:spPr>
        <p:txBody>
          <a:bodyPr wrap="none">
            <a:spAutoFit/>
          </a:bodyPr>
          <a:lstStyle/>
          <a:p>
            <a:pPr algn="ctr">
              <a:defRPr sz="1500" b="1">
                <a:solidFill>
                  <a:srgbClr val="0E7490"/>
                </a:solidFill>
              </a:defRPr>
            </a:pPr>
            <a:r>
              <a:t>➔</a:t>
            </a:r>
          </a:p>
        </p:txBody>
      </p:sp>
      <p:sp>
        <p:nvSpPr>
          <p:cNvPr id="10" name="Rounded Rectangle 9"/>
          <p:cNvSpPr/>
          <p:nvPr/>
        </p:nvSpPr>
        <p:spPr>
          <a:xfrm>
            <a:off x="3383280" y="1298448"/>
            <a:ext cx="2560320" cy="331012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547872" y="1463040"/>
            <a:ext cx="777240" cy="292608"/>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BƯỚC 2</a:t>
            </a:r>
          </a:p>
        </p:txBody>
      </p:sp>
      <p:sp>
        <p:nvSpPr>
          <p:cNvPr id="12" name="TextBox 11"/>
          <p:cNvSpPr txBox="1"/>
          <p:nvPr/>
        </p:nvSpPr>
        <p:spPr>
          <a:xfrm>
            <a:off x="4389120" y="1426464"/>
            <a:ext cx="1417320" cy="365760"/>
          </a:xfrm>
          <a:prstGeom prst="rect">
            <a:avLst/>
          </a:prstGeom>
          <a:noFill/>
        </p:spPr>
        <p:txBody>
          <a:bodyPr wrap="square" anchor="ctr">
            <a:spAutoFit/>
          </a:bodyPr>
          <a:lstStyle/>
          <a:p>
            <a:pPr>
              <a:defRPr sz="1200" b="1">
                <a:solidFill>
                  <a:srgbClr val="0F172A"/>
                </a:solidFill>
              </a:defRPr>
            </a:pPr>
            <a:r>
              <a:t>Sai số Trọng số</a:t>
            </a:r>
          </a:p>
        </p:txBody>
      </p:sp>
      <p:sp>
        <p:nvSpPr>
          <p:cNvPr id="13" name="TextBox 12"/>
          <p:cNvSpPr txBox="1"/>
          <p:nvPr/>
        </p:nvSpPr>
        <p:spPr>
          <a:xfrm>
            <a:off x="3547872" y="1847088"/>
            <a:ext cx="2231136" cy="548640"/>
          </a:xfrm>
          <a:prstGeom prst="rect">
            <a:avLst/>
          </a:prstGeom>
          <a:noFill/>
        </p:spPr>
        <p:txBody>
          <a:bodyPr wrap="square">
            <a:spAutoFit/>
          </a:bodyPr>
          <a:lstStyle/>
          <a:p>
            <a:pPr>
              <a:defRPr sz="1000">
                <a:solidFill>
                  <a:srgbClr val="475569"/>
                </a:solidFill>
              </a:defRPr>
            </a:pPr>
            <a:r>
              <a:t>Tổng trọng số các mẫu bị phân loại sai:</a:t>
            </a:r>
          </a:p>
        </p:txBody>
      </p:sp>
      <p:sp>
        <p:nvSpPr>
          <p:cNvPr id="14" name="Rounded Rectangle 13"/>
          <p:cNvSpPr/>
          <p:nvPr/>
        </p:nvSpPr>
        <p:spPr>
          <a:xfrm>
            <a:off x="3547872" y="2487168"/>
            <a:ext cx="2231136" cy="1956816"/>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f2.png"/>
          <p:cNvPicPr>
            <a:picLocks noChangeAspect="1"/>
          </p:cNvPicPr>
          <p:nvPr/>
        </p:nvPicPr>
        <p:blipFill>
          <a:blip r:embed="rId11"/>
          <a:stretch>
            <a:fillRect/>
          </a:stretch>
        </p:blipFill>
        <p:spPr>
          <a:xfrm>
            <a:off x="3680460" y="3298454"/>
            <a:ext cx="1965960" cy="334243"/>
          </a:xfrm>
          <a:prstGeom prst="rect">
            <a:avLst/>
          </a:prstGeom>
        </p:spPr>
      </p:pic>
      <p:sp>
        <p:nvSpPr>
          <p:cNvPr id="16" name="TextBox 15"/>
          <p:cNvSpPr txBox="1"/>
          <p:nvPr/>
        </p:nvSpPr>
        <p:spPr>
          <a:xfrm>
            <a:off x="5980176" y="2761488"/>
            <a:ext cx="182880" cy="365760"/>
          </a:xfrm>
          <a:prstGeom prst="rect">
            <a:avLst/>
          </a:prstGeom>
          <a:noFill/>
        </p:spPr>
        <p:txBody>
          <a:bodyPr wrap="none">
            <a:spAutoFit/>
          </a:bodyPr>
          <a:lstStyle/>
          <a:p>
            <a:pPr algn="ctr">
              <a:defRPr sz="1500" b="1">
                <a:solidFill>
                  <a:srgbClr val="0E7490"/>
                </a:solidFill>
              </a:defRPr>
            </a:pPr>
            <a:r>
              <a:t>➔</a:t>
            </a:r>
          </a:p>
        </p:txBody>
      </p:sp>
      <p:sp>
        <p:nvSpPr>
          <p:cNvPr id="17" name="Rounded Rectangle 16"/>
          <p:cNvSpPr/>
          <p:nvPr/>
        </p:nvSpPr>
        <p:spPr>
          <a:xfrm>
            <a:off x="6199632" y="1298448"/>
            <a:ext cx="2560320" cy="331012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64224" y="1463040"/>
            <a:ext cx="777240" cy="29260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BƯỚC 3</a:t>
            </a:r>
          </a:p>
        </p:txBody>
      </p:sp>
      <p:sp>
        <p:nvSpPr>
          <p:cNvPr id="19" name="TextBox 18"/>
          <p:cNvSpPr txBox="1"/>
          <p:nvPr/>
        </p:nvSpPr>
        <p:spPr>
          <a:xfrm>
            <a:off x="7205472" y="1426464"/>
            <a:ext cx="1417320" cy="365760"/>
          </a:xfrm>
          <a:prstGeom prst="rect">
            <a:avLst/>
          </a:prstGeom>
          <a:noFill/>
        </p:spPr>
        <p:txBody>
          <a:bodyPr wrap="square" anchor="ctr">
            <a:spAutoFit/>
          </a:bodyPr>
          <a:lstStyle/>
          <a:p>
            <a:pPr>
              <a:defRPr sz="1200" b="1">
                <a:solidFill>
                  <a:srgbClr val="0F172A"/>
                </a:solidFill>
              </a:defRPr>
            </a:pPr>
            <a:r>
              <a:t>Trọng số Mô hình</a:t>
            </a:r>
          </a:p>
        </p:txBody>
      </p:sp>
      <p:sp>
        <p:nvSpPr>
          <p:cNvPr id="20" name="TextBox 19"/>
          <p:cNvSpPr txBox="1"/>
          <p:nvPr/>
        </p:nvSpPr>
        <p:spPr>
          <a:xfrm>
            <a:off x="6364224" y="1847088"/>
            <a:ext cx="2231136" cy="548640"/>
          </a:xfrm>
          <a:prstGeom prst="rect">
            <a:avLst/>
          </a:prstGeom>
          <a:noFill/>
        </p:spPr>
        <p:txBody>
          <a:bodyPr wrap="square">
            <a:spAutoFit/>
          </a:bodyPr>
          <a:lstStyle/>
          <a:p>
            <a:pPr>
              <a:defRPr sz="1000">
                <a:solidFill>
                  <a:srgbClr val="475569"/>
                </a:solidFill>
              </a:defRPr>
            </a:pPr>
            <a:r>
              <a:t>Sai số nhỏ tạo độ tin cậy Alpha lớn:</a:t>
            </a:r>
          </a:p>
        </p:txBody>
      </p:sp>
      <p:sp>
        <p:nvSpPr>
          <p:cNvPr id="21" name="Rounded Rectangle 20"/>
          <p:cNvSpPr/>
          <p:nvPr/>
        </p:nvSpPr>
        <p:spPr>
          <a:xfrm>
            <a:off x="6364224" y="2487168"/>
            <a:ext cx="2231136" cy="1956816"/>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f3.png"/>
          <p:cNvPicPr>
            <a:picLocks noChangeAspect="1"/>
          </p:cNvPicPr>
          <p:nvPr/>
        </p:nvPicPr>
        <p:blipFill>
          <a:blip r:embed="rId12"/>
          <a:stretch>
            <a:fillRect/>
          </a:stretch>
        </p:blipFill>
        <p:spPr>
          <a:xfrm>
            <a:off x="6496812" y="3347449"/>
            <a:ext cx="1965960" cy="236252"/>
          </a:xfrm>
          <a:prstGeom prst="rect">
            <a:avLst/>
          </a:prstGeom>
        </p:spPr>
      </p:pic>
      <p:sp>
        <p:nvSpPr>
          <p:cNvPr id="23" name="TextBox 22"/>
          <p:cNvSpPr txBox="1"/>
          <p:nvPr/>
        </p:nvSpPr>
        <p:spPr>
          <a:xfrm>
            <a:off x="8796528" y="2761488"/>
            <a:ext cx="182880" cy="365760"/>
          </a:xfrm>
          <a:prstGeom prst="rect">
            <a:avLst/>
          </a:prstGeom>
          <a:noFill/>
        </p:spPr>
        <p:txBody>
          <a:bodyPr wrap="none">
            <a:spAutoFit/>
          </a:bodyPr>
          <a:lstStyle/>
          <a:p>
            <a:pPr algn="ctr">
              <a:defRPr sz="1500" b="1">
                <a:solidFill>
                  <a:srgbClr val="0E7490"/>
                </a:solidFill>
              </a:defRPr>
            </a:pPr>
            <a:r>
              <a:t>➔</a:t>
            </a:r>
          </a:p>
        </p:txBody>
      </p:sp>
      <p:sp>
        <p:nvSpPr>
          <p:cNvPr id="24" name="Rounded Rectangle 23"/>
          <p:cNvSpPr/>
          <p:nvPr/>
        </p:nvSpPr>
        <p:spPr>
          <a:xfrm>
            <a:off x="9015984" y="1298448"/>
            <a:ext cx="2560320" cy="331012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0576" y="1463040"/>
            <a:ext cx="777240" cy="292608"/>
          </a:xfrm>
          <a:prstGeom prst="round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BƯỚC 4</a:t>
            </a:r>
          </a:p>
        </p:txBody>
      </p:sp>
      <p:sp>
        <p:nvSpPr>
          <p:cNvPr id="26" name="TextBox 25"/>
          <p:cNvSpPr txBox="1"/>
          <p:nvPr/>
        </p:nvSpPr>
        <p:spPr>
          <a:xfrm>
            <a:off x="10021824" y="1426464"/>
            <a:ext cx="1417320" cy="365760"/>
          </a:xfrm>
          <a:prstGeom prst="rect">
            <a:avLst/>
          </a:prstGeom>
          <a:noFill/>
        </p:spPr>
        <p:txBody>
          <a:bodyPr wrap="square" anchor="ctr">
            <a:spAutoFit/>
          </a:bodyPr>
          <a:lstStyle/>
          <a:p>
            <a:pPr>
              <a:defRPr sz="1200" b="1">
                <a:solidFill>
                  <a:srgbClr val="0F172A"/>
                </a:solidFill>
              </a:defRPr>
            </a:pPr>
            <a:r>
              <a:t>Cập nhật Trọng số</a:t>
            </a:r>
          </a:p>
        </p:txBody>
      </p:sp>
      <p:sp>
        <p:nvSpPr>
          <p:cNvPr id="27" name="TextBox 26"/>
          <p:cNvSpPr txBox="1"/>
          <p:nvPr/>
        </p:nvSpPr>
        <p:spPr>
          <a:xfrm>
            <a:off x="9180576" y="1847088"/>
            <a:ext cx="2231136" cy="548640"/>
          </a:xfrm>
          <a:prstGeom prst="rect">
            <a:avLst/>
          </a:prstGeom>
          <a:noFill/>
        </p:spPr>
        <p:txBody>
          <a:bodyPr wrap="square">
            <a:spAutoFit/>
          </a:bodyPr>
          <a:lstStyle/>
          <a:p>
            <a:pPr>
              <a:defRPr sz="1000">
                <a:solidFill>
                  <a:srgbClr val="475569"/>
                </a:solidFill>
              </a:defRPr>
            </a:pPr>
            <a:r>
              <a:t>Chuẩn hóa phân phối trọng số mới qua Z_t:</a:t>
            </a:r>
          </a:p>
        </p:txBody>
      </p:sp>
      <p:sp>
        <p:nvSpPr>
          <p:cNvPr id="28" name="Rounded Rectangle 27"/>
          <p:cNvSpPr/>
          <p:nvPr/>
        </p:nvSpPr>
        <p:spPr>
          <a:xfrm>
            <a:off x="9180576" y="2487168"/>
            <a:ext cx="2231136" cy="1956816"/>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f4.png"/>
          <p:cNvPicPr>
            <a:picLocks noChangeAspect="1"/>
          </p:cNvPicPr>
          <p:nvPr/>
        </p:nvPicPr>
        <p:blipFill>
          <a:blip r:embed="rId13"/>
          <a:stretch>
            <a:fillRect/>
          </a:stretch>
        </p:blipFill>
        <p:spPr>
          <a:xfrm>
            <a:off x="9313164" y="3331478"/>
            <a:ext cx="1965960" cy="268194"/>
          </a:xfrm>
          <a:prstGeom prst="rect">
            <a:avLst/>
          </a:prstGeom>
        </p:spPr>
      </p:pic>
      <p:sp>
        <p:nvSpPr>
          <p:cNvPr id="30" name="Rounded Rectangle 29"/>
          <p:cNvSpPr/>
          <p:nvPr/>
        </p:nvSpPr>
        <p:spPr>
          <a:xfrm>
            <a:off x="566928" y="4791456"/>
            <a:ext cx="11009376" cy="1554480"/>
          </a:xfrm>
          <a:prstGeom prst="roundRect">
            <a:avLst/>
          </a:prstGeom>
          <a:solidFill>
            <a:srgbClr val="0F172A"/>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5528" y="4956048"/>
            <a:ext cx="6217920" cy="1225296"/>
          </a:xfrm>
          <a:prstGeom prst="rect">
            <a:avLst/>
          </a:prstGeom>
          <a:noFill/>
        </p:spPr>
        <p:txBody>
          <a:bodyPr wrap="square">
            <a:spAutoFit/>
          </a:bodyPr>
          <a:lstStyle/>
          <a:p>
            <a:pPr>
              <a:defRPr sz="950" b="1">
                <a:solidFill>
                  <a:srgbClr val="10B981"/>
                </a:solidFill>
              </a:defRPr>
            </a:pPr>
            <a:r>
              <a:t>KẾT HỢP CUỐI CÙNG (STRONG CLASSIFIER)</a:t>
            </a:r>
          </a:p>
          <a:p>
            <a:pPr>
              <a:spcBef>
                <a:spcPts val="400"/>
              </a:spcBef>
              <a:defRPr sz="1200" b="1">
                <a:solidFill>
                  <a:srgbClr val="F8FAFC"/>
                </a:solidFill>
              </a:defRPr>
            </a:pPr>
            <a:r>
              <a:t>Biểu quyết Đa số có Trọng số (Weighted Majority Voting):</a:t>
            </a:r>
          </a:p>
          <a:p>
            <a:pPr>
              <a:spcBef>
                <a:spcPts val="300"/>
              </a:spcBef>
              <a:defRPr sz="950">
                <a:solidFill>
                  <a:srgbClr val="94A3B8"/>
                </a:solidFill>
              </a:defRPr>
            </a:pPr>
            <a:r>
              <a:t>Mô hình con có sai số càng nhỏ (Alpha càng cao) sẽ nắm giữ tiếng nói càng lớn trong quyết định phân loại cuối cùng của toàn bộ hệ thống Ensemble.</a:t>
            </a:r>
          </a:p>
        </p:txBody>
      </p:sp>
      <p:sp>
        <p:nvSpPr>
          <p:cNvPr id="32" name="Rounded Rectangle 31"/>
          <p:cNvSpPr/>
          <p:nvPr/>
        </p:nvSpPr>
        <p:spPr>
          <a:xfrm>
            <a:off x="7242048" y="4956048"/>
            <a:ext cx="4114800" cy="1225296"/>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f5_white.png"/>
          <p:cNvPicPr>
            <a:picLocks noChangeAspect="1"/>
          </p:cNvPicPr>
          <p:nvPr/>
        </p:nvPicPr>
        <p:blipFill>
          <a:blip r:embed="rId14"/>
          <a:stretch>
            <a:fillRect/>
          </a:stretch>
        </p:blipFill>
        <p:spPr>
          <a:xfrm>
            <a:off x="7424928" y="5314984"/>
            <a:ext cx="3749039" cy="50742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71500" y="1247775"/>
            <a:ext cx="3555950" cy="1009650"/>
          </a:xfrm>
          <a:prstGeom prst="roundRect">
            <a:avLst>
              <a:gd name="adj" fmla="val 943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17950" y="1247775"/>
            <a:ext cx="3555950" cy="1009650"/>
          </a:xfrm>
          <a:prstGeom prst="roundRect">
            <a:avLst>
              <a:gd name="adj" fmla="val 943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64400" y="1247775"/>
            <a:ext cx="3555950" cy="1009650"/>
          </a:xfrm>
          <a:prstGeom prst="roundRect">
            <a:avLst>
              <a:gd name="adj" fmla="val 943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71500" y="3014662"/>
            <a:ext cx="11049000" cy="2895600"/>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71500" y="3014662"/>
          <a:ext cx="11048997" cy="2895600"/>
        </p:xfrm>
        <a:graphic>
          <a:graphicData uri="http://schemas.openxmlformats.org/drawingml/2006/table">
            <a:tbl>
              <a:tblPr firstRow="0" bandRow="0">
                <a:lnL>
                  <a:noFill/>
                </a:lnL>
                <a:lnR>
                  <a:noFill/>
                </a:lnR>
                <a:lnT>
                  <a:noFill/>
                </a:lnT>
                <a:lnB>
                  <a:noFill/>
                </a:lnB>
                <a:lnV>
                  <a:noFill/>
                </a:lnV>
                <a:lnH>
                  <a:noFill/>
                </a:lnH>
              </a:tblPr>
              <a:tblGrid>
                <a:gridCol w="2258615"/>
                <a:gridCol w="1098649"/>
                <a:gridCol w="1098649"/>
                <a:gridCol w="1098649"/>
                <a:gridCol w="1098649"/>
                <a:gridCol w="1098649"/>
                <a:gridCol w="1098649"/>
                <a:gridCol w="1098649"/>
                <a:gridCol w="1099839"/>
              </a:tblGrid>
              <a:tr h="579120">
                <a:tc>
                  <a:txBody>
                    <a:bodyPr/>
                    <a:lstStyle/>
                    <a:p>
                      <a:pPr algn="l"/>
                      <a:r>
                        <a:rPr b="1" sz="1350" i="0" u="none">
                          <a:solidFill>
                            <a:srgbClr val="FFFFFF"/>
                          </a:solidFill>
                          <a:latin typeface="Be Vietnam Pro"/>
                        </a:rPr>
                        <a:t>Thông số</a:t>
                      </a:r>
                    </a:p>
                  </a:txBody>
                  <a:tcPr anchor="ctr" marL="63500" marR="63500" marT="25400" marB="25400">
                    <a:lnL>
                      <a:noFill/>
                    </a:lnL>
                    <a:lnR>
                      <a:noFill/>
                    </a:lnR>
                    <a:lnT>
                      <a:noFill/>
                    </a:lnT>
                    <a:lnB>
                      <a:noFill/>
                    </a:lnB>
                    <a:solidFill>
                      <a:srgbClr val="0F2C59"/>
                    </a:solidFill>
                  </a:tcPr>
                </a:tc>
                <a:tc>
                  <a:txBody>
                    <a:bodyPr/>
                    <a:lstStyle/>
                    <a:p>
                      <a:pPr algn="ctr"/>
                      <a:r>
                        <a:rPr b="1" sz="1350" i="0" u="none">
                          <a:solidFill>
                            <a:srgbClr val="FFFFFF"/>
                          </a:solidFill>
                          <a:latin typeface="Be Vietnam Pro"/>
                        </a:rPr>
                        <a:t>Mẫu 1</a:t>
                      </a:r>
                    </a:p>
                  </a:txBody>
                  <a:tcPr anchor="ctr" marL="63500" marR="63500" marT="25400" marB="25400">
                    <a:lnL>
                      <a:noFill/>
                    </a:lnL>
                    <a:lnR>
                      <a:noFill/>
                    </a:lnR>
                    <a:lnT>
                      <a:noFill/>
                    </a:lnT>
                    <a:lnB>
                      <a:noFill/>
                    </a:lnB>
                    <a:solidFill>
                      <a:srgbClr val="0F2C59"/>
                    </a:solidFill>
                  </a:tcPr>
                </a:tc>
                <a:tc>
                  <a:txBody>
                    <a:bodyPr/>
                    <a:lstStyle/>
                    <a:p>
                      <a:pPr algn="ctr"/>
                      <a:r>
                        <a:rPr b="1" sz="1350" i="0" u="none">
                          <a:solidFill>
                            <a:srgbClr val="FFFFFF"/>
                          </a:solidFill>
                          <a:latin typeface="Be Vietnam Pro"/>
                        </a:rPr>
                        <a:t>Mẫu 2</a:t>
                      </a:r>
                    </a:p>
                  </a:txBody>
                  <a:tcPr anchor="ctr" marL="63500" marR="63500" marT="25400" marB="25400">
                    <a:lnL>
                      <a:noFill/>
                    </a:lnL>
                    <a:lnR>
                      <a:noFill/>
                    </a:lnR>
                    <a:lnT>
                      <a:noFill/>
                    </a:lnT>
                    <a:lnB>
                      <a:noFill/>
                    </a:lnB>
                    <a:solidFill>
                      <a:srgbClr val="0F2C59"/>
                    </a:solidFill>
                  </a:tcPr>
                </a:tc>
                <a:tc>
                  <a:txBody>
                    <a:bodyPr/>
                    <a:lstStyle/>
                    <a:p>
                      <a:pPr algn="ctr"/>
                      <a:r>
                        <a:rPr b="1" sz="1350" i="0" u="none">
                          <a:solidFill>
                            <a:srgbClr val="FFFFFF"/>
                          </a:solidFill>
                          <a:latin typeface="Be Vietnam Pro"/>
                        </a:rPr>
                        <a:t>Mẫu 3</a:t>
                      </a:r>
                    </a:p>
                  </a:txBody>
                  <a:tcPr anchor="ctr" marL="63500" marR="63500" marT="25400" marB="25400">
                    <a:lnL>
                      <a:noFill/>
                    </a:lnL>
                    <a:lnR>
                      <a:noFill/>
                    </a:lnR>
                    <a:lnT>
                      <a:noFill/>
                    </a:lnT>
                    <a:lnB>
                      <a:noFill/>
                    </a:lnB>
                    <a:solidFill>
                      <a:srgbClr val="0F2C59"/>
                    </a:solidFill>
                  </a:tcPr>
                </a:tc>
                <a:tc>
                  <a:txBody>
                    <a:bodyPr/>
                    <a:lstStyle/>
                    <a:p>
                      <a:pPr algn="ctr"/>
                      <a:r>
                        <a:rPr b="1" sz="1350" i="0" u="none">
                          <a:solidFill>
                            <a:srgbClr val="FFFFFF"/>
                          </a:solidFill>
                          <a:latin typeface="Be Vietnam Pro"/>
                        </a:rPr>
                        <a:t>Mẫu 4</a:t>
                      </a:r>
                    </a:p>
                  </a:txBody>
                  <a:tcPr anchor="ctr" marL="63500" marR="63500" marT="25400" marB="25400">
                    <a:lnL>
                      <a:noFill/>
                    </a:lnL>
                    <a:lnR>
                      <a:noFill/>
                    </a:lnR>
                    <a:lnT>
                      <a:noFill/>
                    </a:lnT>
                    <a:lnB>
                      <a:noFill/>
                    </a:lnB>
                    <a:solidFill>
                      <a:srgbClr val="0F2C59"/>
                    </a:solidFill>
                  </a:tcPr>
                </a:tc>
                <a:tc>
                  <a:txBody>
                    <a:bodyPr/>
                    <a:lstStyle/>
                    <a:p>
                      <a:pPr algn="ctr"/>
                      <a:r>
                        <a:rPr b="1" sz="1350" i="0" u="none">
                          <a:solidFill>
                            <a:srgbClr val="FFFFFF"/>
                          </a:solidFill>
                          <a:latin typeface="Be Vietnam Pro"/>
                        </a:rPr>
                        <a:t>Mẫu 5</a:t>
                      </a:r>
                    </a:p>
                  </a:txBody>
                  <a:tcPr anchor="ctr" marL="63500" marR="63500" marT="25400" marB="25400">
                    <a:lnL>
                      <a:noFill/>
                    </a:lnL>
                    <a:lnR>
                      <a:noFill/>
                    </a:lnR>
                    <a:lnT>
                      <a:noFill/>
                    </a:lnT>
                    <a:lnB>
                      <a:noFill/>
                    </a:lnB>
                    <a:solidFill>
                      <a:srgbClr val="0F2C59"/>
                    </a:solidFill>
                  </a:tcPr>
                </a:tc>
                <a:tc>
                  <a:txBody>
                    <a:bodyPr/>
                    <a:lstStyle/>
                    <a:p>
                      <a:pPr algn="ctr"/>
                      <a:r>
                        <a:rPr b="1" sz="1350" i="0" u="none">
                          <a:solidFill>
                            <a:srgbClr val="FFFFFF"/>
                          </a:solidFill>
                          <a:latin typeface="Be Vietnam Pro"/>
                        </a:rPr>
                        <a:t>Mẫu 6</a:t>
                      </a:r>
                    </a:p>
                  </a:txBody>
                  <a:tcPr anchor="ctr" marL="63500" marR="63500" marT="25400" marB="25400">
                    <a:lnL>
                      <a:noFill/>
                    </a:lnL>
                    <a:lnR>
                      <a:noFill/>
                    </a:lnR>
                    <a:lnT>
                      <a:noFill/>
                    </a:lnT>
                    <a:lnB>
                      <a:noFill/>
                    </a:lnB>
                    <a:solidFill>
                      <a:srgbClr val="0F2C59"/>
                    </a:solidFill>
                  </a:tcPr>
                </a:tc>
                <a:tc>
                  <a:txBody>
                    <a:bodyPr/>
                    <a:lstStyle/>
                    <a:p>
                      <a:pPr algn="ctr"/>
                      <a:r>
                        <a:rPr b="1" sz="1350" i="0" u="none">
                          <a:solidFill>
                            <a:srgbClr val="FFFFFF"/>
                          </a:solidFill>
                          <a:latin typeface="Be Vietnam Pro"/>
                        </a:rPr>
                        <a:t>Mẫu 7</a:t>
                      </a:r>
                    </a:p>
                  </a:txBody>
                  <a:tcPr anchor="ctr" marL="63500" marR="63500" marT="25400" marB="25400">
                    <a:lnL>
                      <a:noFill/>
                    </a:lnL>
                    <a:lnR>
                      <a:noFill/>
                    </a:lnR>
                    <a:lnT>
                      <a:noFill/>
                    </a:lnT>
                    <a:lnB>
                      <a:noFill/>
                    </a:lnB>
                    <a:solidFill>
                      <a:srgbClr val="0F2C59"/>
                    </a:solidFill>
                  </a:tcPr>
                </a:tc>
                <a:tc>
                  <a:txBody>
                    <a:bodyPr/>
                    <a:lstStyle/>
                    <a:p>
                      <a:pPr algn="ctr"/>
                      <a:r>
                        <a:rPr b="1" sz="1350" i="0" u="none">
                          <a:solidFill>
                            <a:srgbClr val="FFFFFF"/>
                          </a:solidFill>
                          <a:latin typeface="Be Vietnam Pro"/>
                        </a:rPr>
                        <a:t>Mẫu 8</a:t>
                      </a:r>
                    </a:p>
                  </a:txBody>
                  <a:tcPr anchor="ctr" marL="63500" marR="63500" marT="25400" marB="25400">
                    <a:lnL>
                      <a:noFill/>
                    </a:lnL>
                    <a:lnR>
                      <a:noFill/>
                    </a:lnR>
                    <a:lnT>
                      <a:noFill/>
                    </a:lnT>
                    <a:lnB>
                      <a:noFill/>
                    </a:lnB>
                    <a:solidFill>
                      <a:srgbClr val="0F2C59"/>
                    </a:solidFill>
                  </a:tcPr>
                </a:tc>
              </a:tr>
              <a:tr h="579120">
                <a:tc>
                  <a:txBody>
                    <a:bodyPr/>
                    <a:lstStyle/>
                    <a:p>
                      <a:pPr algn="l"/>
                      <a:r>
                        <a:rPr b="1" sz="1350" i="0" u="none">
                          <a:solidFill>
                            <a:srgbClr val="0F2C59"/>
                          </a:solidFill>
                          <a:latin typeface="Be Vietnam Pro"/>
                        </a:rPr>
                        <a:t>Đặc trưng X</a:t>
                      </a:r>
                    </a:p>
                  </a:txBody>
                  <a:tcPr anchor="ctr" marL="63500" marR="63500" marT="25400" marB="25400">
                    <a:lnL>
                      <a:noFill/>
                    </a:lnL>
                    <a:lnR>
                      <a:noFill/>
                    </a:lnR>
                    <a:lnT>
                      <a:noFill/>
                    </a:lnT>
                    <a:lnB>
                      <a:noFill/>
                    </a:lnB>
                    <a:solidFill>
                      <a:srgbClr val="FFFFFF"/>
                    </a:solidFill>
                  </a:tcPr>
                </a:tc>
                <a:tc>
                  <a:txBody>
                    <a:bodyPr/>
                    <a:lstStyle/>
                    <a:p>
                      <a:pPr algn="ctr"/>
                      <a:r>
                        <a:rPr b="1" sz="1500" i="0" u="none">
                          <a:solidFill>
                            <a:srgbClr val="0F172A"/>
                          </a:solidFill>
                          <a:latin typeface="JetBrains Mono"/>
                        </a:rPr>
                        <a:t>1</a:t>
                      </a:r>
                    </a:p>
                  </a:txBody>
                  <a:tcPr anchor="ctr" marL="63500" marR="63500" marT="25400" marB="25400">
                    <a:lnL>
                      <a:noFill/>
                    </a:lnL>
                    <a:lnR>
                      <a:noFill/>
                    </a:lnR>
                    <a:lnT>
                      <a:noFill/>
                    </a:lnT>
                    <a:lnB>
                      <a:noFill/>
                    </a:lnB>
                    <a:solidFill>
                      <a:srgbClr val="FFFFFF"/>
                    </a:solidFill>
                  </a:tcPr>
                </a:tc>
                <a:tc>
                  <a:txBody>
                    <a:bodyPr/>
                    <a:lstStyle/>
                    <a:p>
                      <a:pPr algn="ctr"/>
                      <a:r>
                        <a:rPr b="1" sz="1500" i="0" u="none">
                          <a:solidFill>
                            <a:srgbClr val="0F172A"/>
                          </a:solidFill>
                          <a:latin typeface="JetBrains Mono"/>
                        </a:rPr>
                        <a:t>2</a:t>
                      </a:r>
                    </a:p>
                  </a:txBody>
                  <a:tcPr anchor="ctr" marL="63500" marR="63500" marT="25400" marB="25400">
                    <a:lnL>
                      <a:noFill/>
                    </a:lnL>
                    <a:lnR>
                      <a:noFill/>
                    </a:lnR>
                    <a:lnT>
                      <a:noFill/>
                    </a:lnT>
                    <a:lnB>
                      <a:noFill/>
                    </a:lnB>
                    <a:solidFill>
                      <a:srgbClr val="FFFFFF"/>
                    </a:solidFill>
                  </a:tcPr>
                </a:tc>
                <a:tc>
                  <a:txBody>
                    <a:bodyPr/>
                    <a:lstStyle/>
                    <a:p>
                      <a:pPr algn="ctr"/>
                      <a:r>
                        <a:rPr b="1" sz="1500" i="0" u="none">
                          <a:solidFill>
                            <a:srgbClr val="0F172A"/>
                          </a:solidFill>
                          <a:latin typeface="JetBrains Mono"/>
                        </a:rPr>
                        <a:t>3</a:t>
                      </a:r>
                    </a:p>
                  </a:txBody>
                  <a:tcPr anchor="ctr" marL="63500" marR="63500" marT="25400" marB="25400">
                    <a:lnL>
                      <a:noFill/>
                    </a:lnL>
                    <a:lnR>
                      <a:noFill/>
                    </a:lnR>
                    <a:lnT>
                      <a:noFill/>
                    </a:lnT>
                    <a:lnB>
                      <a:noFill/>
                    </a:lnB>
                    <a:solidFill>
                      <a:srgbClr val="FFFFFF"/>
                    </a:solidFill>
                  </a:tcPr>
                </a:tc>
                <a:tc>
                  <a:txBody>
                    <a:bodyPr/>
                    <a:lstStyle/>
                    <a:p>
                      <a:pPr algn="ctr"/>
                      <a:r>
                        <a:rPr b="1" sz="1500" i="0" u="none">
                          <a:solidFill>
                            <a:srgbClr val="0F172A"/>
                          </a:solidFill>
                          <a:latin typeface="JetBrains Mono"/>
                        </a:rPr>
                        <a:t>4</a:t>
                      </a:r>
                    </a:p>
                  </a:txBody>
                  <a:tcPr anchor="ctr" marL="63500" marR="63500" marT="25400" marB="25400">
                    <a:lnL>
                      <a:noFill/>
                    </a:lnL>
                    <a:lnR>
                      <a:noFill/>
                    </a:lnR>
                    <a:lnT>
                      <a:noFill/>
                    </a:lnT>
                    <a:lnB>
                      <a:noFill/>
                    </a:lnB>
                    <a:solidFill>
                      <a:srgbClr val="FFFFFF"/>
                    </a:solidFill>
                  </a:tcPr>
                </a:tc>
                <a:tc>
                  <a:txBody>
                    <a:bodyPr/>
                    <a:lstStyle/>
                    <a:p>
                      <a:pPr algn="ctr"/>
                      <a:r>
                        <a:rPr b="1" sz="1500" i="0" u="none">
                          <a:solidFill>
                            <a:srgbClr val="0F172A"/>
                          </a:solidFill>
                          <a:latin typeface="JetBrains Mono"/>
                        </a:rPr>
                        <a:t>5</a:t>
                      </a:r>
                    </a:p>
                  </a:txBody>
                  <a:tcPr anchor="ctr" marL="63500" marR="63500" marT="25400" marB="25400">
                    <a:lnL>
                      <a:noFill/>
                    </a:lnL>
                    <a:lnR>
                      <a:noFill/>
                    </a:lnR>
                    <a:lnT>
                      <a:noFill/>
                    </a:lnT>
                    <a:lnB>
                      <a:noFill/>
                    </a:lnB>
                    <a:solidFill>
                      <a:srgbClr val="FFFFFF"/>
                    </a:solidFill>
                  </a:tcPr>
                </a:tc>
                <a:tc>
                  <a:txBody>
                    <a:bodyPr/>
                    <a:lstStyle/>
                    <a:p>
                      <a:pPr algn="ctr"/>
                      <a:r>
                        <a:rPr b="1" sz="1500" i="0" u="none">
                          <a:solidFill>
                            <a:srgbClr val="0F172A"/>
                          </a:solidFill>
                          <a:latin typeface="JetBrains Mono"/>
                        </a:rPr>
                        <a:t>6</a:t>
                      </a:r>
                    </a:p>
                  </a:txBody>
                  <a:tcPr anchor="ctr" marL="63500" marR="63500" marT="25400" marB="25400">
                    <a:lnL>
                      <a:noFill/>
                    </a:lnL>
                    <a:lnR>
                      <a:noFill/>
                    </a:lnR>
                    <a:lnT>
                      <a:noFill/>
                    </a:lnT>
                    <a:lnB>
                      <a:noFill/>
                    </a:lnB>
                    <a:solidFill>
                      <a:srgbClr val="FFFFFF"/>
                    </a:solidFill>
                  </a:tcPr>
                </a:tc>
                <a:tc>
                  <a:txBody>
                    <a:bodyPr/>
                    <a:lstStyle/>
                    <a:p>
                      <a:pPr algn="ctr"/>
                      <a:r>
                        <a:rPr b="1" sz="1500" i="0" u="none">
                          <a:solidFill>
                            <a:srgbClr val="0F172A"/>
                          </a:solidFill>
                          <a:latin typeface="JetBrains Mono"/>
                        </a:rPr>
                        <a:t>7</a:t>
                      </a:r>
                    </a:p>
                  </a:txBody>
                  <a:tcPr anchor="ctr" marL="63500" marR="63500" marT="25400" marB="25400">
                    <a:lnL>
                      <a:noFill/>
                    </a:lnL>
                    <a:lnR>
                      <a:noFill/>
                    </a:lnR>
                    <a:lnT>
                      <a:noFill/>
                    </a:lnT>
                    <a:lnB>
                      <a:noFill/>
                    </a:lnB>
                    <a:solidFill>
                      <a:srgbClr val="FFFFFF"/>
                    </a:solidFill>
                  </a:tcPr>
                </a:tc>
                <a:tc>
                  <a:txBody>
                    <a:bodyPr/>
                    <a:lstStyle/>
                    <a:p>
                      <a:pPr algn="ctr"/>
                      <a:r>
                        <a:rPr b="1" sz="1500" i="0" u="none">
                          <a:solidFill>
                            <a:srgbClr val="0F172A"/>
                          </a:solidFill>
                          <a:latin typeface="JetBrains Mono"/>
                        </a:rPr>
                        <a:t>8</a:t>
                      </a:r>
                    </a:p>
                  </a:txBody>
                  <a:tcPr anchor="ctr" marL="63500" marR="63500" marT="25400" marB="25400">
                    <a:lnL>
                      <a:noFill/>
                    </a:lnL>
                    <a:lnR>
                      <a:noFill/>
                    </a:lnR>
                    <a:lnT>
                      <a:noFill/>
                    </a:lnT>
                    <a:lnB>
                      <a:noFill/>
                    </a:lnB>
                    <a:solidFill>
                      <a:srgbClr val="FFFFFF"/>
                    </a:solidFill>
                  </a:tcPr>
                </a:tc>
              </a:tr>
              <a:tr h="579120">
                <a:tc>
                  <a:txBody>
                    <a:bodyPr/>
                    <a:lstStyle/>
                    <a:p>
                      <a:pPr algn="l"/>
                      <a:r>
                        <a:rPr b="1" sz="1350" i="0" u="none">
                          <a:solidFill>
                            <a:srgbClr val="0F2C59"/>
                          </a:solidFill>
                          <a:latin typeface="Be Vietnam Pro"/>
                        </a:rPr>
                        <a:t>Nhãn thực tế y</a:t>
                      </a:r>
                    </a:p>
                  </a:txBody>
                  <a:tcPr anchor="ctr" marL="63500" marR="63500" marT="25400" marB="25400">
                    <a:lnL>
                      <a:noFill/>
                    </a:lnL>
                    <a:lnR>
                      <a:noFill/>
                    </a:lnR>
                    <a:lnT>
                      <a:noFill/>
                    </a:lnT>
                    <a:lnB>
                      <a:noFill/>
                    </a:lnB>
                    <a:solidFill>
                      <a:srgbClr val="F8FAFC"/>
                    </a:solidFill>
                  </a:tcPr>
                </a:tc>
                <a:tc>
                  <a:txBody>
                    <a:bodyPr/>
                    <a:lstStyle/>
                    <a:p>
                      <a:pPr algn="ctr"/>
                      <a:r>
                        <a:rPr b="1" sz="1500" i="0" u="none">
                          <a:solidFill>
                            <a:srgbClr val="475569"/>
                          </a:solidFill>
                          <a:latin typeface="JetBrains Mono"/>
                        </a:rPr>
                        <a:t>-1</a:t>
                      </a:r>
                    </a:p>
                  </a:txBody>
                  <a:tcPr anchor="ctr" marL="63500" marR="63500" marT="25400" marB="25400">
                    <a:lnL>
                      <a:noFill/>
                    </a:lnL>
                    <a:lnR>
                      <a:noFill/>
                    </a:lnR>
                    <a:lnT>
                      <a:noFill/>
                    </a:lnT>
                    <a:lnB>
                      <a:noFill/>
                    </a:lnB>
                    <a:solidFill>
                      <a:srgbClr val="F8FAFC"/>
                    </a:solidFill>
                  </a:tcPr>
                </a:tc>
                <a:tc>
                  <a:txBody>
                    <a:bodyPr/>
                    <a:lstStyle/>
                    <a:p>
                      <a:pPr algn="ctr"/>
                      <a:r>
                        <a:rPr b="1" sz="1500" i="0" u="none">
                          <a:solidFill>
                            <a:srgbClr val="475569"/>
                          </a:solidFill>
                          <a:latin typeface="JetBrains Mono"/>
                        </a:rPr>
                        <a:t>-1</a:t>
                      </a:r>
                    </a:p>
                  </a:txBody>
                  <a:tcPr anchor="ctr" marL="63500" marR="63500" marT="25400" marB="25400">
                    <a:lnL>
                      <a:noFill/>
                    </a:lnL>
                    <a:lnR>
                      <a:noFill/>
                    </a:lnR>
                    <a:lnT>
                      <a:noFill/>
                    </a:lnT>
                    <a:lnB>
                      <a:noFill/>
                    </a:lnB>
                    <a:solidFill>
                      <a:srgbClr val="F8FAFC"/>
                    </a:solidFill>
                  </a:tcPr>
                </a:tc>
                <a:tc>
                  <a:txBody>
                    <a:bodyPr/>
                    <a:lstStyle/>
                    <a:p>
                      <a:pPr algn="ctr"/>
                      <a:r>
                        <a:rPr b="1" sz="1500" i="0" u="none">
                          <a:solidFill>
                            <a:srgbClr val="0D9488"/>
                          </a:solidFill>
                          <a:latin typeface="JetBrains Mono"/>
                        </a:rPr>
                        <a:t>+1</a:t>
                      </a:r>
                    </a:p>
                  </a:txBody>
                  <a:tcPr anchor="ctr" marL="63500" marR="63500" marT="25400" marB="25400">
                    <a:lnL>
                      <a:noFill/>
                    </a:lnL>
                    <a:lnR>
                      <a:noFill/>
                    </a:lnR>
                    <a:lnT>
                      <a:noFill/>
                    </a:lnT>
                    <a:lnB>
                      <a:noFill/>
                    </a:lnB>
                    <a:solidFill>
                      <a:srgbClr val="F8FAFC"/>
                    </a:solidFill>
                  </a:tcPr>
                </a:tc>
                <a:tc>
                  <a:txBody>
                    <a:bodyPr/>
                    <a:lstStyle/>
                    <a:p>
                      <a:pPr algn="ctr"/>
                      <a:r>
                        <a:rPr b="1" sz="1500" i="0" u="none">
                          <a:solidFill>
                            <a:srgbClr val="0D9488"/>
                          </a:solidFill>
                          <a:latin typeface="JetBrains Mono"/>
                        </a:rPr>
                        <a:t>+1</a:t>
                      </a:r>
                    </a:p>
                  </a:txBody>
                  <a:tcPr anchor="ctr" marL="63500" marR="63500" marT="25400" marB="25400">
                    <a:lnL>
                      <a:noFill/>
                    </a:lnL>
                    <a:lnR>
                      <a:noFill/>
                    </a:lnR>
                    <a:lnT>
                      <a:noFill/>
                    </a:lnT>
                    <a:lnB>
                      <a:noFill/>
                    </a:lnB>
                    <a:solidFill>
                      <a:srgbClr val="F8FAFC"/>
                    </a:solidFill>
                  </a:tcPr>
                </a:tc>
                <a:tc>
                  <a:txBody>
                    <a:bodyPr/>
                    <a:lstStyle/>
                    <a:p>
                      <a:pPr algn="ctr"/>
                      <a:r>
                        <a:rPr b="1" sz="1500" i="0" u="none">
                          <a:solidFill>
                            <a:srgbClr val="0D9488"/>
                          </a:solidFill>
                          <a:latin typeface="JetBrains Mono"/>
                        </a:rPr>
                        <a:t>+1</a:t>
                      </a:r>
                    </a:p>
                  </a:txBody>
                  <a:tcPr anchor="ctr" marL="63500" marR="63500" marT="25400" marB="25400">
                    <a:lnL>
                      <a:noFill/>
                    </a:lnL>
                    <a:lnR>
                      <a:noFill/>
                    </a:lnR>
                    <a:lnT>
                      <a:noFill/>
                    </a:lnT>
                    <a:lnB>
                      <a:noFill/>
                    </a:lnB>
                    <a:solidFill>
                      <a:srgbClr val="F8FAFC"/>
                    </a:solidFill>
                  </a:tcPr>
                </a:tc>
                <a:tc>
                  <a:txBody>
                    <a:bodyPr/>
                    <a:lstStyle/>
                    <a:p>
                      <a:pPr algn="ctr"/>
                      <a:r>
                        <a:rPr b="1" sz="1500" i="0" u="none">
                          <a:solidFill>
                            <a:srgbClr val="475569"/>
                          </a:solidFill>
                          <a:latin typeface="JetBrains Mono"/>
                        </a:rPr>
                        <a:t>-1</a:t>
                      </a:r>
                    </a:p>
                  </a:txBody>
                  <a:tcPr anchor="ctr" marL="63500" marR="63500" marT="25400" marB="25400">
                    <a:lnL>
                      <a:noFill/>
                    </a:lnL>
                    <a:lnR>
                      <a:noFill/>
                    </a:lnR>
                    <a:lnT>
                      <a:noFill/>
                    </a:lnT>
                    <a:lnB>
                      <a:noFill/>
                    </a:lnB>
                    <a:solidFill>
                      <a:srgbClr val="F8FAFC"/>
                    </a:solidFill>
                  </a:tcPr>
                </a:tc>
                <a:tc>
                  <a:txBody>
                    <a:bodyPr/>
                    <a:lstStyle/>
                    <a:p>
                      <a:pPr algn="ctr"/>
                      <a:r>
                        <a:rPr b="1" sz="1500" i="0" u="none">
                          <a:solidFill>
                            <a:srgbClr val="475569"/>
                          </a:solidFill>
                          <a:latin typeface="JetBrains Mono"/>
                        </a:rPr>
                        <a:t>-1</a:t>
                      </a:r>
                    </a:p>
                  </a:txBody>
                  <a:tcPr anchor="ctr" marL="63500" marR="63500" marT="25400" marB="25400">
                    <a:lnL>
                      <a:noFill/>
                    </a:lnL>
                    <a:lnR>
                      <a:noFill/>
                    </a:lnR>
                    <a:lnT>
                      <a:noFill/>
                    </a:lnT>
                    <a:lnB>
                      <a:noFill/>
                    </a:lnB>
                    <a:solidFill>
                      <a:srgbClr val="F8FAFC"/>
                    </a:solidFill>
                  </a:tcPr>
                </a:tc>
                <a:tc>
                  <a:txBody>
                    <a:bodyPr/>
                    <a:lstStyle/>
                    <a:p>
                      <a:pPr algn="ctr"/>
                      <a:r>
                        <a:rPr b="1" sz="1500" i="0" u="none">
                          <a:solidFill>
                            <a:srgbClr val="0D9488"/>
                          </a:solidFill>
                          <a:latin typeface="JetBrains Mono"/>
                        </a:rPr>
                        <a:t>+1</a:t>
                      </a:r>
                    </a:p>
                  </a:txBody>
                  <a:tcPr anchor="ctr" marL="63500" marR="63500" marT="25400" marB="25400">
                    <a:lnL>
                      <a:noFill/>
                    </a:lnL>
                    <a:lnR>
                      <a:noFill/>
                    </a:lnR>
                    <a:lnT>
                      <a:noFill/>
                    </a:lnT>
                    <a:lnB>
                      <a:noFill/>
                    </a:lnB>
                    <a:solidFill>
                      <a:srgbClr val="F8FAFC"/>
                    </a:solidFill>
                  </a:tcPr>
                </a:tc>
              </a:tr>
              <a:tr h="579120">
                <a:tc>
                  <a:txBody>
                    <a:bodyPr/>
                    <a:lstStyle/>
                    <a:p>
                      <a:pPr algn="l"/>
                      <a:r>
                        <a:rPr b="1" sz="1350" i="0" u="none">
                          <a:solidFill>
                            <a:srgbClr val="0F2C59"/>
                          </a:solidFill>
                          <a:latin typeface="Be Vietnam Pro"/>
                        </a:rPr>
                        <a:t>Mức nguy cơ</a:t>
                      </a:r>
                    </a:p>
                  </a:txBody>
                  <a:tcPr anchor="ctr" marL="63500" marR="63500" marT="25400" marB="25400">
                    <a:lnL>
                      <a:noFill/>
                    </a:lnL>
                    <a:lnR>
                      <a:noFill/>
                    </a:lnR>
                    <a:lnT>
                      <a:noFill/>
                    </a:lnT>
                    <a:lnB>
                      <a:noFill/>
                    </a:lnB>
                    <a:solidFill>
                      <a:srgbClr val="FFFFFF"/>
                    </a:solidFill>
                  </a:tcPr>
                </a:tc>
                <a:tc>
                  <a:txBody>
                    <a:bodyPr/>
                    <a:lstStyle/>
                    <a:p>
                      <a:pPr algn="ctr"/>
                      <a:r>
                        <a:rPr b="0" sz="1350" i="0" u="none">
                          <a:solidFill>
                            <a:srgbClr val="475569"/>
                          </a:solidFill>
                          <a:latin typeface="Be Vietnam Pro"/>
                        </a:rPr>
                        <a:t>Thấp</a:t>
                      </a:r>
                    </a:p>
                  </a:txBody>
                  <a:tcPr anchor="ctr" marL="63500" marR="63500" marT="25400" marB="25400">
                    <a:lnL>
                      <a:noFill/>
                    </a:lnL>
                    <a:lnR>
                      <a:noFill/>
                    </a:lnR>
                    <a:lnT>
                      <a:noFill/>
                    </a:lnT>
                    <a:lnB>
                      <a:noFill/>
                    </a:lnB>
                    <a:solidFill>
                      <a:srgbClr val="FFFFFF"/>
                    </a:solidFill>
                  </a:tcPr>
                </a:tc>
                <a:tc>
                  <a:txBody>
                    <a:bodyPr/>
                    <a:lstStyle/>
                    <a:p>
                      <a:pPr algn="ctr"/>
                      <a:r>
                        <a:rPr b="0" sz="1350" i="0" u="none">
                          <a:solidFill>
                            <a:srgbClr val="475569"/>
                          </a:solidFill>
                          <a:latin typeface="Be Vietnam Pro"/>
                        </a:rPr>
                        <a:t>Thấp</a:t>
                      </a:r>
                    </a:p>
                  </a:txBody>
                  <a:tcPr anchor="ctr" marL="63500" marR="63500" marT="25400" marB="25400">
                    <a:lnL>
                      <a:noFill/>
                    </a:lnL>
                    <a:lnR>
                      <a:noFill/>
                    </a:lnR>
                    <a:lnT>
                      <a:noFill/>
                    </a:lnT>
                    <a:lnB>
                      <a:noFill/>
                    </a:lnB>
                    <a:solidFill>
                      <a:srgbClr val="FFFFFF"/>
                    </a:solidFill>
                  </a:tcPr>
                </a:tc>
                <a:tc>
                  <a:txBody>
                    <a:bodyPr/>
                    <a:lstStyle/>
                    <a:p>
                      <a:pPr algn="ctr"/>
                      <a:r>
                        <a:rPr b="1" sz="1350" i="0" u="none">
                          <a:solidFill>
                            <a:srgbClr val="0D9488"/>
                          </a:solidFill>
                          <a:latin typeface="Be Vietnam Pro"/>
                        </a:rPr>
                        <a:t>Cao</a:t>
                      </a:r>
                    </a:p>
                  </a:txBody>
                  <a:tcPr anchor="ctr" marL="63500" marR="63500" marT="25400" marB="25400">
                    <a:lnL>
                      <a:noFill/>
                    </a:lnL>
                    <a:lnR>
                      <a:noFill/>
                    </a:lnR>
                    <a:lnT>
                      <a:noFill/>
                    </a:lnT>
                    <a:lnB>
                      <a:noFill/>
                    </a:lnB>
                    <a:solidFill>
                      <a:srgbClr val="FFFFFF"/>
                    </a:solidFill>
                  </a:tcPr>
                </a:tc>
                <a:tc>
                  <a:txBody>
                    <a:bodyPr/>
                    <a:lstStyle/>
                    <a:p>
                      <a:pPr algn="ctr"/>
                      <a:r>
                        <a:rPr b="1" sz="1350" i="0" u="none">
                          <a:solidFill>
                            <a:srgbClr val="0D9488"/>
                          </a:solidFill>
                          <a:latin typeface="Be Vietnam Pro"/>
                        </a:rPr>
                        <a:t>Cao</a:t>
                      </a:r>
                    </a:p>
                  </a:txBody>
                  <a:tcPr anchor="ctr" marL="63500" marR="63500" marT="25400" marB="25400">
                    <a:lnL>
                      <a:noFill/>
                    </a:lnL>
                    <a:lnR>
                      <a:noFill/>
                    </a:lnR>
                    <a:lnT>
                      <a:noFill/>
                    </a:lnT>
                    <a:lnB>
                      <a:noFill/>
                    </a:lnB>
                    <a:solidFill>
                      <a:srgbClr val="FFFFFF"/>
                    </a:solidFill>
                  </a:tcPr>
                </a:tc>
                <a:tc>
                  <a:txBody>
                    <a:bodyPr/>
                    <a:lstStyle/>
                    <a:p>
                      <a:pPr algn="ctr"/>
                      <a:r>
                        <a:rPr b="1" sz="1350" i="0" u="none">
                          <a:solidFill>
                            <a:srgbClr val="0D9488"/>
                          </a:solidFill>
                          <a:latin typeface="Be Vietnam Pro"/>
                        </a:rPr>
                        <a:t>Cao</a:t>
                      </a:r>
                    </a:p>
                  </a:txBody>
                  <a:tcPr anchor="ctr" marL="63500" marR="63500" marT="25400" marB="25400">
                    <a:lnL>
                      <a:noFill/>
                    </a:lnL>
                    <a:lnR>
                      <a:noFill/>
                    </a:lnR>
                    <a:lnT>
                      <a:noFill/>
                    </a:lnT>
                    <a:lnB>
                      <a:noFill/>
                    </a:lnB>
                    <a:solidFill>
                      <a:srgbClr val="FFFFFF"/>
                    </a:solidFill>
                  </a:tcPr>
                </a:tc>
                <a:tc>
                  <a:txBody>
                    <a:bodyPr/>
                    <a:lstStyle/>
                    <a:p>
                      <a:pPr algn="ctr"/>
                      <a:r>
                        <a:rPr b="0" sz="1350" i="0" u="none">
                          <a:solidFill>
                            <a:srgbClr val="475569"/>
                          </a:solidFill>
                          <a:latin typeface="Be Vietnam Pro"/>
                        </a:rPr>
                        <a:t>Thấp</a:t>
                      </a:r>
                    </a:p>
                  </a:txBody>
                  <a:tcPr anchor="ctr" marL="63500" marR="63500" marT="25400" marB="25400">
                    <a:lnL>
                      <a:noFill/>
                    </a:lnL>
                    <a:lnR>
                      <a:noFill/>
                    </a:lnR>
                    <a:lnT>
                      <a:noFill/>
                    </a:lnT>
                    <a:lnB>
                      <a:noFill/>
                    </a:lnB>
                    <a:solidFill>
                      <a:srgbClr val="FFFFFF"/>
                    </a:solidFill>
                  </a:tcPr>
                </a:tc>
                <a:tc>
                  <a:txBody>
                    <a:bodyPr/>
                    <a:lstStyle/>
                    <a:p>
                      <a:pPr algn="ctr"/>
                      <a:r>
                        <a:rPr b="0" sz="1350" i="0" u="none">
                          <a:solidFill>
                            <a:srgbClr val="475569"/>
                          </a:solidFill>
                          <a:latin typeface="Be Vietnam Pro"/>
                        </a:rPr>
                        <a:t>Thấp</a:t>
                      </a:r>
                    </a:p>
                  </a:txBody>
                  <a:tcPr anchor="ctr" marL="63500" marR="63500" marT="25400" marB="25400">
                    <a:lnL>
                      <a:noFill/>
                    </a:lnL>
                    <a:lnR>
                      <a:noFill/>
                    </a:lnR>
                    <a:lnT>
                      <a:noFill/>
                    </a:lnT>
                    <a:lnB>
                      <a:noFill/>
                    </a:lnB>
                    <a:solidFill>
                      <a:srgbClr val="FFFFFF"/>
                    </a:solidFill>
                  </a:tcPr>
                </a:tc>
                <a:tc>
                  <a:txBody>
                    <a:bodyPr/>
                    <a:lstStyle/>
                    <a:p>
                      <a:pPr algn="ctr"/>
                      <a:r>
                        <a:rPr b="1" sz="1350" i="0" u="none">
                          <a:solidFill>
                            <a:srgbClr val="0D9488"/>
                          </a:solidFill>
                          <a:latin typeface="Be Vietnam Pro"/>
                        </a:rPr>
                        <a:t>Cao</a:t>
                      </a:r>
                    </a:p>
                  </a:txBody>
                  <a:tcPr anchor="ctr" marL="63500" marR="63500" marT="25400" marB="25400">
                    <a:lnL>
                      <a:noFill/>
                    </a:lnL>
                    <a:lnR>
                      <a:noFill/>
                    </a:lnR>
                    <a:lnT>
                      <a:noFill/>
                    </a:lnT>
                    <a:lnB>
                      <a:noFill/>
                    </a:lnB>
                    <a:solidFill>
                      <a:srgbClr val="FFFFFF"/>
                    </a:solidFill>
                  </a:tcPr>
                </a:tc>
              </a:tr>
              <a:tr h="579120">
                <a:tc>
                  <a:txBody>
                    <a:bodyPr/>
                    <a:lstStyle/>
                    <a:p>
                      <a:pPr algn="l"/>
                      <a:r>
                        <a:rPr b="1" sz="1350" i="0" u="none">
                          <a:solidFill>
                            <a:srgbClr val="0F2C59"/>
                          </a:solidFill>
                          <a:latin typeface="Be Vietnam Pro"/>
                        </a:rPr>
                        <a:t>Trọng số w_i^(1)</a:t>
                      </a:r>
                    </a:p>
                  </a:txBody>
                  <a:tcPr anchor="ctr" marL="63500" marR="63500" marT="25400" marB="25400">
                    <a:lnL>
                      <a:noFill/>
                    </a:lnL>
                    <a:lnR>
                      <a:noFill/>
                    </a:lnR>
                    <a:lnT>
                      <a:noFill/>
                    </a:lnT>
                    <a:lnB>
                      <a:noFill/>
                    </a:lnB>
                    <a:solidFill>
                      <a:srgbClr val="F0FDF4"/>
                    </a:solidFill>
                  </a:tcPr>
                </a:tc>
                <a:tc>
                  <a:txBody>
                    <a:bodyPr/>
                    <a:lstStyle/>
                    <a:p>
                      <a:pPr algn="ctr"/>
                      <a:r>
                        <a:rPr b="1" sz="1350" i="0" u="none">
                          <a:solidFill>
                            <a:srgbClr val="059669"/>
                          </a:solidFill>
                          <a:latin typeface="JetBrains Mono"/>
                        </a:rPr>
                        <a:t>0.1250</a:t>
                      </a:r>
                    </a:p>
                  </a:txBody>
                  <a:tcPr anchor="ctr" marL="63500" marR="63500" marT="25400" marB="25400">
                    <a:lnL>
                      <a:noFill/>
                    </a:lnL>
                    <a:lnR>
                      <a:noFill/>
                    </a:lnR>
                    <a:lnT>
                      <a:noFill/>
                    </a:lnT>
                    <a:lnB>
                      <a:noFill/>
                    </a:lnB>
                    <a:solidFill>
                      <a:srgbClr val="F0FDF4"/>
                    </a:solidFill>
                  </a:tcPr>
                </a:tc>
                <a:tc>
                  <a:txBody>
                    <a:bodyPr/>
                    <a:lstStyle/>
                    <a:p>
                      <a:pPr algn="ctr"/>
                      <a:r>
                        <a:rPr b="1" sz="1350" i="0" u="none">
                          <a:solidFill>
                            <a:srgbClr val="059669"/>
                          </a:solidFill>
                          <a:latin typeface="JetBrains Mono"/>
                        </a:rPr>
                        <a:t>0.1250</a:t>
                      </a:r>
                    </a:p>
                  </a:txBody>
                  <a:tcPr anchor="ctr" marL="63500" marR="63500" marT="25400" marB="25400">
                    <a:lnL>
                      <a:noFill/>
                    </a:lnL>
                    <a:lnR>
                      <a:noFill/>
                    </a:lnR>
                    <a:lnT>
                      <a:noFill/>
                    </a:lnT>
                    <a:lnB>
                      <a:noFill/>
                    </a:lnB>
                    <a:solidFill>
                      <a:srgbClr val="F0FDF4"/>
                    </a:solidFill>
                  </a:tcPr>
                </a:tc>
                <a:tc>
                  <a:txBody>
                    <a:bodyPr/>
                    <a:lstStyle/>
                    <a:p>
                      <a:pPr algn="ctr"/>
                      <a:r>
                        <a:rPr b="1" sz="1350" i="0" u="none">
                          <a:solidFill>
                            <a:srgbClr val="059669"/>
                          </a:solidFill>
                          <a:latin typeface="JetBrains Mono"/>
                        </a:rPr>
                        <a:t>0.1250</a:t>
                      </a:r>
                    </a:p>
                  </a:txBody>
                  <a:tcPr anchor="ctr" marL="63500" marR="63500" marT="25400" marB="25400">
                    <a:lnL>
                      <a:noFill/>
                    </a:lnL>
                    <a:lnR>
                      <a:noFill/>
                    </a:lnR>
                    <a:lnT>
                      <a:noFill/>
                    </a:lnT>
                    <a:lnB>
                      <a:noFill/>
                    </a:lnB>
                    <a:solidFill>
                      <a:srgbClr val="F0FDF4"/>
                    </a:solidFill>
                  </a:tcPr>
                </a:tc>
                <a:tc>
                  <a:txBody>
                    <a:bodyPr/>
                    <a:lstStyle/>
                    <a:p>
                      <a:pPr algn="ctr"/>
                      <a:r>
                        <a:rPr b="1" sz="1350" i="0" u="none">
                          <a:solidFill>
                            <a:srgbClr val="059669"/>
                          </a:solidFill>
                          <a:latin typeface="JetBrains Mono"/>
                        </a:rPr>
                        <a:t>0.1250</a:t>
                      </a:r>
                    </a:p>
                  </a:txBody>
                  <a:tcPr anchor="ctr" marL="63500" marR="63500" marT="25400" marB="25400">
                    <a:lnL>
                      <a:noFill/>
                    </a:lnL>
                    <a:lnR>
                      <a:noFill/>
                    </a:lnR>
                    <a:lnT>
                      <a:noFill/>
                    </a:lnT>
                    <a:lnB>
                      <a:noFill/>
                    </a:lnB>
                    <a:solidFill>
                      <a:srgbClr val="F0FDF4"/>
                    </a:solidFill>
                  </a:tcPr>
                </a:tc>
                <a:tc>
                  <a:txBody>
                    <a:bodyPr/>
                    <a:lstStyle/>
                    <a:p>
                      <a:pPr algn="ctr"/>
                      <a:r>
                        <a:rPr b="1" sz="1350" i="0" u="none">
                          <a:solidFill>
                            <a:srgbClr val="059669"/>
                          </a:solidFill>
                          <a:latin typeface="JetBrains Mono"/>
                        </a:rPr>
                        <a:t>0.1250</a:t>
                      </a:r>
                    </a:p>
                  </a:txBody>
                  <a:tcPr anchor="ctr" marL="63500" marR="63500" marT="25400" marB="25400">
                    <a:lnL>
                      <a:noFill/>
                    </a:lnL>
                    <a:lnR>
                      <a:noFill/>
                    </a:lnR>
                    <a:lnT>
                      <a:noFill/>
                    </a:lnT>
                    <a:lnB>
                      <a:noFill/>
                    </a:lnB>
                    <a:solidFill>
                      <a:srgbClr val="F0FDF4"/>
                    </a:solidFill>
                  </a:tcPr>
                </a:tc>
                <a:tc>
                  <a:txBody>
                    <a:bodyPr/>
                    <a:lstStyle/>
                    <a:p>
                      <a:pPr algn="ctr"/>
                      <a:r>
                        <a:rPr b="1" sz="1350" i="0" u="none">
                          <a:solidFill>
                            <a:srgbClr val="059669"/>
                          </a:solidFill>
                          <a:latin typeface="JetBrains Mono"/>
                        </a:rPr>
                        <a:t>0.1250</a:t>
                      </a:r>
                    </a:p>
                  </a:txBody>
                  <a:tcPr anchor="ctr" marL="63500" marR="63500" marT="25400" marB="25400">
                    <a:lnL>
                      <a:noFill/>
                    </a:lnL>
                    <a:lnR>
                      <a:noFill/>
                    </a:lnR>
                    <a:lnT>
                      <a:noFill/>
                    </a:lnT>
                    <a:lnB>
                      <a:noFill/>
                    </a:lnB>
                    <a:solidFill>
                      <a:srgbClr val="F0FDF4"/>
                    </a:solidFill>
                  </a:tcPr>
                </a:tc>
                <a:tc>
                  <a:txBody>
                    <a:bodyPr/>
                    <a:lstStyle/>
                    <a:p>
                      <a:pPr algn="ctr"/>
                      <a:r>
                        <a:rPr b="1" sz="1350" i="0" u="none">
                          <a:solidFill>
                            <a:srgbClr val="059669"/>
                          </a:solidFill>
                          <a:latin typeface="JetBrains Mono"/>
                        </a:rPr>
                        <a:t>0.1250</a:t>
                      </a:r>
                    </a:p>
                  </a:txBody>
                  <a:tcPr anchor="ctr" marL="63500" marR="63500" marT="25400" marB="25400">
                    <a:lnL>
                      <a:noFill/>
                    </a:lnL>
                    <a:lnR>
                      <a:noFill/>
                    </a:lnR>
                    <a:lnT>
                      <a:noFill/>
                    </a:lnT>
                    <a:lnB>
                      <a:noFill/>
                    </a:lnB>
                    <a:solidFill>
                      <a:srgbClr val="F0FDF4"/>
                    </a:solidFill>
                  </a:tcPr>
                </a:tc>
                <a:tc>
                  <a:txBody>
                    <a:bodyPr/>
                    <a:lstStyle/>
                    <a:p>
                      <a:pPr algn="ctr"/>
                      <a:r>
                        <a:rPr b="1" sz="1350" i="0" u="none">
                          <a:solidFill>
                            <a:srgbClr val="059669"/>
                          </a:solidFill>
                          <a:latin typeface="JetBrains Mono"/>
                        </a:rPr>
                        <a:t>0.1250</a:t>
                      </a:r>
                    </a:p>
                  </a:txBody>
                  <a:tcPr anchor="ctr" marL="63500" marR="63500" marT="25400" marB="25400">
                    <a:lnL>
                      <a:noFill/>
                    </a:lnL>
                    <a:lnR>
                      <a:noFill/>
                    </a:lnR>
                    <a:lnT>
                      <a:noFill/>
                    </a:lnT>
                    <a:lnB>
                      <a:noFill/>
                    </a:lnB>
                    <a:solidFill>
                      <a:srgbClr val="F0FDF4"/>
                    </a:solidFill>
                  </a:tcPr>
                </a:tc>
              </a:tr>
            </a:tbl>
          </a:graphicData>
        </a:graphic>
      </p:graphicFrame>
      <p:sp>
        <p:nvSpPr>
          <p:cNvPr id="7" name="TextBox 6"/>
          <p:cNvSpPr txBox="1"/>
          <p:nvPr/>
        </p:nvSpPr>
        <p:spPr>
          <a:xfrm>
            <a:off x="571500" y="419100"/>
            <a:ext cx="11620500" cy="171450"/>
          </a:xfrm>
          <a:prstGeom prst="rect">
            <a:avLst/>
          </a:prstGeom>
          <a:noFill/>
        </p:spPr>
        <p:txBody>
          <a:bodyPr wrap="none" lIns="0" rIns="0" tIns="0" bIns="0" anchor="t">
            <a:spAutoFit/>
          </a:bodyPr>
          <a:lstStyle/>
          <a:p>
            <a:pPr algn="l"/>
            <a:r>
              <a:rPr b="1" sz="1050" i="0" u="none">
                <a:solidFill>
                  <a:srgbClr val="0D9488"/>
                </a:solidFill>
                <a:latin typeface="Be Vietnam Pro"/>
              </a:rPr>
              <a:t>PHẦN 1 • BÀI TOÁN SỐ HỌC MINH HỌA</a:t>
            </a:r>
          </a:p>
        </p:txBody>
      </p:sp>
      <p:sp>
        <p:nvSpPr>
          <p:cNvPr id="8" name="TextBox 7"/>
          <p:cNvSpPr txBox="1"/>
          <p:nvPr/>
        </p:nvSpPr>
        <p:spPr>
          <a:xfrm>
            <a:off x="571500" y="647700"/>
            <a:ext cx="11620500" cy="409575"/>
          </a:xfrm>
          <a:prstGeom prst="rect">
            <a:avLst/>
          </a:prstGeom>
          <a:noFill/>
        </p:spPr>
        <p:txBody>
          <a:bodyPr wrap="none" lIns="0" rIns="0" tIns="0" bIns="0" anchor="t">
            <a:spAutoFit/>
          </a:bodyPr>
          <a:lstStyle/>
          <a:p>
            <a:pPr algn="l"/>
            <a:r>
              <a:rPr b="1" sz="2550" i="0" u="none">
                <a:solidFill>
                  <a:srgbClr val="0F2C59"/>
                </a:solidFill>
                <a:latin typeface="Be Vietnam Pro"/>
              </a:rPr>
              <a:t>Khởi tạo Toy Dataset (8 Mẫu Lâm sàng)</a:t>
            </a:r>
          </a:p>
        </p:txBody>
      </p:sp>
      <p:sp>
        <p:nvSpPr>
          <p:cNvPr id="9" name="TextBox 8"/>
          <p:cNvSpPr txBox="1"/>
          <p:nvPr/>
        </p:nvSpPr>
        <p:spPr>
          <a:xfrm>
            <a:off x="800100" y="1400175"/>
            <a:ext cx="3873437" cy="171450"/>
          </a:xfrm>
          <a:prstGeom prst="rect">
            <a:avLst/>
          </a:prstGeom>
          <a:noFill/>
        </p:spPr>
        <p:txBody>
          <a:bodyPr wrap="none" lIns="0" rIns="0" tIns="0" bIns="0" anchor="t">
            <a:spAutoFit/>
          </a:bodyPr>
          <a:lstStyle/>
          <a:p>
            <a:pPr algn="l"/>
            <a:r>
              <a:rPr b="1" sz="1050" i="0" u="none">
                <a:solidFill>
                  <a:srgbClr val="64748B"/>
                </a:solidFill>
                <a:latin typeface="Be Vietnam Pro"/>
              </a:rPr>
              <a:t>ĐẶC TRƯNG ĐẦU VÀO (1D)</a:t>
            </a:r>
          </a:p>
        </p:txBody>
      </p:sp>
      <p:sp>
        <p:nvSpPr>
          <p:cNvPr id="10" name="TextBox 9"/>
          <p:cNvSpPr txBox="1"/>
          <p:nvPr/>
        </p:nvSpPr>
        <p:spPr>
          <a:xfrm>
            <a:off x="800100" y="1609725"/>
            <a:ext cx="3194000" cy="495300"/>
          </a:xfrm>
          <a:prstGeom prst="rect">
            <a:avLst/>
          </a:prstGeom>
          <a:noFill/>
        </p:spPr>
        <p:txBody>
          <a:bodyPr wrap="square" lIns="0" rIns="0" tIns="0" bIns="0" anchor="t">
            <a:spAutoFit/>
          </a:bodyPr>
          <a:lstStyle/>
          <a:p>
            <a:pPr algn="l"/>
            <a:r>
              <a:rPr b="1" sz="1500" i="0" u="none">
                <a:solidFill>
                  <a:srgbClr val="0F2C59"/>
                </a:solidFill>
                <a:latin typeface="JetBrains Mono"/>
              </a:rPr>
              <a:t>X = [1, 2, 3, 4, 5, 6, 7, 8]</a:t>
            </a:r>
          </a:p>
        </p:txBody>
      </p:sp>
      <p:sp>
        <p:nvSpPr>
          <p:cNvPr id="11" name="TextBox 10"/>
          <p:cNvSpPr txBox="1"/>
          <p:nvPr/>
        </p:nvSpPr>
        <p:spPr>
          <a:xfrm>
            <a:off x="4546550" y="1400175"/>
            <a:ext cx="3873437" cy="171450"/>
          </a:xfrm>
          <a:prstGeom prst="rect">
            <a:avLst/>
          </a:prstGeom>
          <a:noFill/>
        </p:spPr>
        <p:txBody>
          <a:bodyPr wrap="none" lIns="0" rIns="0" tIns="0" bIns="0" anchor="t">
            <a:spAutoFit/>
          </a:bodyPr>
          <a:lstStyle/>
          <a:p>
            <a:pPr algn="l"/>
            <a:r>
              <a:rPr b="1" sz="1050" i="0" u="none">
                <a:solidFill>
                  <a:srgbClr val="64748B"/>
                </a:solidFill>
                <a:latin typeface="Be Vietnam Pro"/>
              </a:rPr>
              <a:t>NHÃN PHÂN LOẠI LÂM SÀNG</a:t>
            </a:r>
          </a:p>
        </p:txBody>
      </p:sp>
      <p:sp>
        <p:nvSpPr>
          <p:cNvPr id="12" name="TextBox 11"/>
          <p:cNvSpPr txBox="1"/>
          <p:nvPr/>
        </p:nvSpPr>
        <p:spPr>
          <a:xfrm>
            <a:off x="4546550" y="1609725"/>
            <a:ext cx="3194000" cy="476250"/>
          </a:xfrm>
          <a:prstGeom prst="rect">
            <a:avLst/>
          </a:prstGeom>
          <a:noFill/>
        </p:spPr>
        <p:txBody>
          <a:bodyPr wrap="square" lIns="0" rIns="0" tIns="0" bIns="0" anchor="t">
            <a:spAutoFit/>
          </a:bodyPr>
          <a:lstStyle/>
          <a:p>
            <a:pPr algn="l"/>
            <a:r>
              <a:rPr b="1" sz="1500" i="0" u="none">
                <a:solidFill>
                  <a:srgbClr val="0D9488"/>
                </a:solidFill>
                <a:latin typeface="Be Vietnam Pro"/>
              </a:rPr>
              <a:t>+1: Nguy cơ cao  |  -1: Nguy cơ thấp</a:t>
            </a:r>
          </a:p>
        </p:txBody>
      </p:sp>
      <p:sp>
        <p:nvSpPr>
          <p:cNvPr id="13" name="TextBox 12"/>
          <p:cNvSpPr txBox="1"/>
          <p:nvPr/>
        </p:nvSpPr>
        <p:spPr>
          <a:xfrm>
            <a:off x="8293000" y="1400175"/>
            <a:ext cx="3873437" cy="171450"/>
          </a:xfrm>
          <a:prstGeom prst="rect">
            <a:avLst/>
          </a:prstGeom>
          <a:noFill/>
        </p:spPr>
        <p:txBody>
          <a:bodyPr wrap="none" lIns="0" rIns="0" tIns="0" bIns="0" anchor="t">
            <a:spAutoFit/>
          </a:bodyPr>
          <a:lstStyle/>
          <a:p>
            <a:pPr algn="l"/>
            <a:r>
              <a:rPr b="1" sz="1050" i="0" u="none">
                <a:solidFill>
                  <a:srgbClr val="64748B"/>
                </a:solidFill>
                <a:latin typeface="Be Vietnam Pro"/>
              </a:rPr>
              <a:t>TRỌNG SỐ KHỞI TẠO ĐỒNG ĐỀU</a:t>
            </a:r>
          </a:p>
        </p:txBody>
      </p:sp>
      <p:sp>
        <p:nvSpPr>
          <p:cNvPr id="14" name="TextBox 13"/>
          <p:cNvSpPr txBox="1"/>
          <p:nvPr/>
        </p:nvSpPr>
        <p:spPr>
          <a:xfrm>
            <a:off x="8293000" y="1609725"/>
            <a:ext cx="3873437" cy="247650"/>
          </a:xfrm>
          <a:prstGeom prst="rect">
            <a:avLst/>
          </a:prstGeom>
          <a:noFill/>
        </p:spPr>
        <p:txBody>
          <a:bodyPr wrap="none" lIns="0" rIns="0" tIns="0" bIns="0" anchor="t">
            <a:spAutoFit/>
          </a:bodyPr>
          <a:lstStyle/>
          <a:p>
            <a:pPr algn="l"/>
            <a:r>
              <a:rPr b="1" sz="1500" i="0" u="none">
                <a:solidFill>
                  <a:srgbClr val="0F2C59"/>
                </a:solidFill>
                <a:latin typeface="JetBrains Mono"/>
              </a:rPr>
              <a:t>w_i^(1) = 1/8 = 0.1250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66928" y="1965960"/>
            <a:ext cx="5349240" cy="1051560"/>
          </a:xfrm>
          <a:prstGeom prst="roundRect">
            <a:avLst>
              <a:gd name="adj" fmla="val 12631"/>
            </a:avLst>
          </a:prstGeom>
          <a:solidFill>
            <a:srgbClr val="0F2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66928" y="3154680"/>
            <a:ext cx="5349240" cy="2697480"/>
          </a:xfrm>
          <a:prstGeom prst="roundRect">
            <a:avLst>
              <a:gd name="adj" fmla="val 504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263640" y="1965960"/>
            <a:ext cx="5349240" cy="1874519"/>
          </a:xfrm>
          <a:prstGeom prst="roundRect">
            <a:avLst>
              <a:gd name="adj" fmla="val 7547"/>
            </a:avLst>
          </a:prstGeom>
          <a:solidFill>
            <a:srgbClr val="FFF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263640" y="3977639"/>
            <a:ext cx="5349240" cy="1874519"/>
          </a:xfrm>
          <a:prstGeom prst="roundRect">
            <a:avLst>
              <a:gd name="adj" fmla="val 6521"/>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505950" y="2362200"/>
            <a:ext cx="1847850" cy="276225"/>
          </a:xfrm>
          <a:prstGeom prst="roundRect">
            <a:avLst>
              <a:gd name="adj" fmla="val 20689"/>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994999" y="4086225"/>
            <a:ext cx="1358800" cy="476250"/>
          </a:xfrm>
          <a:prstGeom prst="roundRect">
            <a:avLst>
              <a:gd name="adj" fmla="val 12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1500" y="419100"/>
            <a:ext cx="11620500" cy="171450"/>
          </a:xfrm>
          <a:prstGeom prst="rect">
            <a:avLst/>
          </a:prstGeom>
          <a:noFill/>
        </p:spPr>
        <p:txBody>
          <a:bodyPr wrap="none" lIns="0" rIns="0" tIns="0" bIns="0" anchor="t">
            <a:spAutoFit/>
          </a:bodyPr>
          <a:lstStyle/>
          <a:p>
            <a:pPr algn="l"/>
            <a:r>
              <a:rPr b="1" sz="1050" i="0" u="none">
                <a:solidFill>
                  <a:srgbClr val="0D9488"/>
                </a:solidFill>
                <a:latin typeface="Be Vietnam Pro"/>
              </a:rPr>
              <a:t>PHẦN 1 • TÍNH TOÁN VÒNG LẶP 1 (t = 1)</a:t>
            </a:r>
          </a:p>
        </p:txBody>
      </p:sp>
      <p:sp>
        <p:nvSpPr>
          <p:cNvPr id="9" name="TextBox 8"/>
          <p:cNvSpPr txBox="1"/>
          <p:nvPr/>
        </p:nvSpPr>
        <p:spPr>
          <a:xfrm>
            <a:off x="571500" y="647700"/>
            <a:ext cx="11620500" cy="409575"/>
          </a:xfrm>
          <a:prstGeom prst="rect">
            <a:avLst/>
          </a:prstGeom>
          <a:noFill/>
        </p:spPr>
        <p:txBody>
          <a:bodyPr wrap="none" lIns="0" rIns="0" tIns="0" bIns="0" anchor="t">
            <a:spAutoFit/>
          </a:bodyPr>
          <a:lstStyle/>
          <a:p>
            <a:pPr algn="l"/>
            <a:r>
              <a:rPr b="1" sz="2550" i="0" u="none">
                <a:solidFill>
                  <a:srgbClr val="0F2C59"/>
                </a:solidFill>
                <a:latin typeface="Be Vietnam Pro"/>
              </a:rPr>
              <a:t>Vòng lặp 1: Stump 1 &amp; Sự Phân hóa Trọng số</a:t>
            </a:r>
          </a:p>
        </p:txBody>
      </p:sp>
      <p:sp>
        <p:nvSpPr>
          <p:cNvPr id="10" name="TextBox 9"/>
          <p:cNvSpPr txBox="1"/>
          <p:nvPr/>
        </p:nvSpPr>
        <p:spPr>
          <a:xfrm>
            <a:off x="819150" y="2400300"/>
            <a:ext cx="5798901" cy="171450"/>
          </a:xfrm>
          <a:prstGeom prst="rect">
            <a:avLst/>
          </a:prstGeom>
          <a:noFill/>
        </p:spPr>
        <p:txBody>
          <a:bodyPr wrap="none" lIns="0" rIns="0" tIns="0" bIns="0" anchor="t">
            <a:spAutoFit/>
          </a:bodyPr>
          <a:lstStyle/>
          <a:p>
            <a:pPr algn="l"/>
            <a:r>
              <a:rPr b="1" sz="1050" i="0" u="none">
                <a:solidFill>
                  <a:srgbClr val="2DD4BF"/>
                </a:solidFill>
                <a:latin typeface="Be Vietnam Pro"/>
              </a:rPr>
              <a:t>QUY TẮC DECISION STUMP 1</a:t>
            </a:r>
          </a:p>
        </p:txBody>
      </p:sp>
      <p:sp>
        <p:nvSpPr>
          <p:cNvPr id="11" name="TextBox 10"/>
          <p:cNvSpPr txBox="1"/>
          <p:nvPr/>
        </p:nvSpPr>
        <p:spPr>
          <a:xfrm>
            <a:off x="819150" y="2628900"/>
            <a:ext cx="5798901" cy="257175"/>
          </a:xfrm>
          <a:prstGeom prst="rect">
            <a:avLst/>
          </a:prstGeom>
          <a:noFill/>
        </p:spPr>
        <p:txBody>
          <a:bodyPr wrap="none" lIns="0" rIns="0" tIns="0" bIns="0" anchor="t">
            <a:spAutoFit/>
          </a:bodyPr>
          <a:lstStyle/>
          <a:p>
            <a:pPr algn="l"/>
            <a:r>
              <a:rPr b="1" sz="1575" i="0" u="none">
                <a:solidFill>
                  <a:srgbClr val="FFFFFF"/>
                </a:solidFill>
                <a:latin typeface="JetBrains Mono"/>
              </a:rPr>
              <a:t>h1(x) = +1 nếu X &gt; 2.5, ngược lại -1</a:t>
            </a:r>
          </a:p>
        </p:txBody>
      </p:sp>
      <p:sp>
        <p:nvSpPr>
          <p:cNvPr id="12" name="TextBox 11"/>
          <p:cNvSpPr txBox="1"/>
          <p:nvPr/>
        </p:nvSpPr>
        <p:spPr>
          <a:xfrm>
            <a:off x="819150" y="3495675"/>
            <a:ext cx="6088846" cy="238125"/>
          </a:xfrm>
          <a:prstGeom prst="rect">
            <a:avLst/>
          </a:prstGeom>
          <a:noFill/>
        </p:spPr>
        <p:txBody>
          <a:bodyPr wrap="none" lIns="0" rIns="0" tIns="0" bIns="0" anchor="t">
            <a:spAutoFit/>
          </a:bodyPr>
          <a:lstStyle/>
          <a:p>
            <a:pPr algn="l"/>
            <a:r>
              <a:rPr b="1" sz="1500" i="0" u="none">
                <a:solidFill>
                  <a:srgbClr val="0F2C59"/>
                </a:solidFill>
                <a:latin typeface="Be Vietnam Pro"/>
              </a:rPr>
              <a:t>Thông số Tính toán Vòng 1</a:t>
            </a:r>
          </a:p>
        </p:txBody>
      </p:sp>
      <p:sp>
        <p:nvSpPr>
          <p:cNvPr id="13" name="TextBox 12"/>
          <p:cNvSpPr txBox="1"/>
          <p:nvPr/>
        </p:nvSpPr>
        <p:spPr>
          <a:xfrm>
            <a:off x="6239321" y="2733675"/>
            <a:ext cx="5952678" cy="409575"/>
          </a:xfrm>
          <a:prstGeom prst="rect">
            <a:avLst/>
          </a:prstGeom>
          <a:noFill/>
        </p:spPr>
        <p:txBody>
          <a:bodyPr wrap="none" lIns="0" rIns="0" tIns="0" bIns="0" anchor="t">
            <a:spAutoFit/>
          </a:bodyPr>
          <a:lstStyle/>
          <a:p>
            <a:pPr algn="l"/>
            <a:r>
              <a:rPr b="1" sz="2400" i="0" u="none">
                <a:solidFill>
                  <a:srgbClr val="B45309"/>
                </a:solidFill>
                <a:latin typeface="JetBrains Mono"/>
              </a:rPr>
              <a:t>0.1250 → 0.2500 (1/4)</a:t>
            </a:r>
          </a:p>
        </p:txBody>
      </p:sp>
      <p:sp>
        <p:nvSpPr>
          <p:cNvPr id="14" name="TextBox 13"/>
          <p:cNvSpPr txBox="1"/>
          <p:nvPr/>
        </p:nvSpPr>
        <p:spPr>
          <a:xfrm>
            <a:off x="6239321" y="3200400"/>
            <a:ext cx="5952678" cy="219075"/>
          </a:xfrm>
          <a:prstGeom prst="rect">
            <a:avLst/>
          </a:prstGeom>
          <a:noFill/>
        </p:spPr>
        <p:txBody>
          <a:bodyPr wrap="none" lIns="0" rIns="0" tIns="0" bIns="0" anchor="t">
            <a:spAutoFit/>
          </a:bodyPr>
          <a:lstStyle/>
          <a:p>
            <a:pPr algn="l"/>
            <a:r>
              <a:rPr b="0" sz="1350" i="0" u="none">
                <a:solidFill>
                  <a:srgbClr val="78350F"/>
                </a:solidFill>
                <a:latin typeface="Be Vietnam Pro"/>
              </a:rPr>
              <a:t>Chiếm tổng cộng 50% trọng số toàn tập ở vòng tiếp theo.</a:t>
            </a:r>
          </a:p>
        </p:txBody>
      </p:sp>
      <p:sp>
        <p:nvSpPr>
          <p:cNvPr id="15" name="TextBox 14"/>
          <p:cNvSpPr txBox="1"/>
          <p:nvPr/>
        </p:nvSpPr>
        <p:spPr>
          <a:xfrm>
            <a:off x="6239321" y="4676775"/>
            <a:ext cx="5952678" cy="409575"/>
          </a:xfrm>
          <a:prstGeom prst="rect">
            <a:avLst/>
          </a:prstGeom>
          <a:noFill/>
        </p:spPr>
        <p:txBody>
          <a:bodyPr wrap="none" lIns="0" rIns="0" tIns="0" bIns="0" anchor="t">
            <a:spAutoFit/>
          </a:bodyPr>
          <a:lstStyle/>
          <a:p>
            <a:pPr algn="l"/>
            <a:r>
              <a:rPr b="1" sz="2400" i="0" u="none">
                <a:solidFill>
                  <a:srgbClr val="047857"/>
                </a:solidFill>
                <a:latin typeface="JetBrains Mono"/>
              </a:rPr>
              <a:t>0.1250 → 0.0833 (1/12)</a:t>
            </a:r>
          </a:p>
        </p:txBody>
      </p:sp>
      <p:sp>
        <p:nvSpPr>
          <p:cNvPr id="16" name="TextBox 15"/>
          <p:cNvSpPr txBox="1"/>
          <p:nvPr/>
        </p:nvSpPr>
        <p:spPr>
          <a:xfrm>
            <a:off x="6239321" y="5143500"/>
            <a:ext cx="5952678" cy="219075"/>
          </a:xfrm>
          <a:prstGeom prst="rect">
            <a:avLst/>
          </a:prstGeom>
          <a:noFill/>
        </p:spPr>
        <p:txBody>
          <a:bodyPr wrap="none" lIns="0" rIns="0" tIns="0" bIns="0" anchor="t">
            <a:spAutoFit/>
          </a:bodyPr>
          <a:lstStyle/>
          <a:p>
            <a:pPr algn="l"/>
            <a:r>
              <a:rPr b="0" sz="1350" i="0" u="none">
                <a:solidFill>
                  <a:srgbClr val="065F46"/>
                </a:solidFill>
                <a:latin typeface="Be Vietnam Pro"/>
              </a:rPr>
              <a:t>Giảm mức độ ưu tiên đối với 6 mẫu đã phân loại chính xác.</a:t>
            </a:r>
          </a:p>
        </p:txBody>
      </p:sp>
      <p:sp>
        <p:nvSpPr>
          <p:cNvPr id="17" name="TextBox 16"/>
          <p:cNvSpPr txBox="1"/>
          <p:nvPr/>
        </p:nvSpPr>
        <p:spPr>
          <a:xfrm>
            <a:off x="819150" y="3867150"/>
            <a:ext cx="5798901" cy="219075"/>
          </a:xfrm>
          <a:prstGeom prst="rect">
            <a:avLst/>
          </a:prstGeom>
          <a:noFill/>
        </p:spPr>
        <p:txBody>
          <a:bodyPr wrap="none" lIns="0" rIns="0" tIns="0" bIns="0" anchor="t">
            <a:spAutoFit/>
          </a:bodyPr>
          <a:lstStyle/>
          <a:p>
            <a:pPr algn="l">
              <a:defRPr sz="1100"/>
            </a:pPr>
            <a:r>
              <a:rPr b="1" sz="1350" i="0" u="none">
                <a:solidFill>
                  <a:srgbClr val="334155"/>
                </a:solidFill>
                <a:latin typeface="Be Vietnam Pro"/>
              </a:rPr>
              <a:t>Mẫu đoán sai:</a:t>
            </a:r>
            <a:r>
              <a:rPr b="0" sz="1350" i="0" u="none">
                <a:solidFill>
                  <a:srgbClr val="334155"/>
                </a:solidFill>
                <a:latin typeface="Be Vietnam Pro"/>
              </a:rPr>
              <a:t> Mẫu 6 &amp; Mẫu 7 (X = 6, 7; y = -1 đoán +1)</a:t>
            </a:r>
          </a:p>
        </p:txBody>
      </p:sp>
      <p:sp>
        <p:nvSpPr>
          <p:cNvPr id="18" name="TextBox 17"/>
          <p:cNvSpPr txBox="1"/>
          <p:nvPr/>
        </p:nvSpPr>
        <p:spPr>
          <a:xfrm>
            <a:off x="819150" y="4200525"/>
            <a:ext cx="4734371" cy="438150"/>
          </a:xfrm>
          <a:prstGeom prst="rect">
            <a:avLst/>
          </a:prstGeom>
          <a:noFill/>
        </p:spPr>
        <p:txBody>
          <a:bodyPr wrap="square" lIns="0" rIns="0" tIns="0" bIns="0" anchor="t">
            <a:spAutoFit/>
          </a:bodyPr>
          <a:lstStyle/>
          <a:p>
            <a:pPr algn="l">
              <a:defRPr sz="1100"/>
            </a:pPr>
            <a:r>
              <a:rPr b="1" sz="1350" i="0" u="none">
                <a:solidFill>
                  <a:srgbClr val="0F2C59"/>
                </a:solidFill>
                <a:latin typeface="JetBrains Mono"/>
              </a:rPr>
              <a:t>Sai số:</a:t>
            </a:r>
            <a:r>
              <a:rPr b="0" sz="1350" i="0" u="none">
                <a:solidFill>
                  <a:srgbClr val="0F2C59"/>
                </a:solidFill>
                <a:latin typeface="JetBrains Mono"/>
              </a:rPr>
              <a:t> ε_1 = w_6 + w_7 = 1/8 + 1/8 = 0.2500 (1/4)</a:t>
            </a:r>
          </a:p>
        </p:txBody>
      </p:sp>
      <p:sp>
        <p:nvSpPr>
          <p:cNvPr id="19" name="TextBox 18"/>
          <p:cNvSpPr txBox="1"/>
          <p:nvPr/>
        </p:nvSpPr>
        <p:spPr>
          <a:xfrm>
            <a:off x="819150" y="4752975"/>
            <a:ext cx="5798901" cy="219075"/>
          </a:xfrm>
          <a:prstGeom prst="rect">
            <a:avLst/>
          </a:prstGeom>
          <a:noFill/>
        </p:spPr>
        <p:txBody>
          <a:bodyPr wrap="none" lIns="0" rIns="0" tIns="0" bIns="0" anchor="t">
            <a:spAutoFit/>
          </a:bodyPr>
          <a:lstStyle/>
          <a:p>
            <a:pPr algn="l">
              <a:defRPr sz="1100"/>
            </a:pPr>
            <a:r>
              <a:rPr b="1" sz="1350" i="0" u="none">
                <a:solidFill>
                  <a:srgbClr val="0D9488"/>
                </a:solidFill>
                <a:latin typeface="JetBrains Mono"/>
              </a:rPr>
              <a:t>Trọng số mô hình:</a:t>
            </a:r>
            <a:r>
              <a:rPr b="0" sz="1350" i="0" u="none">
                <a:solidFill>
                  <a:srgbClr val="0D9488"/>
                </a:solidFill>
                <a:latin typeface="JetBrains Mono"/>
              </a:rPr>
              <a:t> α_1 = 0.5 * ln(3) = 0.5493</a:t>
            </a:r>
          </a:p>
        </p:txBody>
      </p:sp>
      <p:sp>
        <p:nvSpPr>
          <p:cNvPr id="20" name="TextBox 19"/>
          <p:cNvSpPr txBox="1"/>
          <p:nvPr/>
        </p:nvSpPr>
        <p:spPr>
          <a:xfrm>
            <a:off x="819150" y="5086350"/>
            <a:ext cx="5798901" cy="219075"/>
          </a:xfrm>
          <a:prstGeom prst="rect">
            <a:avLst/>
          </a:prstGeom>
          <a:noFill/>
        </p:spPr>
        <p:txBody>
          <a:bodyPr wrap="none" lIns="0" rIns="0" tIns="0" bIns="0" anchor="t">
            <a:spAutoFit/>
          </a:bodyPr>
          <a:lstStyle/>
          <a:p>
            <a:pPr algn="l">
              <a:defRPr sz="1100"/>
            </a:pPr>
            <a:r>
              <a:rPr b="1" sz="1350" i="0" u="none">
                <a:solidFill>
                  <a:srgbClr val="475569"/>
                </a:solidFill>
                <a:latin typeface="JetBrains Mono"/>
              </a:rPr>
              <a:t>Hệ số chuẩn hóa:</a:t>
            </a:r>
            <a:r>
              <a:rPr b="0" sz="1350" i="0" u="none">
                <a:solidFill>
                  <a:srgbClr val="475569"/>
                </a:solidFill>
                <a:latin typeface="JetBrains Mono"/>
              </a:rPr>
              <a:t> Z_1 = sqrt(3)/2 = 0.8660</a:t>
            </a:r>
          </a:p>
        </p:txBody>
      </p:sp>
      <p:sp>
        <p:nvSpPr>
          <p:cNvPr id="21" name="TextBox 20"/>
          <p:cNvSpPr txBox="1"/>
          <p:nvPr/>
        </p:nvSpPr>
        <p:spPr>
          <a:xfrm>
            <a:off x="6239321" y="2371725"/>
            <a:ext cx="3875484" cy="257175"/>
          </a:xfrm>
          <a:prstGeom prst="rect">
            <a:avLst/>
          </a:prstGeom>
          <a:noFill/>
        </p:spPr>
        <p:txBody>
          <a:bodyPr wrap="none" lIns="0" rIns="0" tIns="0" bIns="0" anchor="t">
            <a:spAutoFit/>
          </a:bodyPr>
          <a:lstStyle/>
          <a:p>
            <a:pPr algn="l"/>
            <a:r>
              <a:rPr b="1" sz="1575" i="0" u="none">
                <a:solidFill>
                  <a:srgbClr val="B45309"/>
                </a:solidFill>
                <a:latin typeface="Be Vietnam Pro"/>
              </a:rPr>
              <a:t>Nhóm Dự đoán Sai (Mẫu 6, 7)</a:t>
            </a:r>
          </a:p>
        </p:txBody>
      </p:sp>
      <p:sp>
        <p:nvSpPr>
          <p:cNvPr id="22" name="TextBox 21"/>
          <p:cNvSpPr txBox="1"/>
          <p:nvPr/>
        </p:nvSpPr>
        <p:spPr>
          <a:xfrm>
            <a:off x="9620250" y="2400300"/>
            <a:ext cx="1714500" cy="200025"/>
          </a:xfrm>
          <a:prstGeom prst="rect">
            <a:avLst/>
          </a:prstGeom>
          <a:noFill/>
        </p:spPr>
        <p:txBody>
          <a:bodyPr wrap="square" lIns="0" rIns="0" tIns="0" bIns="0" anchor="t">
            <a:spAutoFit/>
          </a:bodyPr>
          <a:lstStyle/>
          <a:p>
            <a:pPr algn="l"/>
            <a:r>
              <a:rPr b="1" sz="1200" i="0" u="none">
                <a:solidFill>
                  <a:srgbClr val="FFFFFF"/>
                </a:solidFill>
                <a:latin typeface="JetBrains Mono"/>
              </a:rPr>
              <a:t>PHẠT TĂNG GẤP ĐÔI</a:t>
            </a:r>
          </a:p>
        </p:txBody>
      </p:sp>
      <p:sp>
        <p:nvSpPr>
          <p:cNvPr id="23" name="TextBox 22"/>
          <p:cNvSpPr txBox="1"/>
          <p:nvPr/>
        </p:nvSpPr>
        <p:spPr>
          <a:xfrm>
            <a:off x="6239321" y="4067175"/>
            <a:ext cx="4043474" cy="514350"/>
          </a:xfrm>
          <a:prstGeom prst="rect">
            <a:avLst/>
          </a:prstGeom>
          <a:noFill/>
        </p:spPr>
        <p:txBody>
          <a:bodyPr wrap="square" lIns="0" rIns="0" tIns="0" bIns="0" anchor="t">
            <a:spAutoFit/>
          </a:bodyPr>
          <a:lstStyle/>
          <a:p>
            <a:pPr algn="l"/>
            <a:r>
              <a:rPr b="1" sz="1575" i="0" u="none">
                <a:solidFill>
                  <a:srgbClr val="047857"/>
                </a:solidFill>
                <a:latin typeface="Be Vietnam Pro"/>
              </a:rPr>
              <a:t>Nhóm Dự đoán Đúng (Mẫu 1, 2, 3, 4, 5, 8)</a:t>
            </a:r>
          </a:p>
        </p:txBody>
      </p:sp>
      <p:sp>
        <p:nvSpPr>
          <p:cNvPr id="24" name="TextBox 23"/>
          <p:cNvSpPr txBox="1"/>
          <p:nvPr/>
        </p:nvSpPr>
        <p:spPr>
          <a:xfrm>
            <a:off x="10109299" y="4124325"/>
            <a:ext cx="1225450" cy="400050"/>
          </a:xfrm>
          <a:prstGeom prst="rect">
            <a:avLst/>
          </a:prstGeom>
          <a:noFill/>
        </p:spPr>
        <p:txBody>
          <a:bodyPr wrap="square" lIns="0" rIns="0" tIns="0" bIns="0" anchor="t">
            <a:spAutoFit/>
          </a:bodyPr>
          <a:lstStyle/>
          <a:p>
            <a:pPr algn="l"/>
            <a:r>
              <a:rPr b="1" sz="1200" i="0" u="none">
                <a:solidFill>
                  <a:srgbClr val="FFFFFF"/>
                </a:solidFill>
                <a:latin typeface="JetBrains Mono"/>
              </a:rPr>
              <a:t>GIẢM TRỌNG SỐ</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66928" y="1965960"/>
            <a:ext cx="5349240" cy="3886200"/>
          </a:xfrm>
          <a:prstGeom prst="roundRect">
            <a:avLst>
              <a:gd name="adj" fmla="val 393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263640" y="1965960"/>
            <a:ext cx="5349240" cy="3886200"/>
          </a:xfrm>
          <a:prstGeom prst="roundRect">
            <a:avLst>
              <a:gd name="adj" fmla="val 360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57250" y="3133725"/>
            <a:ext cx="4819650" cy="800100"/>
          </a:xfrm>
          <a:prstGeom prst="roundRect">
            <a:avLst>
              <a:gd name="adj" fmla="val 11904"/>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15100" y="3000375"/>
            <a:ext cx="2333625" cy="1066800"/>
          </a:xfrm>
          <a:prstGeom prst="roundRect">
            <a:avLst>
              <a:gd name="adj" fmla="val 8928"/>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001125" y="3000375"/>
            <a:ext cx="2333625" cy="1066800"/>
          </a:xfrm>
          <a:prstGeom prst="roundRect">
            <a:avLst>
              <a:gd name="adj" fmla="val 8928"/>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1500" y="419100"/>
            <a:ext cx="11620500" cy="171450"/>
          </a:xfrm>
          <a:prstGeom prst="rect">
            <a:avLst/>
          </a:prstGeom>
          <a:noFill/>
        </p:spPr>
        <p:txBody>
          <a:bodyPr wrap="none" lIns="0" rIns="0" tIns="0" bIns="0" anchor="t">
            <a:spAutoFit/>
          </a:bodyPr>
          <a:lstStyle/>
          <a:p>
            <a:pPr algn="l"/>
            <a:r>
              <a:rPr b="1" sz="1050" i="0" u="none">
                <a:solidFill>
                  <a:srgbClr val="0D9488"/>
                </a:solidFill>
                <a:latin typeface="Be Vietnam Pro"/>
              </a:rPr>
              <a:t>PHẦN 1 • TÍNH TOÁN VÒNG LẶP 2 (t = 2)</a:t>
            </a:r>
          </a:p>
        </p:txBody>
      </p:sp>
      <p:sp>
        <p:nvSpPr>
          <p:cNvPr id="8" name="TextBox 7"/>
          <p:cNvSpPr txBox="1"/>
          <p:nvPr/>
        </p:nvSpPr>
        <p:spPr>
          <a:xfrm>
            <a:off x="571500" y="647700"/>
            <a:ext cx="11620500" cy="409575"/>
          </a:xfrm>
          <a:prstGeom prst="rect">
            <a:avLst/>
          </a:prstGeom>
          <a:noFill/>
        </p:spPr>
        <p:txBody>
          <a:bodyPr wrap="none" lIns="0" rIns="0" tIns="0" bIns="0" anchor="t">
            <a:spAutoFit/>
          </a:bodyPr>
          <a:lstStyle/>
          <a:p>
            <a:pPr algn="l"/>
            <a:r>
              <a:rPr b="1" sz="2550" i="0" u="none">
                <a:solidFill>
                  <a:srgbClr val="0F2C59"/>
                </a:solidFill>
                <a:latin typeface="Be Vietnam Pro"/>
              </a:rPr>
              <a:t>Vòng lặp 2: Stump 2 Tập trung Sửa sai Mẫu Khó</a:t>
            </a:r>
          </a:p>
        </p:txBody>
      </p:sp>
      <p:sp>
        <p:nvSpPr>
          <p:cNvPr id="9" name="TextBox 8"/>
          <p:cNvSpPr txBox="1"/>
          <p:nvPr/>
        </p:nvSpPr>
        <p:spPr>
          <a:xfrm>
            <a:off x="857250" y="2695575"/>
            <a:ext cx="6325790" cy="266700"/>
          </a:xfrm>
          <a:prstGeom prst="rect">
            <a:avLst/>
          </a:prstGeom>
          <a:noFill/>
        </p:spPr>
        <p:txBody>
          <a:bodyPr wrap="none" lIns="0" rIns="0" tIns="0" bIns="0" anchor="t">
            <a:spAutoFit/>
          </a:bodyPr>
          <a:lstStyle/>
          <a:p>
            <a:pPr algn="l"/>
            <a:r>
              <a:rPr b="1" sz="1650" i="0" u="none">
                <a:solidFill>
                  <a:srgbClr val="0F2C59"/>
                </a:solidFill>
                <a:latin typeface="Be Vietnam Pro"/>
              </a:rPr>
              <a:t>1. Cơ chế Sửa sai của Stump 2</a:t>
            </a:r>
          </a:p>
        </p:txBody>
      </p:sp>
      <p:sp>
        <p:nvSpPr>
          <p:cNvPr id="10" name="TextBox 9"/>
          <p:cNvSpPr txBox="1"/>
          <p:nvPr/>
        </p:nvSpPr>
        <p:spPr>
          <a:xfrm>
            <a:off x="6515100" y="2562225"/>
            <a:ext cx="5676900" cy="266700"/>
          </a:xfrm>
          <a:prstGeom prst="rect">
            <a:avLst/>
          </a:prstGeom>
          <a:noFill/>
        </p:spPr>
        <p:txBody>
          <a:bodyPr wrap="none" lIns="0" rIns="0" tIns="0" bIns="0" anchor="t">
            <a:spAutoFit/>
          </a:bodyPr>
          <a:lstStyle/>
          <a:p>
            <a:pPr algn="l"/>
            <a:r>
              <a:rPr b="1" sz="1650" i="0" u="none">
                <a:solidFill>
                  <a:srgbClr val="0F2C59"/>
                </a:solidFill>
                <a:latin typeface="Be Vietnam Pro"/>
              </a:rPr>
              <a:t>2. Tính toán &amp; Trọng số Vòng 3</a:t>
            </a:r>
          </a:p>
        </p:txBody>
      </p:sp>
      <p:sp>
        <p:nvSpPr>
          <p:cNvPr id="11" name="TextBox 10"/>
          <p:cNvSpPr txBox="1"/>
          <p:nvPr/>
        </p:nvSpPr>
        <p:spPr>
          <a:xfrm>
            <a:off x="1066800" y="3305175"/>
            <a:ext cx="5500687" cy="171450"/>
          </a:xfrm>
          <a:prstGeom prst="rect">
            <a:avLst/>
          </a:prstGeom>
          <a:noFill/>
        </p:spPr>
        <p:txBody>
          <a:bodyPr wrap="none" lIns="0" rIns="0" tIns="0" bIns="0" anchor="t">
            <a:spAutoFit/>
          </a:bodyPr>
          <a:lstStyle/>
          <a:p>
            <a:pPr algn="l"/>
            <a:r>
              <a:rPr b="1" sz="1050" i="0" u="none">
                <a:solidFill>
                  <a:srgbClr val="CCFBF1"/>
                </a:solidFill>
                <a:latin typeface="Be Vietnam Pro"/>
              </a:rPr>
              <a:t>QUY TẮC DECISION STUMP 2</a:t>
            </a:r>
          </a:p>
        </p:txBody>
      </p:sp>
      <p:sp>
        <p:nvSpPr>
          <p:cNvPr id="12" name="TextBox 11"/>
          <p:cNvSpPr txBox="1"/>
          <p:nvPr/>
        </p:nvSpPr>
        <p:spPr>
          <a:xfrm>
            <a:off x="1066800" y="3514725"/>
            <a:ext cx="5500687" cy="247650"/>
          </a:xfrm>
          <a:prstGeom prst="rect">
            <a:avLst/>
          </a:prstGeom>
          <a:noFill/>
        </p:spPr>
        <p:txBody>
          <a:bodyPr wrap="none" lIns="0" rIns="0" tIns="0" bIns="0" anchor="t">
            <a:spAutoFit/>
          </a:bodyPr>
          <a:lstStyle/>
          <a:p>
            <a:pPr algn="l"/>
            <a:r>
              <a:rPr b="1" sz="1500" i="0" u="none">
                <a:solidFill>
                  <a:srgbClr val="FFFFFF"/>
                </a:solidFill>
                <a:latin typeface="JetBrains Mono"/>
              </a:rPr>
              <a:t>h2(x) = +1 nếu X ≤ 5.5, ngược lại -1</a:t>
            </a:r>
          </a:p>
        </p:txBody>
      </p:sp>
      <p:sp>
        <p:nvSpPr>
          <p:cNvPr id="13" name="TextBox 12"/>
          <p:cNvSpPr txBox="1"/>
          <p:nvPr/>
        </p:nvSpPr>
        <p:spPr>
          <a:xfrm>
            <a:off x="857250" y="4105275"/>
            <a:ext cx="6024562" cy="219075"/>
          </a:xfrm>
          <a:prstGeom prst="rect">
            <a:avLst/>
          </a:prstGeom>
          <a:noFill/>
        </p:spPr>
        <p:txBody>
          <a:bodyPr wrap="none" lIns="0" rIns="0" tIns="0" bIns="0" anchor="t">
            <a:spAutoFit/>
          </a:bodyPr>
          <a:lstStyle/>
          <a:p>
            <a:pPr algn="l">
              <a:defRPr sz="1150"/>
            </a:pPr>
            <a:r>
              <a:rPr b="1" sz="1350" i="0" u="none">
                <a:solidFill>
                  <a:srgbClr val="334155"/>
                </a:solidFill>
                <a:latin typeface="Be Vietnam Pro"/>
              </a:rPr>
              <a:t>Áp lực trọng số:</a:t>
            </a:r>
            <a:r>
              <a:rPr b="0" sz="1350" i="0" u="none">
                <a:solidFill>
                  <a:srgbClr val="334155"/>
                </a:solidFill>
                <a:latin typeface="Be Vietnam Pro"/>
              </a:rPr>
              <a:t> Mẫu 6 &amp; 7 chiếm tới 50% tổng trọng số.</a:t>
            </a:r>
          </a:p>
        </p:txBody>
      </p:sp>
      <p:sp>
        <p:nvSpPr>
          <p:cNvPr id="14" name="TextBox 13"/>
          <p:cNvSpPr txBox="1"/>
          <p:nvPr/>
        </p:nvSpPr>
        <p:spPr>
          <a:xfrm>
            <a:off x="857250" y="4457700"/>
            <a:ext cx="6024562" cy="219075"/>
          </a:xfrm>
          <a:prstGeom prst="rect">
            <a:avLst/>
          </a:prstGeom>
          <a:noFill/>
        </p:spPr>
        <p:txBody>
          <a:bodyPr wrap="none" lIns="0" rIns="0" tIns="0" bIns="0" anchor="t">
            <a:spAutoFit/>
          </a:bodyPr>
          <a:lstStyle/>
          <a:p>
            <a:pPr algn="l">
              <a:defRPr sz="1150"/>
            </a:pPr>
            <a:r>
              <a:rPr b="1" sz="1350" i="0" u="none">
                <a:solidFill>
                  <a:srgbClr val="059669"/>
                </a:solidFill>
                <a:latin typeface="Be Vietnam Pro"/>
              </a:rPr>
              <a:t>Kết quả mục tiêu:</a:t>
            </a:r>
            <a:r>
              <a:rPr b="0" sz="1350" i="0" u="none">
                <a:solidFill>
                  <a:srgbClr val="059669"/>
                </a:solidFill>
                <a:latin typeface="Be Vietnam Pro"/>
              </a:rPr>
              <a:t> Sửa đúng hoàn toàn Mẫu 6 và Mẫu 7!</a:t>
            </a:r>
          </a:p>
        </p:txBody>
      </p:sp>
      <p:sp>
        <p:nvSpPr>
          <p:cNvPr id="15" name="TextBox 14"/>
          <p:cNvSpPr txBox="1"/>
          <p:nvPr/>
        </p:nvSpPr>
        <p:spPr>
          <a:xfrm>
            <a:off x="857250" y="4810125"/>
            <a:ext cx="6024562" cy="219075"/>
          </a:xfrm>
          <a:prstGeom prst="rect">
            <a:avLst/>
          </a:prstGeom>
          <a:noFill/>
        </p:spPr>
        <p:txBody>
          <a:bodyPr wrap="none" lIns="0" rIns="0" tIns="0" bIns="0" anchor="t">
            <a:spAutoFit/>
          </a:bodyPr>
          <a:lstStyle/>
          <a:p>
            <a:pPr algn="l">
              <a:defRPr sz="1150"/>
            </a:pPr>
            <a:r>
              <a:rPr b="1" sz="1350" i="0" u="none">
                <a:solidFill>
                  <a:srgbClr val="D97706"/>
                </a:solidFill>
                <a:latin typeface="Be Vietnam Pro"/>
              </a:rPr>
              <a:t>Mẫu bị sai mới:</a:t>
            </a:r>
            <a:r>
              <a:rPr b="0" sz="1350" i="0" u="none">
                <a:solidFill>
                  <a:srgbClr val="D97706"/>
                </a:solidFill>
                <a:latin typeface="Be Vietnam Pro"/>
              </a:rPr>
              <a:t> Mẫu 1, Mẫu 2 và Mẫu 8.</a:t>
            </a:r>
          </a:p>
        </p:txBody>
      </p:sp>
      <p:sp>
        <p:nvSpPr>
          <p:cNvPr id="16" name="TextBox 15"/>
          <p:cNvSpPr txBox="1"/>
          <p:nvPr/>
        </p:nvSpPr>
        <p:spPr>
          <a:xfrm>
            <a:off x="6515100" y="4238625"/>
            <a:ext cx="5676900" cy="219075"/>
          </a:xfrm>
          <a:prstGeom prst="rect">
            <a:avLst/>
          </a:prstGeom>
          <a:noFill/>
        </p:spPr>
        <p:txBody>
          <a:bodyPr wrap="none" lIns="0" rIns="0" tIns="0" bIns="0" anchor="t">
            <a:spAutoFit/>
          </a:bodyPr>
          <a:lstStyle/>
          <a:p>
            <a:pPr algn="l">
              <a:defRPr sz="1150"/>
            </a:pPr>
            <a:r>
              <a:rPr b="1" sz="1350" i="0" u="none">
                <a:solidFill>
                  <a:srgbClr val="B45309"/>
                </a:solidFill>
                <a:latin typeface="JetBrains Mono"/>
              </a:rPr>
              <a:t>Mẫu 1, 2, 6, 7, 8:</a:t>
            </a:r>
            <a:r>
              <a:rPr b="0" sz="1350" i="0" u="none">
                <a:solidFill>
                  <a:srgbClr val="B45309"/>
                </a:solidFill>
                <a:latin typeface="JetBrains Mono"/>
              </a:rPr>
              <a:t> w_i^(3) = 0.1667 (1/6)</a:t>
            </a:r>
          </a:p>
        </p:txBody>
      </p:sp>
      <p:sp>
        <p:nvSpPr>
          <p:cNvPr id="17" name="TextBox 16"/>
          <p:cNvSpPr txBox="1"/>
          <p:nvPr/>
        </p:nvSpPr>
        <p:spPr>
          <a:xfrm>
            <a:off x="6515100" y="4591050"/>
            <a:ext cx="5676900" cy="219075"/>
          </a:xfrm>
          <a:prstGeom prst="rect">
            <a:avLst/>
          </a:prstGeom>
          <a:noFill/>
        </p:spPr>
        <p:txBody>
          <a:bodyPr wrap="none" lIns="0" rIns="0" tIns="0" bIns="0" anchor="t">
            <a:spAutoFit/>
          </a:bodyPr>
          <a:lstStyle/>
          <a:p>
            <a:pPr algn="l">
              <a:defRPr sz="1150"/>
            </a:pPr>
            <a:r>
              <a:rPr b="1" sz="1350" i="0" u="none">
                <a:solidFill>
                  <a:srgbClr val="047857"/>
                </a:solidFill>
                <a:latin typeface="JetBrains Mono"/>
              </a:rPr>
              <a:t>Mẫu 3, 4, 5:</a:t>
            </a:r>
            <a:r>
              <a:rPr b="0" sz="1350" i="0" u="none">
                <a:solidFill>
                  <a:srgbClr val="047857"/>
                </a:solidFill>
                <a:latin typeface="JetBrains Mono"/>
              </a:rPr>
              <a:t> w_i^(3) = 0.0556 (1/18)</a:t>
            </a:r>
          </a:p>
        </p:txBody>
      </p:sp>
      <p:sp>
        <p:nvSpPr>
          <p:cNvPr id="18" name="TextBox 17"/>
          <p:cNvSpPr txBox="1"/>
          <p:nvPr/>
        </p:nvSpPr>
        <p:spPr>
          <a:xfrm>
            <a:off x="6515100" y="4943475"/>
            <a:ext cx="5676900" cy="219075"/>
          </a:xfrm>
          <a:prstGeom prst="rect">
            <a:avLst/>
          </a:prstGeom>
          <a:noFill/>
        </p:spPr>
        <p:txBody>
          <a:bodyPr wrap="none" lIns="0" rIns="0" tIns="0" bIns="0" anchor="t">
            <a:spAutoFit/>
          </a:bodyPr>
          <a:lstStyle/>
          <a:p>
            <a:pPr algn="l">
              <a:defRPr sz="1150"/>
            </a:pPr>
            <a:r>
              <a:rPr b="1" sz="1350" i="0" u="none">
                <a:solidFill>
                  <a:srgbClr val="334155"/>
                </a:solidFill>
                <a:latin typeface="Be Vietnam Pro"/>
              </a:rPr>
              <a:t>Trọng tâm kế tiếp:</a:t>
            </a:r>
            <a:r>
              <a:rPr b="0" sz="1350" i="0" u="none">
                <a:solidFill>
                  <a:srgbClr val="334155"/>
                </a:solidFill>
                <a:latin typeface="Be Vietnam Pro"/>
              </a:rPr>
              <a:t> Sửa tiếp Mẫu 8 ở biên phải dữ liệu.</a:t>
            </a:r>
          </a:p>
        </p:txBody>
      </p:sp>
      <p:sp>
        <p:nvSpPr>
          <p:cNvPr id="19" name="TextBox 18"/>
          <p:cNvSpPr txBox="1"/>
          <p:nvPr/>
        </p:nvSpPr>
        <p:spPr>
          <a:xfrm>
            <a:off x="6705600" y="3152775"/>
            <a:ext cx="2440781" cy="171450"/>
          </a:xfrm>
          <a:prstGeom prst="rect">
            <a:avLst/>
          </a:prstGeom>
          <a:noFill/>
        </p:spPr>
        <p:txBody>
          <a:bodyPr wrap="none" lIns="0" rIns="0" tIns="0" bIns="0" anchor="t">
            <a:spAutoFit/>
          </a:bodyPr>
          <a:lstStyle/>
          <a:p>
            <a:pPr algn="l"/>
            <a:r>
              <a:rPr b="1" sz="1050" i="0" u="none">
                <a:solidFill>
                  <a:srgbClr val="64748B"/>
                </a:solidFill>
                <a:latin typeface="Be Vietnam Pro"/>
              </a:rPr>
              <a:t>SAI SỐ ε_2</a:t>
            </a:r>
          </a:p>
        </p:txBody>
      </p:sp>
      <p:sp>
        <p:nvSpPr>
          <p:cNvPr id="20" name="TextBox 19"/>
          <p:cNvSpPr txBox="1"/>
          <p:nvPr/>
        </p:nvSpPr>
        <p:spPr>
          <a:xfrm>
            <a:off x="6705600" y="3362325"/>
            <a:ext cx="2047875" cy="552450"/>
          </a:xfrm>
          <a:prstGeom prst="rect">
            <a:avLst/>
          </a:prstGeom>
          <a:noFill/>
        </p:spPr>
        <p:txBody>
          <a:bodyPr wrap="square" lIns="0" rIns="0" tIns="0" bIns="0" anchor="t">
            <a:spAutoFit/>
          </a:bodyPr>
          <a:lstStyle/>
          <a:p>
            <a:pPr algn="l"/>
            <a:r>
              <a:rPr b="1" sz="1650" i="0" u="none">
                <a:solidFill>
                  <a:srgbClr val="0F2C59"/>
                </a:solidFill>
                <a:latin typeface="JetBrains Mono"/>
              </a:rPr>
              <a:t>3*(1/12) = 0.2500</a:t>
            </a:r>
          </a:p>
        </p:txBody>
      </p:sp>
      <p:sp>
        <p:nvSpPr>
          <p:cNvPr id="21" name="TextBox 20"/>
          <p:cNvSpPr txBox="1"/>
          <p:nvPr/>
        </p:nvSpPr>
        <p:spPr>
          <a:xfrm>
            <a:off x="9191625" y="3152775"/>
            <a:ext cx="2440781" cy="171450"/>
          </a:xfrm>
          <a:prstGeom prst="rect">
            <a:avLst/>
          </a:prstGeom>
          <a:noFill/>
        </p:spPr>
        <p:txBody>
          <a:bodyPr wrap="none" lIns="0" rIns="0" tIns="0" bIns="0" anchor="t">
            <a:spAutoFit/>
          </a:bodyPr>
          <a:lstStyle/>
          <a:p>
            <a:pPr algn="l"/>
            <a:r>
              <a:rPr b="1" sz="1050" i="0" u="none">
                <a:solidFill>
                  <a:srgbClr val="64748B"/>
                </a:solidFill>
                <a:latin typeface="Be Vietnam Pro"/>
              </a:rPr>
              <a:t>TRỌNG SỐ α_2</a:t>
            </a:r>
          </a:p>
        </p:txBody>
      </p:sp>
      <p:sp>
        <p:nvSpPr>
          <p:cNvPr id="22" name="TextBox 21"/>
          <p:cNvSpPr txBox="1"/>
          <p:nvPr/>
        </p:nvSpPr>
        <p:spPr>
          <a:xfrm>
            <a:off x="9191625" y="3362325"/>
            <a:ext cx="2047875" cy="552450"/>
          </a:xfrm>
          <a:prstGeom prst="rect">
            <a:avLst/>
          </a:prstGeom>
          <a:noFill/>
        </p:spPr>
        <p:txBody>
          <a:bodyPr wrap="square" lIns="0" rIns="0" tIns="0" bIns="0" anchor="t">
            <a:spAutoFit/>
          </a:bodyPr>
          <a:lstStyle/>
          <a:p>
            <a:pPr algn="l"/>
            <a:r>
              <a:rPr b="1" sz="1650" i="0" u="none">
                <a:solidFill>
                  <a:srgbClr val="0D9488"/>
                </a:solidFill>
                <a:latin typeface="JetBrains Mono"/>
              </a:rPr>
              <a:t>0.5*ln(3) = 0.5493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71500" y="1123950"/>
            <a:ext cx="4876800" cy="914400"/>
          </a:xfrm>
          <a:prstGeom prst="roundRect">
            <a:avLst>
              <a:gd name="adj" fmla="val 1041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619750" y="1123950"/>
            <a:ext cx="6000750" cy="914400"/>
          </a:xfrm>
          <a:prstGeom prst="roundRect">
            <a:avLst>
              <a:gd name="adj" fmla="val 10416"/>
            </a:avLst>
          </a:prstGeom>
          <a:solidFill>
            <a:srgbClr val="0F2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71500" y="2667000"/>
            <a:ext cx="11049000" cy="3352800"/>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71500" y="2667000"/>
          <a:ext cx="11048992" cy="3352800"/>
        </p:xfrm>
        <a:graphic>
          <a:graphicData uri="http://schemas.openxmlformats.org/drawingml/2006/table">
            <a:tbl>
              <a:tblPr firstRow="0" bandRow="0">
                <a:lnL>
                  <a:noFill/>
                </a:lnL>
                <a:lnR>
                  <a:noFill/>
                </a:lnR>
                <a:lnT>
                  <a:noFill/>
                </a:lnT>
                <a:lnB>
                  <a:noFill/>
                </a:lnB>
                <a:lnV>
                  <a:noFill/>
                </a:lnV>
                <a:lnH>
                  <a:noFill/>
                </a:lnH>
              </a:tblPr>
              <a:tblGrid>
                <a:gridCol w="1398835"/>
                <a:gridCol w="1206251"/>
                <a:gridCol w="1206251"/>
                <a:gridCol w="1206251"/>
                <a:gridCol w="1206251"/>
                <a:gridCol w="1206251"/>
                <a:gridCol w="1206251"/>
                <a:gridCol w="1206251"/>
                <a:gridCol w="1206400"/>
              </a:tblGrid>
              <a:tr h="478971">
                <a:tc>
                  <a:txBody>
                    <a:bodyPr/>
                    <a:lstStyle/>
                    <a:p>
                      <a:pPr algn="l"/>
                      <a:r>
                        <a:rPr b="1" sz="1350" i="0" u="none">
                          <a:solidFill>
                            <a:srgbClr val="FFFFFF"/>
                          </a:solidFill>
                          <a:latin typeface="Be Vietnam Pro"/>
                        </a:rPr>
                        <a:t>Đại lượng</a:t>
                      </a:r>
                    </a:p>
                  </a:txBody>
                  <a:tcPr anchor="ctr" marL="63500" marR="63500" marT="25400" marB="25400">
                    <a:lnL>
                      <a:noFill/>
                    </a:lnL>
                    <a:lnR>
                      <a:noFill/>
                    </a:lnR>
                    <a:lnT>
                      <a:noFill/>
                    </a:lnT>
                    <a:lnB>
                      <a:noFill/>
                    </a:lnB>
                    <a:solidFill>
                      <a:srgbClr val="0F2C59"/>
                    </a:solidFill>
                  </a:tcPr>
                </a:tc>
                <a:tc>
                  <a:txBody>
                    <a:bodyPr/>
                    <a:lstStyle/>
                    <a:p>
                      <a:pPr algn="ctr"/>
                      <a:r>
                        <a:rPr b="1" sz="1350" i="0" u="none">
                          <a:solidFill>
                            <a:srgbClr val="FFFFFF"/>
                          </a:solidFill>
                          <a:latin typeface="Be Vietnam Pro"/>
                        </a:rPr>
                        <a:t>M1 (X=1)</a:t>
                      </a:r>
                    </a:p>
                  </a:txBody>
                  <a:tcPr anchor="ctr" marL="63500" marR="63500" marT="25400" marB="25400">
                    <a:lnL>
                      <a:noFill/>
                    </a:lnL>
                    <a:lnR>
                      <a:noFill/>
                    </a:lnR>
                    <a:lnT>
                      <a:noFill/>
                    </a:lnT>
                    <a:lnB>
                      <a:noFill/>
                    </a:lnB>
                    <a:solidFill>
                      <a:srgbClr val="0F2C59"/>
                    </a:solidFill>
                  </a:tcPr>
                </a:tc>
                <a:tc>
                  <a:txBody>
                    <a:bodyPr/>
                    <a:lstStyle/>
                    <a:p>
                      <a:pPr algn="ctr"/>
                      <a:r>
                        <a:rPr b="1" sz="1350" i="0" u="none">
                          <a:solidFill>
                            <a:srgbClr val="FFFFFF"/>
                          </a:solidFill>
                          <a:latin typeface="Be Vietnam Pro"/>
                        </a:rPr>
                        <a:t>M2 (X=2)</a:t>
                      </a:r>
                    </a:p>
                  </a:txBody>
                  <a:tcPr anchor="ctr" marL="63500" marR="63500" marT="25400" marB="25400">
                    <a:lnL>
                      <a:noFill/>
                    </a:lnL>
                    <a:lnR>
                      <a:noFill/>
                    </a:lnR>
                    <a:lnT>
                      <a:noFill/>
                    </a:lnT>
                    <a:lnB>
                      <a:noFill/>
                    </a:lnB>
                    <a:solidFill>
                      <a:srgbClr val="0F2C59"/>
                    </a:solidFill>
                  </a:tcPr>
                </a:tc>
                <a:tc>
                  <a:txBody>
                    <a:bodyPr/>
                    <a:lstStyle/>
                    <a:p>
                      <a:pPr algn="ctr"/>
                      <a:r>
                        <a:rPr b="1" sz="1350" i="0" u="none">
                          <a:solidFill>
                            <a:srgbClr val="FFFFFF"/>
                          </a:solidFill>
                          <a:latin typeface="Be Vietnam Pro"/>
                        </a:rPr>
                        <a:t>M3 (X=3)</a:t>
                      </a:r>
                    </a:p>
                  </a:txBody>
                  <a:tcPr anchor="ctr" marL="63500" marR="63500" marT="25400" marB="25400">
                    <a:lnL>
                      <a:noFill/>
                    </a:lnL>
                    <a:lnR>
                      <a:noFill/>
                    </a:lnR>
                    <a:lnT>
                      <a:noFill/>
                    </a:lnT>
                    <a:lnB>
                      <a:noFill/>
                    </a:lnB>
                    <a:solidFill>
                      <a:srgbClr val="0F2C59"/>
                    </a:solidFill>
                  </a:tcPr>
                </a:tc>
                <a:tc>
                  <a:txBody>
                    <a:bodyPr/>
                    <a:lstStyle/>
                    <a:p>
                      <a:pPr algn="ctr"/>
                      <a:r>
                        <a:rPr b="1" sz="1350" i="0" u="none">
                          <a:solidFill>
                            <a:srgbClr val="FFFFFF"/>
                          </a:solidFill>
                          <a:latin typeface="Be Vietnam Pro"/>
                        </a:rPr>
                        <a:t>M4 (X=4)</a:t>
                      </a:r>
                    </a:p>
                  </a:txBody>
                  <a:tcPr anchor="ctr" marL="63500" marR="63500" marT="25400" marB="25400">
                    <a:lnL>
                      <a:noFill/>
                    </a:lnL>
                    <a:lnR>
                      <a:noFill/>
                    </a:lnR>
                    <a:lnT>
                      <a:noFill/>
                    </a:lnT>
                    <a:lnB>
                      <a:noFill/>
                    </a:lnB>
                    <a:solidFill>
                      <a:srgbClr val="0F2C59"/>
                    </a:solidFill>
                  </a:tcPr>
                </a:tc>
                <a:tc>
                  <a:txBody>
                    <a:bodyPr/>
                    <a:lstStyle/>
                    <a:p>
                      <a:pPr algn="ctr"/>
                      <a:r>
                        <a:rPr b="1" sz="1350" i="0" u="none">
                          <a:solidFill>
                            <a:srgbClr val="FFFFFF"/>
                          </a:solidFill>
                          <a:latin typeface="Be Vietnam Pro"/>
                        </a:rPr>
                        <a:t>M5 (X=5)</a:t>
                      </a:r>
                    </a:p>
                  </a:txBody>
                  <a:tcPr anchor="ctr" marL="63500" marR="63500" marT="25400" marB="25400">
                    <a:lnL>
                      <a:noFill/>
                    </a:lnL>
                    <a:lnR>
                      <a:noFill/>
                    </a:lnR>
                    <a:lnT>
                      <a:noFill/>
                    </a:lnT>
                    <a:lnB>
                      <a:noFill/>
                    </a:lnB>
                    <a:solidFill>
                      <a:srgbClr val="0F2C59"/>
                    </a:solidFill>
                  </a:tcPr>
                </a:tc>
                <a:tc>
                  <a:txBody>
                    <a:bodyPr/>
                    <a:lstStyle/>
                    <a:p>
                      <a:pPr algn="ctr"/>
                      <a:r>
                        <a:rPr b="1" sz="1350" i="0" u="none">
                          <a:solidFill>
                            <a:srgbClr val="FFFFFF"/>
                          </a:solidFill>
                          <a:latin typeface="Be Vietnam Pro"/>
                        </a:rPr>
                        <a:t>M6 (X=6)</a:t>
                      </a:r>
                    </a:p>
                  </a:txBody>
                  <a:tcPr anchor="ctr" marL="63500" marR="63500" marT="25400" marB="25400">
                    <a:lnL>
                      <a:noFill/>
                    </a:lnL>
                    <a:lnR>
                      <a:noFill/>
                    </a:lnR>
                    <a:lnT>
                      <a:noFill/>
                    </a:lnT>
                    <a:lnB>
                      <a:noFill/>
                    </a:lnB>
                    <a:solidFill>
                      <a:srgbClr val="0F2C59"/>
                    </a:solidFill>
                  </a:tcPr>
                </a:tc>
                <a:tc>
                  <a:txBody>
                    <a:bodyPr/>
                    <a:lstStyle/>
                    <a:p>
                      <a:pPr algn="ctr"/>
                      <a:r>
                        <a:rPr b="1" sz="1350" i="0" u="none">
                          <a:solidFill>
                            <a:srgbClr val="FFFFFF"/>
                          </a:solidFill>
                          <a:latin typeface="Be Vietnam Pro"/>
                        </a:rPr>
                        <a:t>M7 (X=7)</a:t>
                      </a:r>
                    </a:p>
                  </a:txBody>
                  <a:tcPr anchor="ctr" marL="63500" marR="63500" marT="25400" marB="25400">
                    <a:lnL>
                      <a:noFill/>
                    </a:lnL>
                    <a:lnR>
                      <a:noFill/>
                    </a:lnR>
                    <a:lnT>
                      <a:noFill/>
                    </a:lnT>
                    <a:lnB>
                      <a:noFill/>
                    </a:lnB>
                    <a:solidFill>
                      <a:srgbClr val="0F2C59"/>
                    </a:solidFill>
                  </a:tcPr>
                </a:tc>
                <a:tc>
                  <a:txBody>
                    <a:bodyPr/>
                    <a:lstStyle/>
                    <a:p>
                      <a:pPr algn="ctr"/>
                      <a:r>
                        <a:rPr b="1" sz="1350" i="0" u="none">
                          <a:solidFill>
                            <a:srgbClr val="FFFFFF"/>
                          </a:solidFill>
                          <a:latin typeface="Be Vietnam Pro"/>
                        </a:rPr>
                        <a:t>M8 (X=8)</a:t>
                      </a:r>
                    </a:p>
                  </a:txBody>
                  <a:tcPr anchor="ctr" marL="63500" marR="63500" marT="25400" marB="25400">
                    <a:lnL>
                      <a:noFill/>
                    </a:lnL>
                    <a:lnR>
                      <a:noFill/>
                    </a:lnR>
                    <a:lnT>
                      <a:noFill/>
                    </a:lnT>
                    <a:lnB>
                      <a:noFill/>
                    </a:lnB>
                    <a:solidFill>
                      <a:srgbClr val="0F2C59"/>
                    </a:solidFill>
                  </a:tcPr>
                </a:tc>
              </a:tr>
              <a:tr h="478971">
                <a:tc>
                  <a:txBody>
                    <a:bodyPr/>
                    <a:lstStyle/>
                    <a:p>
                      <a:pPr algn="l"/>
                      <a:r>
                        <a:rPr b="1" sz="1350" i="0" u="none">
                          <a:solidFill>
                            <a:srgbClr val="0F2C59"/>
                          </a:solidFill>
                          <a:latin typeface="Be Vietnam Pro"/>
                        </a:rPr>
                        <a:t>Nhãn thực y</a:t>
                      </a:r>
                    </a:p>
                  </a:txBody>
                  <a:tcPr anchor="ctr" marL="63500" marR="63500" marT="25400" marB="25400">
                    <a:lnL>
                      <a:noFill/>
                    </a:lnL>
                    <a:lnR>
                      <a:noFill/>
                    </a:lnR>
                    <a:lnT>
                      <a:noFill/>
                    </a:lnT>
                    <a:lnB>
                      <a:noFill/>
                    </a:lnB>
                    <a:solidFill>
                      <a:srgbClr val="FFFFFF"/>
                    </a:solidFill>
                  </a:tcPr>
                </a:tc>
                <a:tc>
                  <a:txBody>
                    <a:bodyPr/>
                    <a:lstStyle/>
                    <a:p>
                      <a:pPr algn="ctr"/>
                      <a:r>
                        <a:rPr b="1" sz="1350" i="0" u="none">
                          <a:solidFill>
                            <a:srgbClr val="0F172A"/>
                          </a:solidFill>
                          <a:latin typeface="JetBrains Mono"/>
                        </a:rPr>
                        <a:t>-1</a:t>
                      </a:r>
                    </a:p>
                  </a:txBody>
                  <a:tcPr anchor="ctr" marL="63500" marR="63500" marT="25400" marB="25400">
                    <a:lnL>
                      <a:noFill/>
                    </a:lnL>
                    <a:lnR>
                      <a:noFill/>
                    </a:lnR>
                    <a:lnT>
                      <a:noFill/>
                    </a:lnT>
                    <a:lnB>
                      <a:noFill/>
                    </a:lnB>
                    <a:solidFill>
                      <a:srgbClr val="FFFFFF"/>
                    </a:solidFill>
                  </a:tcPr>
                </a:tc>
                <a:tc>
                  <a:txBody>
                    <a:bodyPr/>
                    <a:lstStyle/>
                    <a:p>
                      <a:pPr algn="ctr"/>
                      <a:r>
                        <a:rPr b="1" sz="1350" i="0" u="none">
                          <a:solidFill>
                            <a:srgbClr val="0F172A"/>
                          </a:solidFill>
                          <a:latin typeface="JetBrains Mono"/>
                        </a:rPr>
                        <a:t>-1</a:t>
                      </a:r>
                    </a:p>
                  </a:txBody>
                  <a:tcPr anchor="ctr" marL="63500" marR="63500" marT="25400" marB="25400">
                    <a:lnL>
                      <a:noFill/>
                    </a:lnL>
                    <a:lnR>
                      <a:noFill/>
                    </a:lnR>
                    <a:lnT>
                      <a:noFill/>
                    </a:lnT>
                    <a:lnB>
                      <a:noFill/>
                    </a:lnB>
                    <a:solidFill>
                      <a:srgbClr val="FFFFFF"/>
                    </a:solidFill>
                  </a:tcPr>
                </a:tc>
                <a:tc>
                  <a:txBody>
                    <a:bodyPr/>
                    <a:lstStyle/>
                    <a:p>
                      <a:pPr algn="ctr"/>
                      <a:r>
                        <a:rPr b="1" sz="1350" i="0" u="none">
                          <a:solidFill>
                            <a:srgbClr val="0D9488"/>
                          </a:solidFill>
                          <a:latin typeface="JetBrains Mono"/>
                        </a:rPr>
                        <a:t>+1</a:t>
                      </a:r>
                    </a:p>
                  </a:txBody>
                  <a:tcPr anchor="ctr" marL="63500" marR="63500" marT="25400" marB="25400">
                    <a:lnL>
                      <a:noFill/>
                    </a:lnL>
                    <a:lnR>
                      <a:noFill/>
                    </a:lnR>
                    <a:lnT>
                      <a:noFill/>
                    </a:lnT>
                    <a:lnB>
                      <a:noFill/>
                    </a:lnB>
                    <a:solidFill>
                      <a:srgbClr val="FFFFFF"/>
                    </a:solidFill>
                  </a:tcPr>
                </a:tc>
                <a:tc>
                  <a:txBody>
                    <a:bodyPr/>
                    <a:lstStyle/>
                    <a:p>
                      <a:pPr algn="ctr"/>
                      <a:r>
                        <a:rPr b="1" sz="1350" i="0" u="none">
                          <a:solidFill>
                            <a:srgbClr val="0D9488"/>
                          </a:solidFill>
                          <a:latin typeface="JetBrains Mono"/>
                        </a:rPr>
                        <a:t>+1</a:t>
                      </a:r>
                    </a:p>
                  </a:txBody>
                  <a:tcPr anchor="ctr" marL="63500" marR="63500" marT="25400" marB="25400">
                    <a:lnL>
                      <a:noFill/>
                    </a:lnL>
                    <a:lnR>
                      <a:noFill/>
                    </a:lnR>
                    <a:lnT>
                      <a:noFill/>
                    </a:lnT>
                    <a:lnB>
                      <a:noFill/>
                    </a:lnB>
                    <a:solidFill>
                      <a:srgbClr val="FFFFFF"/>
                    </a:solidFill>
                  </a:tcPr>
                </a:tc>
                <a:tc>
                  <a:txBody>
                    <a:bodyPr/>
                    <a:lstStyle/>
                    <a:p>
                      <a:pPr algn="ctr"/>
                      <a:r>
                        <a:rPr b="1" sz="1350" i="0" u="none">
                          <a:solidFill>
                            <a:srgbClr val="0D9488"/>
                          </a:solidFill>
                          <a:latin typeface="JetBrains Mono"/>
                        </a:rPr>
                        <a:t>+1</a:t>
                      </a:r>
                    </a:p>
                  </a:txBody>
                  <a:tcPr anchor="ctr" marL="63500" marR="63500" marT="25400" marB="25400">
                    <a:lnL>
                      <a:noFill/>
                    </a:lnL>
                    <a:lnR>
                      <a:noFill/>
                    </a:lnR>
                    <a:lnT>
                      <a:noFill/>
                    </a:lnT>
                    <a:lnB>
                      <a:noFill/>
                    </a:lnB>
                    <a:solidFill>
                      <a:srgbClr val="FFFFFF"/>
                    </a:solidFill>
                  </a:tcPr>
                </a:tc>
                <a:tc>
                  <a:txBody>
                    <a:bodyPr/>
                    <a:lstStyle/>
                    <a:p>
                      <a:pPr algn="ctr"/>
                      <a:r>
                        <a:rPr b="1" sz="1350" i="0" u="none">
                          <a:solidFill>
                            <a:srgbClr val="0F172A"/>
                          </a:solidFill>
                          <a:latin typeface="JetBrains Mono"/>
                        </a:rPr>
                        <a:t>-1</a:t>
                      </a:r>
                    </a:p>
                  </a:txBody>
                  <a:tcPr anchor="ctr" marL="63500" marR="63500" marT="25400" marB="25400">
                    <a:lnL>
                      <a:noFill/>
                    </a:lnL>
                    <a:lnR>
                      <a:noFill/>
                    </a:lnR>
                    <a:lnT>
                      <a:noFill/>
                    </a:lnT>
                    <a:lnB>
                      <a:noFill/>
                    </a:lnB>
                    <a:solidFill>
                      <a:srgbClr val="FFFFFF"/>
                    </a:solidFill>
                  </a:tcPr>
                </a:tc>
                <a:tc>
                  <a:txBody>
                    <a:bodyPr/>
                    <a:lstStyle/>
                    <a:p>
                      <a:pPr algn="ctr"/>
                      <a:r>
                        <a:rPr b="1" sz="1350" i="0" u="none">
                          <a:solidFill>
                            <a:srgbClr val="0F172A"/>
                          </a:solidFill>
                          <a:latin typeface="JetBrains Mono"/>
                        </a:rPr>
                        <a:t>-1</a:t>
                      </a:r>
                    </a:p>
                  </a:txBody>
                  <a:tcPr anchor="ctr" marL="63500" marR="63500" marT="25400" marB="25400">
                    <a:lnL>
                      <a:noFill/>
                    </a:lnL>
                    <a:lnR>
                      <a:noFill/>
                    </a:lnR>
                    <a:lnT>
                      <a:noFill/>
                    </a:lnT>
                    <a:lnB>
                      <a:noFill/>
                    </a:lnB>
                    <a:solidFill>
                      <a:srgbClr val="FFFFFF"/>
                    </a:solidFill>
                  </a:tcPr>
                </a:tc>
                <a:tc>
                  <a:txBody>
                    <a:bodyPr/>
                    <a:lstStyle/>
                    <a:p>
                      <a:pPr algn="ctr"/>
                      <a:r>
                        <a:rPr b="1" sz="1350" i="0" u="none">
                          <a:solidFill>
                            <a:srgbClr val="0D9488"/>
                          </a:solidFill>
                          <a:latin typeface="JetBrains Mono"/>
                        </a:rPr>
                        <a:t>+1</a:t>
                      </a:r>
                    </a:p>
                  </a:txBody>
                  <a:tcPr anchor="ctr" marL="63500" marR="63500" marT="25400" marB="25400">
                    <a:lnL>
                      <a:noFill/>
                    </a:lnL>
                    <a:lnR>
                      <a:noFill/>
                    </a:lnR>
                    <a:lnT>
                      <a:noFill/>
                    </a:lnT>
                    <a:lnB>
                      <a:noFill/>
                    </a:lnB>
                    <a:solidFill>
                      <a:srgbClr val="FFFFFF"/>
                    </a:solidFill>
                  </a:tcPr>
                </a:tc>
              </a:tr>
              <a:tr h="478971">
                <a:tc>
                  <a:txBody>
                    <a:bodyPr/>
                    <a:lstStyle/>
                    <a:p>
                      <a:pPr algn="l"/>
                      <a:r>
                        <a:rPr b="1" sz="1350" i="0" u="none">
                          <a:solidFill>
                            <a:srgbClr val="334155"/>
                          </a:solidFill>
                          <a:latin typeface="JetBrains Mono"/>
                        </a:rPr>
                        <a:t>0.5493*h1</a:t>
                      </a:r>
                    </a:p>
                  </a:txBody>
                  <a:tcPr anchor="ctr" marL="63500" marR="63500" marT="25400" marB="25400">
                    <a:lnL>
                      <a:noFill/>
                    </a:lnL>
                    <a:lnR>
                      <a:noFill/>
                    </a:lnR>
                    <a:lnT>
                      <a:noFill/>
                    </a:lnT>
                    <a:lnB>
                      <a:noFill/>
                    </a:lnB>
                    <a:solidFill>
                      <a:srgbClr val="F8FAFC"/>
                    </a:solidFill>
                  </a:tcPr>
                </a:tc>
                <a:tc>
                  <a:txBody>
                    <a:bodyPr/>
                    <a:lstStyle/>
                    <a:p>
                      <a:pPr algn="ctr"/>
                      <a:r>
                        <a:rPr b="0" sz="1350" i="0" u="none">
                          <a:solidFill>
                            <a:srgbClr val="0F172A"/>
                          </a:solidFill>
                          <a:latin typeface="JetBrains Mono"/>
                        </a:rPr>
                        <a:t>-0.55</a:t>
                      </a:r>
                    </a:p>
                  </a:txBody>
                  <a:tcPr anchor="ctr" marL="63500" marR="63500" marT="25400" marB="25400">
                    <a:lnL>
                      <a:noFill/>
                    </a:lnL>
                    <a:lnR>
                      <a:noFill/>
                    </a:lnR>
                    <a:lnT>
                      <a:noFill/>
                    </a:lnT>
                    <a:lnB>
                      <a:noFill/>
                    </a:lnB>
                    <a:solidFill>
                      <a:srgbClr val="F8FAFC"/>
                    </a:solidFill>
                  </a:tcPr>
                </a:tc>
                <a:tc>
                  <a:txBody>
                    <a:bodyPr/>
                    <a:lstStyle/>
                    <a:p>
                      <a:pPr algn="ctr"/>
                      <a:r>
                        <a:rPr b="0" sz="1350" i="0" u="none">
                          <a:solidFill>
                            <a:srgbClr val="0F172A"/>
                          </a:solidFill>
                          <a:latin typeface="JetBrains Mono"/>
                        </a:rPr>
                        <a:t>-0.55</a:t>
                      </a:r>
                    </a:p>
                  </a:txBody>
                  <a:tcPr anchor="ctr" marL="63500" marR="63500" marT="25400" marB="25400">
                    <a:lnL>
                      <a:noFill/>
                    </a:lnL>
                    <a:lnR>
                      <a:noFill/>
                    </a:lnR>
                    <a:lnT>
                      <a:noFill/>
                    </a:lnT>
                    <a:lnB>
                      <a:noFill/>
                    </a:lnB>
                    <a:solidFill>
                      <a:srgbClr val="F8FAFC"/>
                    </a:solidFill>
                  </a:tcPr>
                </a:tc>
                <a:tc>
                  <a:txBody>
                    <a:bodyPr/>
                    <a:lstStyle/>
                    <a:p>
                      <a:pPr algn="ctr"/>
                      <a:r>
                        <a:rPr b="0" sz="1350" i="0" u="none">
                          <a:solidFill>
                            <a:srgbClr val="0F172A"/>
                          </a:solidFill>
                          <a:latin typeface="JetBrains Mono"/>
                        </a:rPr>
                        <a:t>+0.55</a:t>
                      </a:r>
                    </a:p>
                  </a:txBody>
                  <a:tcPr anchor="ctr" marL="63500" marR="63500" marT="25400" marB="25400">
                    <a:lnL>
                      <a:noFill/>
                    </a:lnL>
                    <a:lnR>
                      <a:noFill/>
                    </a:lnR>
                    <a:lnT>
                      <a:noFill/>
                    </a:lnT>
                    <a:lnB>
                      <a:noFill/>
                    </a:lnB>
                    <a:solidFill>
                      <a:srgbClr val="F8FAFC"/>
                    </a:solidFill>
                  </a:tcPr>
                </a:tc>
                <a:tc>
                  <a:txBody>
                    <a:bodyPr/>
                    <a:lstStyle/>
                    <a:p>
                      <a:pPr algn="ctr"/>
                      <a:r>
                        <a:rPr b="0" sz="1350" i="0" u="none">
                          <a:solidFill>
                            <a:srgbClr val="0F172A"/>
                          </a:solidFill>
                          <a:latin typeface="JetBrains Mono"/>
                        </a:rPr>
                        <a:t>+0.55</a:t>
                      </a:r>
                    </a:p>
                  </a:txBody>
                  <a:tcPr anchor="ctr" marL="63500" marR="63500" marT="25400" marB="25400">
                    <a:lnL>
                      <a:noFill/>
                    </a:lnL>
                    <a:lnR>
                      <a:noFill/>
                    </a:lnR>
                    <a:lnT>
                      <a:noFill/>
                    </a:lnT>
                    <a:lnB>
                      <a:noFill/>
                    </a:lnB>
                    <a:solidFill>
                      <a:srgbClr val="F8FAFC"/>
                    </a:solidFill>
                  </a:tcPr>
                </a:tc>
                <a:tc>
                  <a:txBody>
                    <a:bodyPr/>
                    <a:lstStyle/>
                    <a:p>
                      <a:pPr algn="ctr"/>
                      <a:r>
                        <a:rPr b="0" sz="1350" i="0" u="none">
                          <a:solidFill>
                            <a:srgbClr val="0F172A"/>
                          </a:solidFill>
                          <a:latin typeface="JetBrains Mono"/>
                        </a:rPr>
                        <a:t>+0.55</a:t>
                      </a:r>
                    </a:p>
                  </a:txBody>
                  <a:tcPr anchor="ctr" marL="63500" marR="63500" marT="25400" marB="25400">
                    <a:lnL>
                      <a:noFill/>
                    </a:lnL>
                    <a:lnR>
                      <a:noFill/>
                    </a:lnR>
                    <a:lnT>
                      <a:noFill/>
                    </a:lnT>
                    <a:lnB>
                      <a:noFill/>
                    </a:lnB>
                    <a:solidFill>
                      <a:srgbClr val="F8FAFC"/>
                    </a:solidFill>
                  </a:tcPr>
                </a:tc>
                <a:tc>
                  <a:txBody>
                    <a:bodyPr/>
                    <a:lstStyle/>
                    <a:p>
                      <a:pPr algn="ctr"/>
                      <a:r>
                        <a:rPr b="0" sz="1350" i="0" u="none">
                          <a:solidFill>
                            <a:srgbClr val="D97706"/>
                          </a:solidFill>
                          <a:latin typeface="JetBrains Mono"/>
                        </a:rPr>
                        <a:t>+0.55</a:t>
                      </a:r>
                    </a:p>
                  </a:txBody>
                  <a:tcPr anchor="ctr" marL="63500" marR="63500" marT="25400" marB="25400">
                    <a:lnL>
                      <a:noFill/>
                    </a:lnL>
                    <a:lnR>
                      <a:noFill/>
                    </a:lnR>
                    <a:lnT>
                      <a:noFill/>
                    </a:lnT>
                    <a:lnB>
                      <a:noFill/>
                    </a:lnB>
                    <a:solidFill>
                      <a:srgbClr val="F8FAFC"/>
                    </a:solidFill>
                  </a:tcPr>
                </a:tc>
                <a:tc>
                  <a:txBody>
                    <a:bodyPr/>
                    <a:lstStyle/>
                    <a:p>
                      <a:pPr algn="ctr"/>
                      <a:r>
                        <a:rPr b="0" sz="1350" i="0" u="none">
                          <a:solidFill>
                            <a:srgbClr val="D97706"/>
                          </a:solidFill>
                          <a:latin typeface="JetBrains Mono"/>
                        </a:rPr>
                        <a:t>+0.55</a:t>
                      </a:r>
                    </a:p>
                  </a:txBody>
                  <a:tcPr anchor="ctr" marL="63500" marR="63500" marT="25400" marB="25400">
                    <a:lnL>
                      <a:noFill/>
                    </a:lnL>
                    <a:lnR>
                      <a:noFill/>
                    </a:lnR>
                    <a:lnT>
                      <a:noFill/>
                    </a:lnT>
                    <a:lnB>
                      <a:noFill/>
                    </a:lnB>
                    <a:solidFill>
                      <a:srgbClr val="F8FAFC"/>
                    </a:solidFill>
                  </a:tcPr>
                </a:tc>
                <a:tc>
                  <a:txBody>
                    <a:bodyPr/>
                    <a:lstStyle/>
                    <a:p>
                      <a:pPr algn="ctr"/>
                      <a:r>
                        <a:rPr b="0" sz="1350" i="0" u="none">
                          <a:solidFill>
                            <a:srgbClr val="0F172A"/>
                          </a:solidFill>
                          <a:latin typeface="JetBrains Mono"/>
                        </a:rPr>
                        <a:t>+0.55</a:t>
                      </a:r>
                    </a:p>
                  </a:txBody>
                  <a:tcPr anchor="ctr" marL="63500" marR="63500" marT="25400" marB="25400">
                    <a:lnL>
                      <a:noFill/>
                    </a:lnL>
                    <a:lnR>
                      <a:noFill/>
                    </a:lnR>
                    <a:lnT>
                      <a:noFill/>
                    </a:lnT>
                    <a:lnB>
                      <a:noFill/>
                    </a:lnB>
                    <a:solidFill>
                      <a:srgbClr val="F8FAFC"/>
                    </a:solidFill>
                  </a:tcPr>
                </a:tc>
              </a:tr>
              <a:tr h="478971">
                <a:tc>
                  <a:txBody>
                    <a:bodyPr/>
                    <a:lstStyle/>
                    <a:p>
                      <a:pPr algn="l"/>
                      <a:r>
                        <a:rPr b="1" sz="1350" i="0" u="none">
                          <a:solidFill>
                            <a:srgbClr val="334155"/>
                          </a:solidFill>
                          <a:latin typeface="JetBrains Mono"/>
                        </a:rPr>
                        <a:t>0.5493*h2</a:t>
                      </a:r>
                    </a:p>
                  </a:txBody>
                  <a:tcPr anchor="ctr" marL="63500" marR="63500" marT="25400" marB="25400">
                    <a:lnL>
                      <a:noFill/>
                    </a:lnL>
                    <a:lnR>
                      <a:noFill/>
                    </a:lnR>
                    <a:lnT>
                      <a:noFill/>
                    </a:lnT>
                    <a:lnB>
                      <a:noFill/>
                    </a:lnB>
                    <a:solidFill>
                      <a:srgbClr val="FFFFFF"/>
                    </a:solidFill>
                  </a:tcPr>
                </a:tc>
                <a:tc>
                  <a:txBody>
                    <a:bodyPr/>
                    <a:lstStyle/>
                    <a:p>
                      <a:pPr algn="ctr"/>
                      <a:r>
                        <a:rPr b="0" sz="1350" i="0" u="none">
                          <a:solidFill>
                            <a:srgbClr val="D97706"/>
                          </a:solidFill>
                          <a:latin typeface="JetBrains Mono"/>
                        </a:rPr>
                        <a:t>+0.55</a:t>
                      </a:r>
                    </a:p>
                  </a:txBody>
                  <a:tcPr anchor="ctr" marL="63500" marR="63500" marT="25400" marB="25400">
                    <a:lnL>
                      <a:noFill/>
                    </a:lnL>
                    <a:lnR>
                      <a:noFill/>
                    </a:lnR>
                    <a:lnT>
                      <a:noFill/>
                    </a:lnT>
                    <a:lnB>
                      <a:noFill/>
                    </a:lnB>
                    <a:solidFill>
                      <a:srgbClr val="FFFFFF"/>
                    </a:solidFill>
                  </a:tcPr>
                </a:tc>
                <a:tc>
                  <a:txBody>
                    <a:bodyPr/>
                    <a:lstStyle/>
                    <a:p>
                      <a:pPr algn="ctr"/>
                      <a:r>
                        <a:rPr b="0" sz="1350" i="0" u="none">
                          <a:solidFill>
                            <a:srgbClr val="D97706"/>
                          </a:solidFill>
                          <a:latin typeface="JetBrains Mono"/>
                        </a:rPr>
                        <a:t>+0.55</a:t>
                      </a:r>
                    </a:p>
                  </a:txBody>
                  <a:tcPr anchor="ctr" marL="63500" marR="63500" marT="25400" marB="25400">
                    <a:lnL>
                      <a:noFill/>
                    </a:lnL>
                    <a:lnR>
                      <a:noFill/>
                    </a:lnR>
                    <a:lnT>
                      <a:noFill/>
                    </a:lnT>
                    <a:lnB>
                      <a:noFill/>
                    </a:lnB>
                    <a:solidFill>
                      <a:srgbClr val="FFFFFF"/>
                    </a:solidFill>
                  </a:tcPr>
                </a:tc>
                <a:tc>
                  <a:txBody>
                    <a:bodyPr/>
                    <a:lstStyle/>
                    <a:p>
                      <a:pPr algn="ctr"/>
                      <a:r>
                        <a:rPr b="0" sz="1350" i="0" u="none">
                          <a:solidFill>
                            <a:srgbClr val="0F172A"/>
                          </a:solidFill>
                          <a:latin typeface="JetBrains Mono"/>
                        </a:rPr>
                        <a:t>+0.55</a:t>
                      </a:r>
                    </a:p>
                  </a:txBody>
                  <a:tcPr anchor="ctr" marL="63500" marR="63500" marT="25400" marB="25400">
                    <a:lnL>
                      <a:noFill/>
                    </a:lnL>
                    <a:lnR>
                      <a:noFill/>
                    </a:lnR>
                    <a:lnT>
                      <a:noFill/>
                    </a:lnT>
                    <a:lnB>
                      <a:noFill/>
                    </a:lnB>
                    <a:solidFill>
                      <a:srgbClr val="FFFFFF"/>
                    </a:solidFill>
                  </a:tcPr>
                </a:tc>
                <a:tc>
                  <a:txBody>
                    <a:bodyPr/>
                    <a:lstStyle/>
                    <a:p>
                      <a:pPr algn="ctr"/>
                      <a:r>
                        <a:rPr b="0" sz="1350" i="0" u="none">
                          <a:solidFill>
                            <a:srgbClr val="0F172A"/>
                          </a:solidFill>
                          <a:latin typeface="JetBrains Mono"/>
                        </a:rPr>
                        <a:t>+0.55</a:t>
                      </a:r>
                    </a:p>
                  </a:txBody>
                  <a:tcPr anchor="ctr" marL="63500" marR="63500" marT="25400" marB="25400">
                    <a:lnL>
                      <a:noFill/>
                    </a:lnL>
                    <a:lnR>
                      <a:noFill/>
                    </a:lnR>
                    <a:lnT>
                      <a:noFill/>
                    </a:lnT>
                    <a:lnB>
                      <a:noFill/>
                    </a:lnB>
                    <a:solidFill>
                      <a:srgbClr val="FFFFFF"/>
                    </a:solidFill>
                  </a:tcPr>
                </a:tc>
                <a:tc>
                  <a:txBody>
                    <a:bodyPr/>
                    <a:lstStyle/>
                    <a:p>
                      <a:pPr algn="ctr"/>
                      <a:r>
                        <a:rPr b="0" sz="1350" i="0" u="none">
                          <a:solidFill>
                            <a:srgbClr val="0F172A"/>
                          </a:solidFill>
                          <a:latin typeface="JetBrains Mono"/>
                        </a:rPr>
                        <a:t>+0.55</a:t>
                      </a:r>
                    </a:p>
                  </a:txBody>
                  <a:tcPr anchor="ctr" marL="63500" marR="63500" marT="25400" marB="25400">
                    <a:lnL>
                      <a:noFill/>
                    </a:lnL>
                    <a:lnR>
                      <a:noFill/>
                    </a:lnR>
                    <a:lnT>
                      <a:noFill/>
                    </a:lnT>
                    <a:lnB>
                      <a:noFill/>
                    </a:lnB>
                    <a:solidFill>
                      <a:srgbClr val="FFFFFF"/>
                    </a:solidFill>
                  </a:tcPr>
                </a:tc>
                <a:tc>
                  <a:txBody>
                    <a:bodyPr/>
                    <a:lstStyle/>
                    <a:p>
                      <a:pPr algn="ctr"/>
                      <a:r>
                        <a:rPr b="0" sz="1350" i="0" u="none">
                          <a:solidFill>
                            <a:srgbClr val="0F172A"/>
                          </a:solidFill>
                          <a:latin typeface="JetBrains Mono"/>
                        </a:rPr>
                        <a:t>-0.55</a:t>
                      </a:r>
                    </a:p>
                  </a:txBody>
                  <a:tcPr anchor="ctr" marL="63500" marR="63500" marT="25400" marB="25400">
                    <a:lnL>
                      <a:noFill/>
                    </a:lnL>
                    <a:lnR>
                      <a:noFill/>
                    </a:lnR>
                    <a:lnT>
                      <a:noFill/>
                    </a:lnT>
                    <a:lnB>
                      <a:noFill/>
                    </a:lnB>
                    <a:solidFill>
                      <a:srgbClr val="FFFFFF"/>
                    </a:solidFill>
                  </a:tcPr>
                </a:tc>
                <a:tc>
                  <a:txBody>
                    <a:bodyPr/>
                    <a:lstStyle/>
                    <a:p>
                      <a:pPr algn="ctr"/>
                      <a:r>
                        <a:rPr b="0" sz="1350" i="0" u="none">
                          <a:solidFill>
                            <a:srgbClr val="0F172A"/>
                          </a:solidFill>
                          <a:latin typeface="JetBrains Mono"/>
                        </a:rPr>
                        <a:t>-0.55</a:t>
                      </a:r>
                    </a:p>
                  </a:txBody>
                  <a:tcPr anchor="ctr" marL="63500" marR="63500" marT="25400" marB="25400">
                    <a:lnL>
                      <a:noFill/>
                    </a:lnL>
                    <a:lnR>
                      <a:noFill/>
                    </a:lnR>
                    <a:lnT>
                      <a:noFill/>
                    </a:lnT>
                    <a:lnB>
                      <a:noFill/>
                    </a:lnB>
                    <a:solidFill>
                      <a:srgbClr val="FFFFFF"/>
                    </a:solidFill>
                  </a:tcPr>
                </a:tc>
                <a:tc>
                  <a:txBody>
                    <a:bodyPr/>
                    <a:lstStyle/>
                    <a:p>
                      <a:pPr algn="ctr"/>
                      <a:r>
                        <a:rPr b="0" sz="1350" i="0" u="none">
                          <a:solidFill>
                            <a:srgbClr val="D97706"/>
                          </a:solidFill>
                          <a:latin typeface="JetBrains Mono"/>
                        </a:rPr>
                        <a:t>-0.55</a:t>
                      </a:r>
                    </a:p>
                  </a:txBody>
                  <a:tcPr anchor="ctr" marL="63500" marR="63500" marT="25400" marB="25400">
                    <a:lnL>
                      <a:noFill/>
                    </a:lnL>
                    <a:lnR>
                      <a:noFill/>
                    </a:lnR>
                    <a:lnT>
                      <a:noFill/>
                    </a:lnT>
                    <a:lnB>
                      <a:noFill/>
                    </a:lnB>
                    <a:solidFill>
                      <a:srgbClr val="FFFFFF"/>
                    </a:solidFill>
                  </a:tcPr>
                </a:tc>
              </a:tr>
              <a:tr h="478971">
                <a:tc>
                  <a:txBody>
                    <a:bodyPr/>
                    <a:lstStyle/>
                    <a:p>
                      <a:pPr algn="l"/>
                      <a:r>
                        <a:rPr b="1" sz="1350" i="0" u="none">
                          <a:solidFill>
                            <a:srgbClr val="334155"/>
                          </a:solidFill>
                          <a:latin typeface="JetBrains Mono"/>
                        </a:rPr>
                        <a:t>0.8047*h3</a:t>
                      </a:r>
                    </a:p>
                  </a:txBody>
                  <a:tcPr anchor="ctr" marL="63500" marR="63500" marT="25400" marB="25400">
                    <a:lnL>
                      <a:noFill/>
                    </a:lnL>
                    <a:lnR>
                      <a:noFill/>
                    </a:lnR>
                    <a:lnT>
                      <a:noFill/>
                    </a:lnT>
                    <a:lnB>
                      <a:noFill/>
                    </a:lnB>
                    <a:solidFill>
                      <a:srgbClr val="F8FAFC"/>
                    </a:solidFill>
                  </a:tcPr>
                </a:tc>
                <a:tc>
                  <a:txBody>
                    <a:bodyPr/>
                    <a:lstStyle/>
                    <a:p>
                      <a:pPr algn="ctr"/>
                      <a:r>
                        <a:rPr b="0" sz="1350" i="0" u="none">
                          <a:solidFill>
                            <a:srgbClr val="0F172A"/>
                          </a:solidFill>
                          <a:latin typeface="JetBrains Mono"/>
                        </a:rPr>
                        <a:t>-0.80</a:t>
                      </a:r>
                    </a:p>
                  </a:txBody>
                  <a:tcPr anchor="ctr" marL="63500" marR="63500" marT="25400" marB="25400">
                    <a:lnL>
                      <a:noFill/>
                    </a:lnL>
                    <a:lnR>
                      <a:noFill/>
                    </a:lnR>
                    <a:lnT>
                      <a:noFill/>
                    </a:lnT>
                    <a:lnB>
                      <a:noFill/>
                    </a:lnB>
                    <a:solidFill>
                      <a:srgbClr val="F8FAFC"/>
                    </a:solidFill>
                  </a:tcPr>
                </a:tc>
                <a:tc>
                  <a:txBody>
                    <a:bodyPr/>
                    <a:lstStyle/>
                    <a:p>
                      <a:pPr algn="ctr"/>
                      <a:r>
                        <a:rPr b="0" sz="1350" i="0" u="none">
                          <a:solidFill>
                            <a:srgbClr val="0F172A"/>
                          </a:solidFill>
                          <a:latin typeface="JetBrains Mono"/>
                        </a:rPr>
                        <a:t>-0.80</a:t>
                      </a:r>
                    </a:p>
                  </a:txBody>
                  <a:tcPr anchor="ctr" marL="63500" marR="63500" marT="25400" marB="25400">
                    <a:lnL>
                      <a:noFill/>
                    </a:lnL>
                    <a:lnR>
                      <a:noFill/>
                    </a:lnR>
                    <a:lnT>
                      <a:noFill/>
                    </a:lnT>
                    <a:lnB>
                      <a:noFill/>
                    </a:lnB>
                    <a:solidFill>
                      <a:srgbClr val="F8FAFC"/>
                    </a:solidFill>
                  </a:tcPr>
                </a:tc>
                <a:tc>
                  <a:txBody>
                    <a:bodyPr/>
                    <a:lstStyle/>
                    <a:p>
                      <a:pPr algn="ctr"/>
                      <a:r>
                        <a:rPr b="0" sz="1350" i="0" u="none">
                          <a:solidFill>
                            <a:srgbClr val="D97706"/>
                          </a:solidFill>
                          <a:latin typeface="JetBrains Mono"/>
                        </a:rPr>
                        <a:t>-0.80</a:t>
                      </a:r>
                    </a:p>
                  </a:txBody>
                  <a:tcPr anchor="ctr" marL="63500" marR="63500" marT="25400" marB="25400">
                    <a:lnL>
                      <a:noFill/>
                    </a:lnL>
                    <a:lnR>
                      <a:noFill/>
                    </a:lnR>
                    <a:lnT>
                      <a:noFill/>
                    </a:lnT>
                    <a:lnB>
                      <a:noFill/>
                    </a:lnB>
                    <a:solidFill>
                      <a:srgbClr val="F8FAFC"/>
                    </a:solidFill>
                  </a:tcPr>
                </a:tc>
                <a:tc>
                  <a:txBody>
                    <a:bodyPr/>
                    <a:lstStyle/>
                    <a:p>
                      <a:pPr algn="ctr"/>
                      <a:r>
                        <a:rPr b="0" sz="1350" i="0" u="none">
                          <a:solidFill>
                            <a:srgbClr val="D97706"/>
                          </a:solidFill>
                          <a:latin typeface="JetBrains Mono"/>
                        </a:rPr>
                        <a:t>-0.80</a:t>
                      </a:r>
                    </a:p>
                  </a:txBody>
                  <a:tcPr anchor="ctr" marL="63500" marR="63500" marT="25400" marB="25400">
                    <a:lnL>
                      <a:noFill/>
                    </a:lnL>
                    <a:lnR>
                      <a:noFill/>
                    </a:lnR>
                    <a:lnT>
                      <a:noFill/>
                    </a:lnT>
                    <a:lnB>
                      <a:noFill/>
                    </a:lnB>
                    <a:solidFill>
                      <a:srgbClr val="F8FAFC"/>
                    </a:solidFill>
                  </a:tcPr>
                </a:tc>
                <a:tc>
                  <a:txBody>
                    <a:bodyPr/>
                    <a:lstStyle/>
                    <a:p>
                      <a:pPr algn="ctr"/>
                      <a:r>
                        <a:rPr b="0" sz="1350" i="0" u="none">
                          <a:solidFill>
                            <a:srgbClr val="D97706"/>
                          </a:solidFill>
                          <a:latin typeface="JetBrains Mono"/>
                        </a:rPr>
                        <a:t>-0.80</a:t>
                      </a:r>
                    </a:p>
                  </a:txBody>
                  <a:tcPr anchor="ctr" marL="63500" marR="63500" marT="25400" marB="25400">
                    <a:lnL>
                      <a:noFill/>
                    </a:lnL>
                    <a:lnR>
                      <a:noFill/>
                    </a:lnR>
                    <a:lnT>
                      <a:noFill/>
                    </a:lnT>
                    <a:lnB>
                      <a:noFill/>
                    </a:lnB>
                    <a:solidFill>
                      <a:srgbClr val="F8FAFC"/>
                    </a:solidFill>
                  </a:tcPr>
                </a:tc>
                <a:tc>
                  <a:txBody>
                    <a:bodyPr/>
                    <a:lstStyle/>
                    <a:p>
                      <a:pPr algn="ctr"/>
                      <a:r>
                        <a:rPr b="0" sz="1350" i="0" u="none">
                          <a:solidFill>
                            <a:srgbClr val="0F172A"/>
                          </a:solidFill>
                          <a:latin typeface="JetBrains Mono"/>
                        </a:rPr>
                        <a:t>-0.80</a:t>
                      </a:r>
                    </a:p>
                  </a:txBody>
                  <a:tcPr anchor="ctr" marL="63500" marR="63500" marT="25400" marB="25400">
                    <a:lnL>
                      <a:noFill/>
                    </a:lnL>
                    <a:lnR>
                      <a:noFill/>
                    </a:lnR>
                    <a:lnT>
                      <a:noFill/>
                    </a:lnT>
                    <a:lnB>
                      <a:noFill/>
                    </a:lnB>
                    <a:solidFill>
                      <a:srgbClr val="F8FAFC"/>
                    </a:solidFill>
                  </a:tcPr>
                </a:tc>
                <a:tc>
                  <a:txBody>
                    <a:bodyPr/>
                    <a:lstStyle/>
                    <a:p>
                      <a:pPr algn="ctr"/>
                      <a:r>
                        <a:rPr b="0" sz="1350" i="0" u="none">
                          <a:solidFill>
                            <a:srgbClr val="0F172A"/>
                          </a:solidFill>
                          <a:latin typeface="JetBrains Mono"/>
                        </a:rPr>
                        <a:t>-0.80</a:t>
                      </a:r>
                    </a:p>
                  </a:txBody>
                  <a:tcPr anchor="ctr" marL="63500" marR="63500" marT="25400" marB="25400">
                    <a:lnL>
                      <a:noFill/>
                    </a:lnL>
                    <a:lnR>
                      <a:noFill/>
                    </a:lnR>
                    <a:lnT>
                      <a:noFill/>
                    </a:lnT>
                    <a:lnB>
                      <a:noFill/>
                    </a:lnB>
                    <a:solidFill>
                      <a:srgbClr val="F8FAFC"/>
                    </a:solidFill>
                  </a:tcPr>
                </a:tc>
                <a:tc>
                  <a:txBody>
                    <a:bodyPr/>
                    <a:lstStyle/>
                    <a:p>
                      <a:pPr algn="ctr"/>
                      <a:r>
                        <a:rPr b="0" sz="1350" i="0" u="none">
                          <a:solidFill>
                            <a:srgbClr val="0F172A"/>
                          </a:solidFill>
                          <a:latin typeface="JetBrains Mono"/>
                        </a:rPr>
                        <a:t>+0.80</a:t>
                      </a:r>
                    </a:p>
                  </a:txBody>
                  <a:tcPr anchor="ctr" marL="63500" marR="63500" marT="25400" marB="25400">
                    <a:lnL>
                      <a:noFill/>
                    </a:lnL>
                    <a:lnR>
                      <a:noFill/>
                    </a:lnR>
                    <a:lnT>
                      <a:noFill/>
                    </a:lnT>
                    <a:lnB>
                      <a:noFill/>
                    </a:lnB>
                    <a:solidFill>
                      <a:srgbClr val="F8FAFC"/>
                    </a:solidFill>
                  </a:tcPr>
                </a:tc>
              </a:tr>
              <a:tr h="478971">
                <a:tc>
                  <a:txBody>
                    <a:bodyPr/>
                    <a:lstStyle/>
                    <a:p>
                      <a:pPr algn="l"/>
                      <a:r>
                        <a:rPr b="1" sz="1350" i="0" u="none">
                          <a:solidFill>
                            <a:srgbClr val="0F2C59"/>
                          </a:solidFill>
                          <a:latin typeface="Be Vietnam Pro"/>
                        </a:rPr>
                        <a:t>Tổng điểm</a:t>
                      </a:r>
                    </a:p>
                  </a:txBody>
                  <a:tcPr anchor="ctr" marL="63500" marR="63500" marT="25400" marB="25400">
                    <a:lnL>
                      <a:noFill/>
                    </a:lnL>
                    <a:lnR>
                      <a:noFill/>
                    </a:lnR>
                    <a:lnT>
                      <a:noFill/>
                    </a:lnT>
                    <a:lnB>
                      <a:noFill/>
                    </a:lnB>
                    <a:solidFill>
                      <a:srgbClr val="FFFFFF"/>
                    </a:solidFill>
                  </a:tcPr>
                </a:tc>
                <a:tc>
                  <a:txBody>
                    <a:bodyPr/>
                    <a:lstStyle/>
                    <a:p>
                      <a:pPr algn="ctr"/>
                      <a:r>
                        <a:rPr b="1" sz="1350" i="0" u="none">
                          <a:solidFill>
                            <a:srgbClr val="0F172A"/>
                          </a:solidFill>
                          <a:latin typeface="JetBrains Mono"/>
                        </a:rPr>
                        <a:t>-0.80</a:t>
                      </a:r>
                    </a:p>
                  </a:txBody>
                  <a:tcPr anchor="ctr" marL="63500" marR="63500" marT="25400" marB="25400">
                    <a:lnL>
                      <a:noFill/>
                    </a:lnL>
                    <a:lnR>
                      <a:noFill/>
                    </a:lnR>
                    <a:lnT>
                      <a:noFill/>
                    </a:lnT>
                    <a:lnB>
                      <a:noFill/>
                    </a:lnB>
                    <a:solidFill>
                      <a:srgbClr val="FFFFFF"/>
                    </a:solidFill>
                  </a:tcPr>
                </a:tc>
                <a:tc>
                  <a:txBody>
                    <a:bodyPr/>
                    <a:lstStyle/>
                    <a:p>
                      <a:pPr algn="ctr"/>
                      <a:r>
                        <a:rPr b="1" sz="1350" i="0" u="none">
                          <a:solidFill>
                            <a:srgbClr val="0F172A"/>
                          </a:solidFill>
                          <a:latin typeface="JetBrains Mono"/>
                        </a:rPr>
                        <a:t>-0.80</a:t>
                      </a:r>
                    </a:p>
                  </a:txBody>
                  <a:tcPr anchor="ctr" marL="63500" marR="63500" marT="25400" marB="25400">
                    <a:lnL>
                      <a:noFill/>
                    </a:lnL>
                    <a:lnR>
                      <a:noFill/>
                    </a:lnR>
                    <a:lnT>
                      <a:noFill/>
                    </a:lnT>
                    <a:lnB>
                      <a:noFill/>
                    </a:lnB>
                    <a:solidFill>
                      <a:srgbClr val="FFFFFF"/>
                    </a:solidFill>
                  </a:tcPr>
                </a:tc>
                <a:tc>
                  <a:txBody>
                    <a:bodyPr/>
                    <a:lstStyle/>
                    <a:p>
                      <a:pPr algn="ctr"/>
                      <a:r>
                        <a:rPr b="1" sz="1350" i="0" u="none">
                          <a:solidFill>
                            <a:srgbClr val="0F172A"/>
                          </a:solidFill>
                          <a:latin typeface="JetBrains Mono"/>
                        </a:rPr>
                        <a:t>+0.29</a:t>
                      </a:r>
                    </a:p>
                  </a:txBody>
                  <a:tcPr anchor="ctr" marL="63500" marR="63500" marT="25400" marB="25400">
                    <a:lnL>
                      <a:noFill/>
                    </a:lnL>
                    <a:lnR>
                      <a:noFill/>
                    </a:lnR>
                    <a:lnT>
                      <a:noFill/>
                    </a:lnT>
                    <a:lnB>
                      <a:noFill/>
                    </a:lnB>
                    <a:solidFill>
                      <a:srgbClr val="FFFFFF"/>
                    </a:solidFill>
                  </a:tcPr>
                </a:tc>
                <a:tc>
                  <a:txBody>
                    <a:bodyPr/>
                    <a:lstStyle/>
                    <a:p>
                      <a:pPr algn="ctr"/>
                      <a:r>
                        <a:rPr b="1" sz="1350" i="0" u="none">
                          <a:solidFill>
                            <a:srgbClr val="0F172A"/>
                          </a:solidFill>
                          <a:latin typeface="JetBrains Mono"/>
                        </a:rPr>
                        <a:t>+0.29</a:t>
                      </a:r>
                    </a:p>
                  </a:txBody>
                  <a:tcPr anchor="ctr" marL="63500" marR="63500" marT="25400" marB="25400">
                    <a:lnL>
                      <a:noFill/>
                    </a:lnL>
                    <a:lnR>
                      <a:noFill/>
                    </a:lnR>
                    <a:lnT>
                      <a:noFill/>
                    </a:lnT>
                    <a:lnB>
                      <a:noFill/>
                    </a:lnB>
                    <a:solidFill>
                      <a:srgbClr val="FFFFFF"/>
                    </a:solidFill>
                  </a:tcPr>
                </a:tc>
                <a:tc>
                  <a:txBody>
                    <a:bodyPr/>
                    <a:lstStyle/>
                    <a:p>
                      <a:pPr algn="ctr"/>
                      <a:r>
                        <a:rPr b="1" sz="1350" i="0" u="none">
                          <a:solidFill>
                            <a:srgbClr val="0F172A"/>
                          </a:solidFill>
                          <a:latin typeface="JetBrains Mono"/>
                        </a:rPr>
                        <a:t>+0.29</a:t>
                      </a:r>
                    </a:p>
                  </a:txBody>
                  <a:tcPr anchor="ctr" marL="63500" marR="63500" marT="25400" marB="25400">
                    <a:lnL>
                      <a:noFill/>
                    </a:lnL>
                    <a:lnR>
                      <a:noFill/>
                    </a:lnR>
                    <a:lnT>
                      <a:noFill/>
                    </a:lnT>
                    <a:lnB>
                      <a:noFill/>
                    </a:lnB>
                    <a:solidFill>
                      <a:srgbClr val="FFFFFF"/>
                    </a:solidFill>
                  </a:tcPr>
                </a:tc>
                <a:tc>
                  <a:txBody>
                    <a:bodyPr/>
                    <a:lstStyle/>
                    <a:p>
                      <a:pPr algn="ctr"/>
                      <a:r>
                        <a:rPr b="1" sz="1350" i="0" u="none">
                          <a:solidFill>
                            <a:srgbClr val="0F172A"/>
                          </a:solidFill>
                          <a:latin typeface="JetBrains Mono"/>
                        </a:rPr>
                        <a:t>-0.80</a:t>
                      </a:r>
                    </a:p>
                  </a:txBody>
                  <a:tcPr anchor="ctr" marL="63500" marR="63500" marT="25400" marB="25400">
                    <a:lnL>
                      <a:noFill/>
                    </a:lnL>
                    <a:lnR>
                      <a:noFill/>
                    </a:lnR>
                    <a:lnT>
                      <a:noFill/>
                    </a:lnT>
                    <a:lnB>
                      <a:noFill/>
                    </a:lnB>
                    <a:solidFill>
                      <a:srgbClr val="FFFFFF"/>
                    </a:solidFill>
                  </a:tcPr>
                </a:tc>
                <a:tc>
                  <a:txBody>
                    <a:bodyPr/>
                    <a:lstStyle/>
                    <a:p>
                      <a:pPr algn="ctr"/>
                      <a:r>
                        <a:rPr b="1" sz="1350" i="0" u="none">
                          <a:solidFill>
                            <a:srgbClr val="0F172A"/>
                          </a:solidFill>
                          <a:latin typeface="JetBrains Mono"/>
                        </a:rPr>
                        <a:t>-0.80</a:t>
                      </a:r>
                    </a:p>
                  </a:txBody>
                  <a:tcPr anchor="ctr" marL="63500" marR="63500" marT="25400" marB="25400">
                    <a:lnL>
                      <a:noFill/>
                    </a:lnL>
                    <a:lnR>
                      <a:noFill/>
                    </a:lnR>
                    <a:lnT>
                      <a:noFill/>
                    </a:lnT>
                    <a:lnB>
                      <a:noFill/>
                    </a:lnB>
                    <a:solidFill>
                      <a:srgbClr val="FFFFFF"/>
                    </a:solidFill>
                  </a:tcPr>
                </a:tc>
                <a:tc>
                  <a:txBody>
                    <a:bodyPr/>
                    <a:lstStyle/>
                    <a:p>
                      <a:pPr algn="ctr"/>
                      <a:r>
                        <a:rPr b="1" sz="1350" i="0" u="none">
                          <a:solidFill>
                            <a:srgbClr val="0F172A"/>
                          </a:solidFill>
                          <a:latin typeface="JetBrains Mono"/>
                        </a:rPr>
                        <a:t>+0.80</a:t>
                      </a:r>
                    </a:p>
                  </a:txBody>
                  <a:tcPr anchor="ctr" marL="63500" marR="63500" marT="25400" marB="25400">
                    <a:lnL>
                      <a:noFill/>
                    </a:lnL>
                    <a:lnR>
                      <a:noFill/>
                    </a:lnR>
                    <a:lnT>
                      <a:noFill/>
                    </a:lnT>
                    <a:lnB>
                      <a:noFill/>
                    </a:lnB>
                    <a:solidFill>
                      <a:srgbClr val="FFFFFF"/>
                    </a:solidFill>
                  </a:tcPr>
                </a:tc>
              </a:tr>
              <a:tr h="478974">
                <a:tc>
                  <a:txBody>
                    <a:bodyPr/>
                    <a:lstStyle/>
                    <a:p>
                      <a:pPr algn="l"/>
                      <a:r>
                        <a:rPr b="1" sz="1350" i="0" u="none">
                          <a:solidFill>
                            <a:srgbClr val="065F46"/>
                          </a:solidFill>
                          <a:latin typeface="Be Vietnam Pro"/>
                        </a:rPr>
                        <a:t>H(x) (100%)</a:t>
                      </a:r>
                    </a:p>
                  </a:txBody>
                  <a:tcPr anchor="ctr" marL="63500" marR="63500" marT="25400" marB="25400">
                    <a:lnL>
                      <a:noFill/>
                    </a:lnL>
                    <a:lnR>
                      <a:noFill/>
                    </a:lnR>
                    <a:lnT>
                      <a:noFill/>
                    </a:lnT>
                    <a:lnB>
                      <a:noFill/>
                    </a:lnB>
                    <a:solidFill>
                      <a:srgbClr val="D1FAE5"/>
                    </a:solidFill>
                  </a:tcPr>
                </a:tc>
                <a:tc>
                  <a:txBody>
                    <a:bodyPr/>
                    <a:lstStyle/>
                    <a:p>
                      <a:pPr algn="ctr"/>
                      <a:r>
                        <a:rPr b="1" sz="1350" i="0" u="none">
                          <a:solidFill>
                            <a:srgbClr val="065F46"/>
                          </a:solidFill>
                          <a:latin typeface="JetBrains Mono"/>
                        </a:rPr>
                        <a:t>-1 (Đúng)</a:t>
                      </a:r>
                    </a:p>
                  </a:txBody>
                  <a:tcPr anchor="ctr" marL="63500" marR="63500" marT="25400" marB="25400">
                    <a:lnL>
                      <a:noFill/>
                    </a:lnL>
                    <a:lnR>
                      <a:noFill/>
                    </a:lnR>
                    <a:lnT>
                      <a:noFill/>
                    </a:lnT>
                    <a:lnB>
                      <a:noFill/>
                    </a:lnB>
                    <a:solidFill>
                      <a:srgbClr val="D1FAE5"/>
                    </a:solidFill>
                  </a:tcPr>
                </a:tc>
                <a:tc>
                  <a:txBody>
                    <a:bodyPr/>
                    <a:lstStyle/>
                    <a:p>
                      <a:pPr algn="ctr"/>
                      <a:r>
                        <a:rPr b="1" sz="1350" i="0" u="none">
                          <a:solidFill>
                            <a:srgbClr val="065F46"/>
                          </a:solidFill>
                          <a:latin typeface="JetBrains Mono"/>
                        </a:rPr>
                        <a:t>-1 (Đúng)</a:t>
                      </a:r>
                    </a:p>
                  </a:txBody>
                  <a:tcPr anchor="ctr" marL="63500" marR="63500" marT="25400" marB="25400">
                    <a:lnL>
                      <a:noFill/>
                    </a:lnL>
                    <a:lnR>
                      <a:noFill/>
                    </a:lnR>
                    <a:lnT>
                      <a:noFill/>
                    </a:lnT>
                    <a:lnB>
                      <a:noFill/>
                    </a:lnB>
                    <a:solidFill>
                      <a:srgbClr val="D1FAE5"/>
                    </a:solidFill>
                  </a:tcPr>
                </a:tc>
                <a:tc>
                  <a:txBody>
                    <a:bodyPr/>
                    <a:lstStyle/>
                    <a:p>
                      <a:pPr algn="ctr"/>
                      <a:r>
                        <a:rPr b="1" sz="1350" i="0" u="none">
                          <a:solidFill>
                            <a:srgbClr val="065F46"/>
                          </a:solidFill>
                          <a:latin typeface="JetBrains Mono"/>
                        </a:rPr>
                        <a:t>+1 (Đúng)</a:t>
                      </a:r>
                    </a:p>
                  </a:txBody>
                  <a:tcPr anchor="ctr" marL="63500" marR="63500" marT="25400" marB="25400">
                    <a:lnL>
                      <a:noFill/>
                    </a:lnL>
                    <a:lnR>
                      <a:noFill/>
                    </a:lnR>
                    <a:lnT>
                      <a:noFill/>
                    </a:lnT>
                    <a:lnB>
                      <a:noFill/>
                    </a:lnB>
                    <a:solidFill>
                      <a:srgbClr val="D1FAE5"/>
                    </a:solidFill>
                  </a:tcPr>
                </a:tc>
                <a:tc>
                  <a:txBody>
                    <a:bodyPr/>
                    <a:lstStyle/>
                    <a:p>
                      <a:pPr algn="ctr"/>
                      <a:r>
                        <a:rPr b="1" sz="1350" i="0" u="none">
                          <a:solidFill>
                            <a:srgbClr val="065F46"/>
                          </a:solidFill>
                          <a:latin typeface="JetBrains Mono"/>
                        </a:rPr>
                        <a:t>+1 (Đúng)</a:t>
                      </a:r>
                    </a:p>
                  </a:txBody>
                  <a:tcPr anchor="ctr" marL="63500" marR="63500" marT="25400" marB="25400">
                    <a:lnL>
                      <a:noFill/>
                    </a:lnL>
                    <a:lnR>
                      <a:noFill/>
                    </a:lnR>
                    <a:lnT>
                      <a:noFill/>
                    </a:lnT>
                    <a:lnB>
                      <a:noFill/>
                    </a:lnB>
                    <a:solidFill>
                      <a:srgbClr val="D1FAE5"/>
                    </a:solidFill>
                  </a:tcPr>
                </a:tc>
                <a:tc>
                  <a:txBody>
                    <a:bodyPr/>
                    <a:lstStyle/>
                    <a:p>
                      <a:pPr algn="ctr"/>
                      <a:r>
                        <a:rPr b="1" sz="1350" i="0" u="none">
                          <a:solidFill>
                            <a:srgbClr val="065F46"/>
                          </a:solidFill>
                          <a:latin typeface="JetBrains Mono"/>
                        </a:rPr>
                        <a:t>+1 (Đúng)</a:t>
                      </a:r>
                    </a:p>
                  </a:txBody>
                  <a:tcPr anchor="ctr" marL="63500" marR="63500" marT="25400" marB="25400">
                    <a:lnL>
                      <a:noFill/>
                    </a:lnL>
                    <a:lnR>
                      <a:noFill/>
                    </a:lnR>
                    <a:lnT>
                      <a:noFill/>
                    </a:lnT>
                    <a:lnB>
                      <a:noFill/>
                    </a:lnB>
                    <a:solidFill>
                      <a:srgbClr val="D1FAE5"/>
                    </a:solidFill>
                  </a:tcPr>
                </a:tc>
                <a:tc>
                  <a:txBody>
                    <a:bodyPr/>
                    <a:lstStyle/>
                    <a:p>
                      <a:pPr algn="ctr"/>
                      <a:r>
                        <a:rPr b="1" sz="1350" i="0" u="none">
                          <a:solidFill>
                            <a:srgbClr val="065F46"/>
                          </a:solidFill>
                          <a:latin typeface="JetBrains Mono"/>
                        </a:rPr>
                        <a:t>-1 (Đúng)</a:t>
                      </a:r>
                    </a:p>
                  </a:txBody>
                  <a:tcPr anchor="ctr" marL="63500" marR="63500" marT="25400" marB="25400">
                    <a:lnL>
                      <a:noFill/>
                    </a:lnL>
                    <a:lnR>
                      <a:noFill/>
                    </a:lnR>
                    <a:lnT>
                      <a:noFill/>
                    </a:lnT>
                    <a:lnB>
                      <a:noFill/>
                    </a:lnB>
                    <a:solidFill>
                      <a:srgbClr val="D1FAE5"/>
                    </a:solidFill>
                  </a:tcPr>
                </a:tc>
                <a:tc>
                  <a:txBody>
                    <a:bodyPr/>
                    <a:lstStyle/>
                    <a:p>
                      <a:pPr algn="ctr"/>
                      <a:r>
                        <a:rPr b="1" sz="1350" i="0" u="none">
                          <a:solidFill>
                            <a:srgbClr val="065F46"/>
                          </a:solidFill>
                          <a:latin typeface="JetBrains Mono"/>
                        </a:rPr>
                        <a:t>-1 (Đúng)</a:t>
                      </a:r>
                    </a:p>
                  </a:txBody>
                  <a:tcPr anchor="ctr" marL="63500" marR="63500" marT="25400" marB="25400">
                    <a:lnL>
                      <a:noFill/>
                    </a:lnL>
                    <a:lnR>
                      <a:noFill/>
                    </a:lnR>
                    <a:lnT>
                      <a:noFill/>
                    </a:lnT>
                    <a:lnB>
                      <a:noFill/>
                    </a:lnB>
                    <a:solidFill>
                      <a:srgbClr val="D1FAE5"/>
                    </a:solidFill>
                  </a:tcPr>
                </a:tc>
                <a:tc>
                  <a:txBody>
                    <a:bodyPr/>
                    <a:lstStyle/>
                    <a:p>
                      <a:pPr algn="ctr"/>
                      <a:r>
                        <a:rPr b="1" sz="1350" i="0" u="none">
                          <a:solidFill>
                            <a:srgbClr val="065F46"/>
                          </a:solidFill>
                          <a:latin typeface="JetBrains Mono"/>
                        </a:rPr>
                        <a:t>+1 (Đúng)</a:t>
                      </a:r>
                    </a:p>
                  </a:txBody>
                  <a:tcPr anchor="ctr" marL="63500" marR="63500" marT="25400" marB="25400">
                    <a:lnL>
                      <a:noFill/>
                    </a:lnL>
                    <a:lnR>
                      <a:noFill/>
                    </a:lnR>
                    <a:lnT>
                      <a:noFill/>
                    </a:lnT>
                    <a:lnB>
                      <a:noFill/>
                    </a:lnB>
                    <a:solidFill>
                      <a:srgbClr val="D1FAE5"/>
                    </a:solidFill>
                  </a:tcPr>
                </a:tc>
              </a:tr>
            </a:tbl>
          </a:graphicData>
        </a:graphic>
      </p:graphicFrame>
      <p:sp>
        <p:nvSpPr>
          <p:cNvPr id="6" name="TextBox 5"/>
          <p:cNvSpPr txBox="1"/>
          <p:nvPr/>
        </p:nvSpPr>
        <p:spPr>
          <a:xfrm>
            <a:off x="571500" y="381000"/>
            <a:ext cx="11620500" cy="171450"/>
          </a:xfrm>
          <a:prstGeom prst="rect">
            <a:avLst/>
          </a:prstGeom>
          <a:noFill/>
        </p:spPr>
        <p:txBody>
          <a:bodyPr wrap="none" lIns="0" rIns="0" tIns="0" bIns="0" anchor="t">
            <a:spAutoFit/>
          </a:bodyPr>
          <a:lstStyle/>
          <a:p>
            <a:pPr algn="l"/>
            <a:r>
              <a:rPr b="1" sz="1050" i="0" u="none">
                <a:solidFill>
                  <a:srgbClr val="0D9488"/>
                </a:solidFill>
                <a:latin typeface="Be Vietnam Pro"/>
              </a:rPr>
              <a:t>PHẦN 1 • VÒNG LẶP 3 (t = 3) &amp; ĐỐI SOÁT HỘI TỤ</a:t>
            </a:r>
          </a:p>
        </p:txBody>
      </p:sp>
      <p:sp>
        <p:nvSpPr>
          <p:cNvPr id="7" name="TextBox 6"/>
          <p:cNvSpPr txBox="1"/>
          <p:nvPr/>
        </p:nvSpPr>
        <p:spPr>
          <a:xfrm>
            <a:off x="571500" y="590550"/>
            <a:ext cx="11620500" cy="381000"/>
          </a:xfrm>
          <a:prstGeom prst="rect">
            <a:avLst/>
          </a:prstGeom>
          <a:noFill/>
        </p:spPr>
        <p:txBody>
          <a:bodyPr wrap="none" lIns="0" rIns="0" tIns="0" bIns="0" anchor="t">
            <a:spAutoFit/>
          </a:bodyPr>
          <a:lstStyle/>
          <a:p>
            <a:pPr algn="l"/>
            <a:r>
              <a:rPr b="1" sz="2400" i="0" u="none">
                <a:solidFill>
                  <a:srgbClr val="0F2C59"/>
                </a:solidFill>
                <a:latin typeface="Be Vietnam Pro"/>
              </a:rPr>
              <a:t>Vòng lặp 3 &amp; Bảng Đối soát Hội tụ 100%</a:t>
            </a:r>
          </a:p>
        </p:txBody>
      </p:sp>
      <p:sp>
        <p:nvSpPr>
          <p:cNvPr id="8" name="TextBox 7"/>
          <p:cNvSpPr txBox="1"/>
          <p:nvPr/>
        </p:nvSpPr>
        <p:spPr>
          <a:xfrm>
            <a:off x="762000" y="1257300"/>
            <a:ext cx="5619750" cy="171450"/>
          </a:xfrm>
          <a:prstGeom prst="rect">
            <a:avLst/>
          </a:prstGeom>
          <a:noFill/>
        </p:spPr>
        <p:txBody>
          <a:bodyPr wrap="none" lIns="0" rIns="0" tIns="0" bIns="0" anchor="t">
            <a:spAutoFit/>
          </a:bodyPr>
          <a:lstStyle/>
          <a:p>
            <a:pPr algn="l"/>
            <a:r>
              <a:rPr b="1" sz="1050" i="0" u="none">
                <a:solidFill>
                  <a:srgbClr val="0D9488"/>
                </a:solidFill>
                <a:latin typeface="Be Vietnam Pro"/>
              </a:rPr>
              <a:t>QUY TẮC STUMP 3 (SỬA ĐÚNG MẪU 8)</a:t>
            </a:r>
          </a:p>
        </p:txBody>
      </p:sp>
      <p:sp>
        <p:nvSpPr>
          <p:cNvPr id="9" name="TextBox 8"/>
          <p:cNvSpPr txBox="1"/>
          <p:nvPr/>
        </p:nvSpPr>
        <p:spPr>
          <a:xfrm>
            <a:off x="762000" y="1466850"/>
            <a:ext cx="4591050" cy="438150"/>
          </a:xfrm>
          <a:prstGeom prst="rect">
            <a:avLst/>
          </a:prstGeom>
          <a:noFill/>
        </p:spPr>
        <p:txBody>
          <a:bodyPr wrap="square" lIns="0" rIns="0" tIns="0" bIns="0" anchor="t">
            <a:spAutoFit/>
          </a:bodyPr>
          <a:lstStyle/>
          <a:p>
            <a:pPr algn="l"/>
            <a:r>
              <a:rPr b="1" sz="1350" i="0" u="none">
                <a:solidFill>
                  <a:srgbClr val="0F2C59"/>
                </a:solidFill>
                <a:latin typeface="JetBrains Mono"/>
              </a:rPr>
              <a:t>h3(x) = +1 nếu X &gt; 7.5  |  ε_3 = 0.1667 → α_3 = 0.8047</a:t>
            </a:r>
          </a:p>
        </p:txBody>
      </p:sp>
      <p:sp>
        <p:nvSpPr>
          <p:cNvPr id="10" name="TextBox 9"/>
          <p:cNvSpPr txBox="1"/>
          <p:nvPr/>
        </p:nvSpPr>
        <p:spPr>
          <a:xfrm>
            <a:off x="5810250" y="1257300"/>
            <a:ext cx="6381750" cy="171450"/>
          </a:xfrm>
          <a:prstGeom prst="rect">
            <a:avLst/>
          </a:prstGeom>
          <a:noFill/>
        </p:spPr>
        <p:txBody>
          <a:bodyPr wrap="none" lIns="0" rIns="0" tIns="0" bIns="0" anchor="t">
            <a:spAutoFit/>
          </a:bodyPr>
          <a:lstStyle/>
          <a:p>
            <a:pPr algn="l"/>
            <a:r>
              <a:rPr b="1" sz="1050" i="0" u="none">
                <a:solidFill>
                  <a:srgbClr val="2DD4BF"/>
                </a:solidFill>
                <a:latin typeface="Be Vietnam Pro"/>
              </a:rPr>
              <a:t>PHƯƠNG TRÌNH ENSEMBLE TỔNG HỢP</a:t>
            </a:r>
          </a:p>
        </p:txBody>
      </p:sp>
      <p:sp>
        <p:nvSpPr>
          <p:cNvPr id="11" name="TextBox 10"/>
          <p:cNvSpPr txBox="1"/>
          <p:nvPr/>
        </p:nvSpPr>
        <p:spPr>
          <a:xfrm>
            <a:off x="5810250" y="1466850"/>
            <a:ext cx="5715000" cy="438150"/>
          </a:xfrm>
          <a:prstGeom prst="rect">
            <a:avLst/>
          </a:prstGeom>
          <a:noFill/>
        </p:spPr>
        <p:txBody>
          <a:bodyPr wrap="square" lIns="0" rIns="0" tIns="0" bIns="0" anchor="t">
            <a:spAutoFit/>
          </a:bodyPr>
          <a:lstStyle/>
          <a:p>
            <a:pPr algn="l"/>
            <a:r>
              <a:rPr b="1" sz="1350" i="0" u="none">
                <a:solidFill>
                  <a:srgbClr val="FFFFFF"/>
                </a:solidFill>
                <a:latin typeface="JetBrains Mono"/>
              </a:rPr>
              <a:t>H(x) = sign(0.5493*h1(x) + 0.5493*h2(x) + 0.8047*h3(x))</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622024" cy="685800"/>
          </a:xfrm>
          <a:prstGeom prst="rect">
            <a:avLst/>
          </a:prstGeom>
          <a:noFill/>
        </p:spPr>
        <p:txBody>
          <a:bodyPr wrap="none">
            <a:spAutoFit/>
          </a:bodyPr>
          <a:lstStyle/>
          <a:p>
            <a:pPr>
              <a:defRPr sz="950" b="1">
                <a:solidFill>
                  <a:srgbClr val="0E7490"/>
                </a:solidFill>
              </a:defRPr>
            </a:pPr>
            <a:r>
              <a:t>PHẦN 1 • GÓI B — TRỰC QUAN HÓA THUẬT TOÁN ADABOOST (NGUYỄN ANH HÀO)</a:t>
            </a:r>
          </a:p>
          <a:p>
            <a:pPr>
              <a:defRPr sz="1800" b="1">
                <a:solidFill>
                  <a:srgbClr val="0F172A"/>
                </a:solidFill>
              </a:defRPr>
            </a:pPr>
            <a:r>
              <a:t>Minh họa Cơ chế Thích nghi: Phạt Mẫu Sai &amp; Hội tụ Tuyệt đối 100%</a:t>
            </a:r>
          </a:p>
        </p:txBody>
      </p:sp>
      <p:pic>
        <p:nvPicPr>
          <p:cNvPr id="3" name="Picture 2" descr="adaboost_composite.png"/>
          <p:cNvPicPr>
            <a:picLocks noChangeAspect="1"/>
          </p:cNvPicPr>
          <p:nvPr/>
        </p:nvPicPr>
        <p:blipFill>
          <a:blip r:embed="rId2"/>
          <a:stretch>
            <a:fillRect/>
          </a:stretch>
        </p:blipFill>
        <p:spPr>
          <a:xfrm>
            <a:off x="1069848" y="1234440"/>
            <a:ext cx="10058400" cy="5029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66928" y="3383280"/>
            <a:ext cx="11045952" cy="2560320"/>
          </a:xfrm>
          <a:prstGeom prst="roundRect">
            <a:avLst>
              <a:gd name="adj" fmla="val 574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87952" y="1965960"/>
            <a:ext cx="19050" cy="100584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973568" y="1965960"/>
            <a:ext cx="19050" cy="100584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77824" y="3977639"/>
            <a:ext cx="3154680" cy="1691640"/>
          </a:xfrm>
          <a:prstGeom prst="roundRect">
            <a:avLst>
              <a:gd name="adj" fmla="val 10638"/>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489704" y="3977639"/>
            <a:ext cx="3154680" cy="1691640"/>
          </a:xfrm>
          <a:prstGeom prst="roundRect">
            <a:avLst>
              <a:gd name="adj" fmla="val 8547"/>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101583" y="3977639"/>
            <a:ext cx="3154680" cy="1691640"/>
          </a:xfrm>
          <a:prstGeom prst="roundRect">
            <a:avLst>
              <a:gd name="adj" fmla="val 8547"/>
            </a:avLst>
          </a:prstGeom>
          <a:solidFill>
            <a:srgbClr val="0F2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4160520" y="4709159"/>
            <a:ext cx="180975" cy="209550"/>
          </a:xfrm>
          <a:prstGeom prst="rect">
            <a:avLst/>
          </a:prstGeom>
        </p:spPr>
      </p:pic>
      <p:pic>
        <p:nvPicPr>
          <p:cNvPr id="9" name="Picture 8" descr="image.png"/>
          <p:cNvPicPr>
            <a:picLocks noChangeAspect="1"/>
          </p:cNvPicPr>
          <p:nvPr/>
        </p:nvPicPr>
        <p:blipFill>
          <a:blip r:embed="rId3"/>
          <a:stretch>
            <a:fillRect/>
          </a:stretch>
        </p:blipFill>
        <p:spPr>
          <a:xfrm>
            <a:off x="7772400" y="4709159"/>
            <a:ext cx="180975" cy="209550"/>
          </a:xfrm>
          <a:prstGeom prst="rect">
            <a:avLst/>
          </a:prstGeom>
        </p:spPr>
      </p:pic>
      <p:sp>
        <p:nvSpPr>
          <p:cNvPr id="10" name="TextBox 9"/>
          <p:cNvSpPr txBox="1"/>
          <p:nvPr/>
        </p:nvSpPr>
        <p:spPr>
          <a:xfrm>
            <a:off x="571500" y="419100"/>
            <a:ext cx="11620500" cy="171450"/>
          </a:xfrm>
          <a:prstGeom prst="rect">
            <a:avLst/>
          </a:prstGeom>
          <a:noFill/>
        </p:spPr>
        <p:txBody>
          <a:bodyPr wrap="none" lIns="0" rIns="0" tIns="0" bIns="0" anchor="t">
            <a:spAutoFit/>
          </a:bodyPr>
          <a:lstStyle/>
          <a:p>
            <a:pPr algn="l"/>
            <a:r>
              <a:rPr b="1" sz="1050" i="0" u="none">
                <a:solidFill>
                  <a:srgbClr val="0D9488"/>
                </a:solidFill>
                <a:latin typeface="Be Vietnam Pro"/>
              </a:rPr>
              <a:t>PHẦN 2 • GÓI C — THỰC NGHIỆM TRÊN DỮ LIỆU THỰC TẾ (NGUYỄN TRỌNG QUÝ)</a:t>
            </a:r>
          </a:p>
        </p:txBody>
      </p:sp>
      <p:sp>
        <p:nvSpPr>
          <p:cNvPr id="11" name="TextBox 10"/>
          <p:cNvSpPr txBox="1"/>
          <p:nvPr/>
        </p:nvSpPr>
        <p:spPr>
          <a:xfrm>
            <a:off x="571500" y="647700"/>
            <a:ext cx="11620500" cy="409575"/>
          </a:xfrm>
          <a:prstGeom prst="rect">
            <a:avLst/>
          </a:prstGeom>
          <a:noFill/>
        </p:spPr>
        <p:txBody>
          <a:bodyPr wrap="none" lIns="0" rIns="0" tIns="0" bIns="0" anchor="t">
            <a:spAutoFit/>
          </a:bodyPr>
          <a:lstStyle/>
          <a:p>
            <a:pPr algn="l"/>
            <a:r>
              <a:rPr b="1" sz="2550" i="0" u="none">
                <a:solidFill>
                  <a:srgbClr val="0F2C59"/>
                </a:solidFill>
                <a:latin typeface="Be Vietnam Pro"/>
              </a:rPr>
              <a:t>Bài toán &amp; Dữ liệu Thực tế Breast Cancer Wisconsin</a:t>
            </a:r>
          </a:p>
        </p:txBody>
      </p:sp>
      <p:sp>
        <p:nvSpPr>
          <p:cNvPr id="12" name="TextBox 11"/>
          <p:cNvSpPr txBox="1"/>
          <p:nvPr/>
        </p:nvSpPr>
        <p:spPr>
          <a:xfrm>
            <a:off x="877824" y="3566160"/>
            <a:ext cx="10424160" cy="274320"/>
          </a:xfrm>
          <a:prstGeom prst="rect">
            <a:avLst/>
          </a:prstGeom>
          <a:noFill/>
        </p:spPr>
        <p:txBody>
          <a:bodyPr wrap="none" lIns="0" rIns="0" tIns="0" bIns="0" anchor="t">
            <a:spAutoFit/>
          </a:bodyPr>
          <a:lstStyle/>
          <a:p>
            <a:pPr algn="l">
              <a:defRPr sz="1000" b="1">
                <a:solidFill>
                  <a:srgbClr val="0E7490"/>
                </a:solidFill>
              </a:defRPr>
            </a:pPr>
            <a:r>
              <a:rPr b="1" sz="1050" i="0" u="none">
                <a:solidFill>
                  <a:srgbClr val="0D9488"/>
                </a:solidFill>
                <a:latin typeface="Be Vietnam Pro"/>
              </a:rPr>
              <a:t>PIPELINE XỬ LÝ &amp; HUẤN LUYỆN CHUẨN HÓA</a:t>
            </a:r>
          </a:p>
        </p:txBody>
      </p:sp>
      <p:sp>
        <p:nvSpPr>
          <p:cNvPr id="13" name="TextBox 12"/>
          <p:cNvSpPr txBox="1"/>
          <p:nvPr/>
        </p:nvSpPr>
        <p:spPr>
          <a:xfrm>
            <a:off x="566928" y="1828800"/>
            <a:ext cx="3474720" cy="777240"/>
          </a:xfrm>
          <a:prstGeom prst="rect">
            <a:avLst/>
          </a:prstGeom>
          <a:noFill/>
        </p:spPr>
        <p:txBody>
          <a:bodyPr wrap="none" lIns="0" rIns="0" tIns="0" bIns="0" anchor="t">
            <a:spAutoFit/>
          </a:bodyPr>
          <a:lstStyle/>
          <a:p>
            <a:pPr algn="ctr">
              <a:defRPr sz="3800" b="1">
                <a:solidFill>
                  <a:srgbClr val="0E7490"/>
                </a:solidFill>
              </a:defRPr>
            </a:pPr>
            <a:r>
              <a:rPr b="1" sz="4800" i="0" u="none">
                <a:solidFill>
                  <a:srgbClr val="0F2C59"/>
                </a:solidFill>
                <a:latin typeface="JetBrains Mono"/>
              </a:rPr>
              <a:t>569</a:t>
            </a:r>
          </a:p>
        </p:txBody>
      </p:sp>
      <p:sp>
        <p:nvSpPr>
          <p:cNvPr id="14" name="TextBox 13"/>
          <p:cNvSpPr txBox="1"/>
          <p:nvPr/>
        </p:nvSpPr>
        <p:spPr>
          <a:xfrm>
            <a:off x="566928" y="2697480"/>
            <a:ext cx="3474720" cy="365760"/>
          </a:xfrm>
          <a:prstGeom prst="rect">
            <a:avLst/>
          </a:prstGeom>
          <a:noFill/>
        </p:spPr>
        <p:txBody>
          <a:bodyPr wrap="none" lIns="0" rIns="0" tIns="0" bIns="0" anchor="t">
            <a:spAutoFit/>
          </a:bodyPr>
          <a:lstStyle/>
          <a:p>
            <a:pPr algn="ctr">
              <a:defRPr sz="1100" b="1">
                <a:solidFill>
                  <a:srgbClr val="475569"/>
                </a:solidFill>
              </a:defRPr>
            </a:pPr>
            <a:r>
              <a:rPr b="1" sz="1425" i="0" u="none">
                <a:solidFill>
                  <a:srgbClr val="334155"/>
                </a:solidFill>
                <a:latin typeface="Be Vietnam Pro"/>
              </a:rPr>
              <a:t>Mẫu bệnh nhân lâm sàng (UCI)</a:t>
            </a:r>
          </a:p>
        </p:txBody>
      </p:sp>
      <p:sp>
        <p:nvSpPr>
          <p:cNvPr id="15" name="TextBox 14"/>
          <p:cNvSpPr txBox="1"/>
          <p:nvPr/>
        </p:nvSpPr>
        <p:spPr>
          <a:xfrm>
            <a:off x="4352544" y="1828800"/>
            <a:ext cx="3474720" cy="777240"/>
          </a:xfrm>
          <a:prstGeom prst="rect">
            <a:avLst/>
          </a:prstGeom>
          <a:noFill/>
        </p:spPr>
        <p:txBody>
          <a:bodyPr wrap="none" lIns="0" rIns="0" tIns="0" bIns="0" anchor="t">
            <a:spAutoFit/>
          </a:bodyPr>
          <a:lstStyle/>
          <a:p>
            <a:pPr algn="ctr">
              <a:defRPr sz="3800" b="1">
                <a:solidFill>
                  <a:srgbClr val="0E7490"/>
                </a:solidFill>
              </a:defRPr>
            </a:pPr>
            <a:r>
              <a:rPr b="1" sz="4800" i="0" u="none">
                <a:solidFill>
                  <a:srgbClr val="0D9488"/>
                </a:solidFill>
                <a:latin typeface="JetBrains Mono"/>
              </a:rPr>
              <a:t>30</a:t>
            </a:r>
          </a:p>
        </p:txBody>
      </p:sp>
      <p:sp>
        <p:nvSpPr>
          <p:cNvPr id="16" name="TextBox 15"/>
          <p:cNvSpPr txBox="1"/>
          <p:nvPr/>
        </p:nvSpPr>
        <p:spPr>
          <a:xfrm>
            <a:off x="4352544" y="2697480"/>
            <a:ext cx="3474720" cy="365760"/>
          </a:xfrm>
          <a:prstGeom prst="rect">
            <a:avLst/>
          </a:prstGeom>
          <a:noFill/>
        </p:spPr>
        <p:txBody>
          <a:bodyPr wrap="none" lIns="0" rIns="0" tIns="0" bIns="0" anchor="t">
            <a:spAutoFit/>
          </a:bodyPr>
          <a:lstStyle/>
          <a:p>
            <a:pPr algn="ctr">
              <a:defRPr sz="1100" b="1">
                <a:solidFill>
                  <a:srgbClr val="475569"/>
                </a:solidFill>
              </a:defRPr>
            </a:pPr>
            <a:r>
              <a:rPr b="1" sz="1425" i="0" u="none">
                <a:solidFill>
                  <a:srgbClr val="334155"/>
                </a:solidFill>
                <a:latin typeface="Be Vietnam Pro"/>
              </a:rPr>
              <a:t>Đặc trưng số thực ảnh chụp tế bào</a:t>
            </a:r>
          </a:p>
        </p:txBody>
      </p:sp>
      <p:sp>
        <p:nvSpPr>
          <p:cNvPr id="17" name="TextBox 16"/>
          <p:cNvSpPr txBox="1"/>
          <p:nvPr/>
        </p:nvSpPr>
        <p:spPr>
          <a:xfrm>
            <a:off x="8138160" y="1828800"/>
            <a:ext cx="3474720" cy="777240"/>
          </a:xfrm>
          <a:prstGeom prst="rect">
            <a:avLst/>
          </a:prstGeom>
          <a:noFill/>
        </p:spPr>
        <p:txBody>
          <a:bodyPr wrap="none" lIns="0" rIns="0" tIns="0" bIns="0" anchor="t">
            <a:spAutoFit/>
          </a:bodyPr>
          <a:lstStyle/>
          <a:p>
            <a:pPr algn="ctr">
              <a:defRPr sz="3800" b="1">
                <a:solidFill>
                  <a:srgbClr val="0E7490"/>
                </a:solidFill>
              </a:defRPr>
            </a:pPr>
            <a:r>
              <a:rPr b="1" sz="4800" i="0" u="none">
                <a:solidFill>
                  <a:srgbClr val="059669"/>
                </a:solidFill>
                <a:latin typeface="JetBrains Mono"/>
              </a:rPr>
              <a:t>357 / 212</a:t>
            </a:r>
          </a:p>
        </p:txBody>
      </p:sp>
      <p:sp>
        <p:nvSpPr>
          <p:cNvPr id="18" name="TextBox 17"/>
          <p:cNvSpPr txBox="1"/>
          <p:nvPr/>
        </p:nvSpPr>
        <p:spPr>
          <a:xfrm>
            <a:off x="8138160" y="2697480"/>
            <a:ext cx="3474720" cy="365760"/>
          </a:xfrm>
          <a:prstGeom prst="rect">
            <a:avLst/>
          </a:prstGeom>
          <a:noFill/>
        </p:spPr>
        <p:txBody>
          <a:bodyPr wrap="none" lIns="0" rIns="0" tIns="0" bIns="0" anchor="t">
            <a:spAutoFit/>
          </a:bodyPr>
          <a:lstStyle/>
          <a:p>
            <a:pPr algn="ctr">
              <a:defRPr sz="1100" b="1">
                <a:solidFill>
                  <a:srgbClr val="475569"/>
                </a:solidFill>
              </a:defRPr>
            </a:pPr>
            <a:r>
              <a:rPr b="1" sz="1425" i="0" u="none">
                <a:solidFill>
                  <a:srgbClr val="334155"/>
                </a:solidFill>
                <a:latin typeface="Be Vietnam Pro"/>
              </a:rPr>
              <a:t>Benign (0 - Lành) / Malignant (1 - Ác)</a:t>
            </a:r>
          </a:p>
        </p:txBody>
      </p:sp>
      <p:sp>
        <p:nvSpPr>
          <p:cNvPr id="19" name="TextBox 18"/>
          <p:cNvSpPr txBox="1"/>
          <p:nvPr/>
        </p:nvSpPr>
        <p:spPr>
          <a:xfrm>
            <a:off x="1060704" y="4206239"/>
            <a:ext cx="2788920" cy="320040"/>
          </a:xfrm>
          <a:prstGeom prst="rect">
            <a:avLst/>
          </a:prstGeom>
          <a:noFill/>
        </p:spPr>
        <p:txBody>
          <a:bodyPr wrap="none" lIns="0" rIns="0" tIns="0" bIns="0" anchor="t">
            <a:spAutoFit/>
          </a:bodyPr>
          <a:lstStyle/>
          <a:p>
            <a:pPr algn="l">
              <a:defRPr sz="1200" b="1">
                <a:solidFill>
                  <a:srgbClr val="0F172A"/>
                </a:solidFill>
              </a:defRPr>
            </a:pPr>
            <a:r>
              <a:rPr b="1" sz="1500" i="0" u="none">
                <a:solidFill>
                  <a:srgbClr val="0F2C59"/>
                </a:solidFill>
                <a:latin typeface="Be Vietnam Pro"/>
              </a:rPr>
              <a:t>1. Stratified Train/Test</a:t>
            </a:r>
          </a:p>
        </p:txBody>
      </p:sp>
      <p:sp>
        <p:nvSpPr>
          <p:cNvPr id="20" name="TextBox 19"/>
          <p:cNvSpPr txBox="1"/>
          <p:nvPr/>
        </p:nvSpPr>
        <p:spPr>
          <a:xfrm>
            <a:off x="1060704" y="4571999"/>
            <a:ext cx="2788920" cy="914400"/>
          </a:xfrm>
          <a:prstGeom prst="rect">
            <a:avLst/>
          </a:prstGeom>
          <a:noFill/>
        </p:spPr>
        <p:txBody>
          <a:bodyPr wrap="none" lIns="0" rIns="0" tIns="0" bIns="0" anchor="t">
            <a:spAutoFit/>
          </a:bodyPr>
          <a:lstStyle/>
          <a:p>
            <a:pPr algn="l">
              <a:defRPr sz="1050">
                <a:solidFill>
                  <a:srgbClr val="475569"/>
                </a:solidFill>
              </a:defRPr>
            </a:pPr>
            <a:r>
              <a:rPr b="0" sz="1350" i="0" u="none">
                <a:solidFill>
                  <a:srgbClr val="475569"/>
                </a:solidFill>
                <a:latin typeface="Be Vietnam Pro"/>
              </a:rPr>
              <a:t>Chia tập phân tầng tỉ lệ 80/20.</a:t>
            </a:r>
          </a:p>
        </p:txBody>
      </p:sp>
      <p:sp>
        <p:nvSpPr>
          <p:cNvPr id="21" name="TextBox 20"/>
          <p:cNvSpPr txBox="1"/>
          <p:nvPr/>
        </p:nvSpPr>
        <p:spPr>
          <a:xfrm>
            <a:off x="4672584" y="4206239"/>
            <a:ext cx="2788920" cy="320040"/>
          </a:xfrm>
          <a:prstGeom prst="rect">
            <a:avLst/>
          </a:prstGeom>
          <a:noFill/>
        </p:spPr>
        <p:txBody>
          <a:bodyPr wrap="none" lIns="0" rIns="0" tIns="0" bIns="0" anchor="t">
            <a:spAutoFit/>
          </a:bodyPr>
          <a:lstStyle/>
          <a:p>
            <a:pPr algn="l">
              <a:defRPr sz="1200" b="1">
                <a:solidFill>
                  <a:srgbClr val="0F172A"/>
                </a:solidFill>
              </a:defRPr>
            </a:pPr>
            <a:r>
              <a:rPr b="1" sz="1500" i="0" u="none">
                <a:solidFill>
                  <a:srgbClr val="0F2C59"/>
                </a:solidFill>
                <a:latin typeface="Be Vietnam Pro"/>
              </a:rPr>
              <a:t>2. Standard Scaler</a:t>
            </a:r>
          </a:p>
        </p:txBody>
      </p:sp>
      <p:sp>
        <p:nvSpPr>
          <p:cNvPr id="22" name="TextBox 21"/>
          <p:cNvSpPr txBox="1"/>
          <p:nvPr/>
        </p:nvSpPr>
        <p:spPr>
          <a:xfrm>
            <a:off x="4672584" y="4571999"/>
            <a:ext cx="2788920" cy="914400"/>
          </a:xfrm>
          <a:prstGeom prst="rect">
            <a:avLst/>
          </a:prstGeom>
          <a:noFill/>
        </p:spPr>
        <p:txBody>
          <a:bodyPr wrap="square" lIns="0" rIns="0" tIns="0" bIns="0" anchor="t">
            <a:spAutoFit/>
          </a:bodyPr>
          <a:lstStyle/>
          <a:p>
            <a:pPr algn="l">
              <a:defRPr sz="1050">
                <a:solidFill>
                  <a:srgbClr val="475569"/>
                </a:solidFill>
              </a:defRPr>
            </a:pPr>
            <a:r>
              <a:rPr b="0" sz="1350" i="0" u="none">
                <a:solidFill>
                  <a:srgbClr val="475569"/>
                </a:solidFill>
                <a:latin typeface="Be Vietnam Pro"/>
              </a:rPr>
              <a:t>Chuẩn hóa 30 đặc trưng hình thái.</a:t>
            </a:r>
          </a:p>
        </p:txBody>
      </p:sp>
      <p:sp>
        <p:nvSpPr>
          <p:cNvPr id="23" name="TextBox 22"/>
          <p:cNvSpPr txBox="1"/>
          <p:nvPr/>
        </p:nvSpPr>
        <p:spPr>
          <a:xfrm>
            <a:off x="8284463" y="4206239"/>
            <a:ext cx="2788920" cy="320040"/>
          </a:xfrm>
          <a:prstGeom prst="rect">
            <a:avLst/>
          </a:prstGeom>
          <a:noFill/>
        </p:spPr>
        <p:txBody>
          <a:bodyPr wrap="none" lIns="0" rIns="0" tIns="0" bIns="0" anchor="t">
            <a:spAutoFit/>
          </a:bodyPr>
          <a:lstStyle/>
          <a:p>
            <a:pPr algn="l">
              <a:defRPr sz="1200" b="1">
                <a:solidFill>
                  <a:srgbClr val="0F172A"/>
                </a:solidFill>
              </a:defRPr>
            </a:pPr>
            <a:r>
              <a:rPr b="1" sz="1500" i="0" u="none">
                <a:solidFill>
                  <a:srgbClr val="2DD4BF"/>
                </a:solidFill>
                <a:latin typeface="Be Vietnam Pro"/>
              </a:rPr>
              <a:t>3. Huấn luyện Mô hình</a:t>
            </a:r>
          </a:p>
        </p:txBody>
      </p:sp>
      <p:sp>
        <p:nvSpPr>
          <p:cNvPr id="24" name="TextBox 23"/>
          <p:cNvSpPr txBox="1"/>
          <p:nvPr/>
        </p:nvSpPr>
        <p:spPr>
          <a:xfrm>
            <a:off x="8284463" y="4571999"/>
            <a:ext cx="2788920" cy="914400"/>
          </a:xfrm>
          <a:prstGeom prst="rect">
            <a:avLst/>
          </a:prstGeom>
          <a:noFill/>
        </p:spPr>
        <p:txBody>
          <a:bodyPr wrap="square" lIns="0" rIns="0" tIns="0" bIns="0" anchor="t">
            <a:spAutoFit/>
          </a:bodyPr>
          <a:lstStyle/>
          <a:p>
            <a:pPr algn="l">
              <a:defRPr sz="1050">
                <a:solidFill>
                  <a:srgbClr val="475569"/>
                </a:solidFill>
              </a:defRPr>
            </a:pPr>
            <a:r>
              <a:rPr b="0" sz="1350" i="0" u="none">
                <a:solidFill>
                  <a:srgbClr val="F8FAFC"/>
                </a:solidFill>
                <a:latin typeface="Be Vietnam Pro"/>
              </a:rPr>
              <a:t>Đối sánh Baseline với 5 Ensemble.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71500" y="1804987"/>
            <a:ext cx="11049000" cy="4114800"/>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 name="Table 2"/>
          <p:cNvGraphicFramePr>
            <a:graphicFrameLocks noGrp="1"/>
          </p:cNvGraphicFramePr>
          <p:nvPr/>
        </p:nvGraphicFramePr>
        <p:xfrm>
          <a:off x="566928" y="1325880"/>
          <a:ext cx="11045952" cy="3840480"/>
        </p:xfrm>
        <a:graphic>
          <a:graphicData uri="http://schemas.openxmlformats.org/drawingml/2006/table">
            <a:tbl>
              <a:tblPr firstRow="0" bandRow="0">
                <a:lnL>
                  <a:noFill/>
                </a:lnL>
                <a:lnR>
                  <a:noFill/>
                </a:lnR>
                <a:lnT>
                  <a:noFill/>
                </a:lnT>
                <a:lnB>
                  <a:noFill/>
                </a:lnB>
                <a:lnV>
                  <a:noFill/>
                </a:lnV>
                <a:lnH>
                  <a:noFill/>
                </a:lnH>
              </a:tblPr>
              <a:tblGrid>
                <a:gridCol w="3241476"/>
                <a:gridCol w="1334690"/>
                <a:gridCol w="1302990"/>
                <a:gridCol w="974526"/>
                <a:gridCol w="1292274"/>
                <a:gridCol w="1398240"/>
                <a:gridCol w="1504801"/>
              </a:tblGrid>
              <a:tr h="587828">
                <a:tc>
                  <a:txBody>
                    <a:bodyPr/>
                    <a:lstStyle/>
                    <a:p>
                      <a:pPr algn="l">
                        <a:defRPr sz="1100" b="1">
                          <a:solidFill>
                            <a:srgbClr val="1E3A8A"/>
                          </a:solidFill>
                        </a:defRPr>
                      </a:pPr>
                      <a:r>
                        <a:rPr b="1" sz="1425" i="0" u="none">
                          <a:solidFill>
                            <a:srgbClr val="FFFFFF"/>
                          </a:solidFill>
                          <a:latin typeface="Be Vietnam Pro"/>
                        </a:rPr>
                        <a:t>Mô hình</a:t>
                      </a:r>
                    </a:p>
                  </a:txBody>
                  <a:tcPr anchor="ctr" marL="63500" marR="63500" marT="25400" marB="25400">
                    <a:lnL>
                      <a:noFill/>
                    </a:lnL>
                    <a:lnR>
                      <a:noFill/>
                    </a:lnR>
                    <a:lnT>
                      <a:noFill/>
                    </a:lnT>
                    <a:lnB>
                      <a:noFill/>
                    </a:lnB>
                    <a:solidFill>
                      <a:srgbClr val="0F2C59"/>
                    </a:solidFill>
                  </a:tcPr>
                </a:tc>
                <a:tc>
                  <a:txBody>
                    <a:bodyPr/>
                    <a:lstStyle/>
                    <a:p>
                      <a:pPr algn="ctr">
                        <a:defRPr sz="1100" b="1">
                          <a:solidFill>
                            <a:srgbClr val="1E3A8A"/>
                          </a:solidFill>
                        </a:defRPr>
                      </a:pPr>
                      <a:r>
                        <a:rPr b="1" sz="1425" i="0" u="none">
                          <a:solidFill>
                            <a:srgbClr val="FFFFFF"/>
                          </a:solidFill>
                          <a:latin typeface="Be Vietnam Pro"/>
                        </a:rPr>
                        <a:t>Accuracy</a:t>
                      </a:r>
                    </a:p>
                  </a:txBody>
                  <a:tcPr anchor="ctr" marL="63500" marR="63500" marT="25400" marB="25400">
                    <a:lnL>
                      <a:noFill/>
                    </a:lnL>
                    <a:lnR>
                      <a:noFill/>
                    </a:lnR>
                    <a:lnT>
                      <a:noFill/>
                    </a:lnT>
                    <a:lnB>
                      <a:noFill/>
                    </a:lnB>
                    <a:solidFill>
                      <a:srgbClr val="0F2C59"/>
                    </a:solidFill>
                  </a:tcPr>
                </a:tc>
                <a:tc>
                  <a:txBody>
                    <a:bodyPr/>
                    <a:lstStyle/>
                    <a:p>
                      <a:pPr algn="ctr">
                        <a:defRPr sz="1100" b="1">
                          <a:solidFill>
                            <a:srgbClr val="1E3A8A"/>
                          </a:solidFill>
                        </a:defRPr>
                      </a:pPr>
                      <a:r>
                        <a:rPr b="1" sz="1425" i="0" u="none">
                          <a:solidFill>
                            <a:srgbClr val="FFFFFF"/>
                          </a:solidFill>
                          <a:latin typeface="Be Vietnam Pro"/>
                        </a:rPr>
                        <a:t>Precision</a:t>
                      </a:r>
                    </a:p>
                  </a:txBody>
                  <a:tcPr anchor="ctr" marL="63500" marR="63500" marT="25400" marB="25400">
                    <a:lnL>
                      <a:noFill/>
                    </a:lnL>
                    <a:lnR>
                      <a:noFill/>
                    </a:lnR>
                    <a:lnT>
                      <a:noFill/>
                    </a:lnT>
                    <a:lnB>
                      <a:noFill/>
                    </a:lnB>
                    <a:solidFill>
                      <a:srgbClr val="0F2C59"/>
                    </a:solidFill>
                  </a:tcPr>
                </a:tc>
                <a:tc>
                  <a:txBody>
                    <a:bodyPr/>
                    <a:lstStyle/>
                    <a:p>
                      <a:pPr algn="ctr">
                        <a:defRPr sz="1100" b="1">
                          <a:solidFill>
                            <a:srgbClr val="1E3A8A"/>
                          </a:solidFill>
                        </a:defRPr>
                      </a:pPr>
                      <a:r>
                        <a:rPr b="1" sz="1425" i="0" u="none">
                          <a:solidFill>
                            <a:srgbClr val="FFFFFF"/>
                          </a:solidFill>
                          <a:latin typeface="Be Vietnam Pro"/>
                        </a:rPr>
                        <a:t>Recall</a:t>
                      </a:r>
                    </a:p>
                  </a:txBody>
                  <a:tcPr anchor="ctr" marL="63500" marR="63500" marT="25400" marB="25400">
                    <a:lnL>
                      <a:noFill/>
                    </a:lnL>
                    <a:lnR>
                      <a:noFill/>
                    </a:lnR>
                    <a:lnT>
                      <a:noFill/>
                    </a:lnT>
                    <a:lnB>
                      <a:noFill/>
                    </a:lnB>
                    <a:solidFill>
                      <a:srgbClr val="0F2C59"/>
                    </a:solidFill>
                  </a:tcPr>
                </a:tc>
                <a:tc>
                  <a:txBody>
                    <a:bodyPr/>
                    <a:lstStyle/>
                    <a:p>
                      <a:pPr algn="ctr">
                        <a:defRPr sz="1100" b="1">
                          <a:solidFill>
                            <a:srgbClr val="1E3A8A"/>
                          </a:solidFill>
                        </a:defRPr>
                      </a:pPr>
                      <a:r>
                        <a:rPr b="1" sz="1425" i="0" u="none">
                          <a:solidFill>
                            <a:srgbClr val="FFFFFF"/>
                          </a:solidFill>
                          <a:latin typeface="Be Vietnam Pro"/>
                        </a:rPr>
                        <a:t>F1-Score</a:t>
                      </a:r>
                    </a:p>
                  </a:txBody>
                  <a:tcPr anchor="ctr" marL="63500" marR="63500" marT="25400" marB="25400">
                    <a:lnL>
                      <a:noFill/>
                    </a:lnL>
                    <a:lnR>
                      <a:noFill/>
                    </a:lnR>
                    <a:lnT>
                      <a:noFill/>
                    </a:lnT>
                    <a:lnB>
                      <a:noFill/>
                    </a:lnB>
                    <a:solidFill>
                      <a:srgbClr val="0F2C59"/>
                    </a:solidFill>
                  </a:tcPr>
                </a:tc>
                <a:tc>
                  <a:txBody>
                    <a:bodyPr/>
                    <a:lstStyle/>
                    <a:p>
                      <a:pPr algn="ctr">
                        <a:defRPr sz="1100" b="1">
                          <a:solidFill>
                            <a:srgbClr val="1E3A8A"/>
                          </a:solidFill>
                        </a:defRPr>
                      </a:pPr>
                      <a:r>
                        <a:rPr b="1" sz="1425" i="0" u="none">
                          <a:solidFill>
                            <a:srgbClr val="FFFFFF"/>
                          </a:solidFill>
                          <a:latin typeface="Be Vietnam Pro"/>
                        </a:rPr>
                        <a:t>ROC-AUC</a:t>
                      </a:r>
                    </a:p>
                  </a:txBody>
                  <a:tcPr anchor="ctr" marL="63500" marR="63500" marT="25400" marB="25400">
                    <a:lnL>
                      <a:noFill/>
                    </a:lnL>
                    <a:lnR>
                      <a:noFill/>
                    </a:lnR>
                    <a:lnT>
                      <a:noFill/>
                    </a:lnT>
                    <a:lnB>
                      <a:noFill/>
                    </a:lnB>
                    <a:solidFill>
                      <a:srgbClr val="0F2C59"/>
                    </a:solidFill>
                  </a:tcPr>
                </a:tc>
                <a:tc>
                  <a:txBody>
                    <a:bodyPr/>
                    <a:lstStyle/>
                    <a:p>
                      <a:pPr algn="ctr">
                        <a:defRPr sz="1100" b="1">
                          <a:solidFill>
                            <a:srgbClr val="1E3A8A"/>
                          </a:solidFill>
                        </a:defRPr>
                      </a:pPr>
                      <a:r>
                        <a:rPr b="1" sz="1425" i="0" u="none">
                          <a:solidFill>
                            <a:srgbClr val="FFFFFF"/>
                          </a:solidFill>
                          <a:latin typeface="Be Vietnam Pro"/>
                        </a:rPr>
                        <a:t>Fit Time (s)</a:t>
                      </a:r>
                    </a:p>
                  </a:txBody>
                  <a:tcPr anchor="ctr" marL="63500" marR="63500" marT="25400" marB="25400">
                    <a:lnL>
                      <a:noFill/>
                    </a:lnL>
                    <a:lnR>
                      <a:noFill/>
                    </a:lnR>
                    <a:lnT>
                      <a:noFill/>
                    </a:lnT>
                    <a:lnB>
                      <a:noFill/>
                    </a:lnB>
                    <a:solidFill>
                      <a:srgbClr val="0F2C59"/>
                    </a:solidFill>
                  </a:tcPr>
                </a:tc>
              </a:tr>
              <a:tr h="587828">
                <a:tc>
                  <a:txBody>
                    <a:bodyPr/>
                    <a:lstStyle/>
                    <a:p>
                      <a:pPr algn="l">
                        <a:defRPr sz="1100" b="1">
                          <a:solidFill>
                            <a:srgbClr val="10B981"/>
                          </a:solidFill>
                        </a:defRPr>
                      </a:pPr>
                      <a:r>
                        <a:rPr b="1" sz="1425" i="0" u="none">
                          <a:solidFill>
                            <a:srgbClr val="065F46"/>
                          </a:solidFill>
                          <a:latin typeface="Be Vietnam Pro"/>
                        </a:rPr>
                        <a:t>Stacking</a:t>
                      </a:r>
                    </a:p>
                  </a:txBody>
                  <a:tcPr anchor="ctr" marL="63500" marR="63500" marT="25400" marB="25400">
                    <a:lnL>
                      <a:noFill/>
                    </a:lnL>
                    <a:lnR>
                      <a:noFill/>
                    </a:lnR>
                    <a:lnT>
                      <a:noFill/>
                    </a:lnT>
                    <a:lnB>
                      <a:noFill/>
                    </a:lnB>
                    <a:solidFill>
                      <a:srgbClr val="ECFDF5"/>
                    </a:solidFill>
                  </a:tcPr>
                </a:tc>
                <a:tc>
                  <a:txBody>
                    <a:bodyPr/>
                    <a:lstStyle/>
                    <a:p>
                      <a:pPr algn="ctr">
                        <a:defRPr sz="1100" b="1">
                          <a:solidFill>
                            <a:srgbClr val="10B981"/>
                          </a:solidFill>
                        </a:defRPr>
                      </a:pPr>
                      <a:r>
                        <a:rPr b="1" sz="1500" i="0" u="none">
                          <a:solidFill>
                            <a:srgbClr val="059669"/>
                          </a:solidFill>
                          <a:latin typeface="JetBrains Mono"/>
                        </a:rPr>
                        <a:t>99.12%</a:t>
                      </a:r>
                    </a:p>
                  </a:txBody>
                  <a:tcPr anchor="ctr" marL="63500" marR="63500" marT="25400" marB="25400">
                    <a:lnL>
                      <a:noFill/>
                    </a:lnL>
                    <a:lnR>
                      <a:noFill/>
                    </a:lnR>
                    <a:lnT>
                      <a:noFill/>
                    </a:lnT>
                    <a:lnB>
                      <a:noFill/>
                    </a:lnB>
                    <a:solidFill>
                      <a:srgbClr val="ECFDF5"/>
                    </a:solidFill>
                  </a:tcPr>
                </a:tc>
                <a:tc>
                  <a:txBody>
                    <a:bodyPr/>
                    <a:lstStyle/>
                    <a:p>
                      <a:pPr algn="ctr">
                        <a:defRPr sz="1100" b="1">
                          <a:solidFill>
                            <a:srgbClr val="10B981"/>
                          </a:solidFill>
                        </a:defRPr>
                      </a:pPr>
                      <a:r>
                        <a:rPr b="1" sz="1425" i="0" u="none">
                          <a:solidFill>
                            <a:srgbClr val="065F46"/>
                          </a:solidFill>
                          <a:latin typeface="JetBrains Mono"/>
                        </a:rPr>
                        <a:t>1.000</a:t>
                      </a:r>
                    </a:p>
                  </a:txBody>
                  <a:tcPr anchor="ctr" marL="63500" marR="63500" marT="25400" marB="25400">
                    <a:lnL>
                      <a:noFill/>
                    </a:lnL>
                    <a:lnR>
                      <a:noFill/>
                    </a:lnR>
                    <a:lnT>
                      <a:noFill/>
                    </a:lnT>
                    <a:lnB>
                      <a:noFill/>
                    </a:lnB>
                    <a:solidFill>
                      <a:srgbClr val="ECFDF5"/>
                    </a:solidFill>
                  </a:tcPr>
                </a:tc>
                <a:tc>
                  <a:txBody>
                    <a:bodyPr/>
                    <a:lstStyle/>
                    <a:p>
                      <a:pPr algn="ctr">
                        <a:defRPr sz="1100" b="1">
                          <a:solidFill>
                            <a:srgbClr val="10B981"/>
                          </a:solidFill>
                        </a:defRPr>
                      </a:pPr>
                      <a:r>
                        <a:rPr b="1" sz="1425" i="0" u="none">
                          <a:solidFill>
                            <a:srgbClr val="065F46"/>
                          </a:solidFill>
                          <a:latin typeface="JetBrains Mono"/>
                        </a:rPr>
                        <a:t>0.976</a:t>
                      </a:r>
                    </a:p>
                  </a:txBody>
                  <a:tcPr anchor="ctr" marL="63500" marR="63500" marT="25400" marB="25400">
                    <a:lnL>
                      <a:noFill/>
                    </a:lnL>
                    <a:lnR>
                      <a:noFill/>
                    </a:lnR>
                    <a:lnT>
                      <a:noFill/>
                    </a:lnT>
                    <a:lnB>
                      <a:noFill/>
                    </a:lnB>
                    <a:solidFill>
                      <a:srgbClr val="ECFDF5"/>
                    </a:solidFill>
                  </a:tcPr>
                </a:tc>
                <a:tc>
                  <a:txBody>
                    <a:bodyPr/>
                    <a:lstStyle/>
                    <a:p>
                      <a:pPr algn="ctr">
                        <a:defRPr sz="1100" b="1">
                          <a:solidFill>
                            <a:srgbClr val="10B981"/>
                          </a:solidFill>
                        </a:defRPr>
                      </a:pPr>
                      <a:r>
                        <a:rPr b="1" sz="1425" i="0" u="none">
                          <a:solidFill>
                            <a:srgbClr val="065F46"/>
                          </a:solidFill>
                          <a:latin typeface="JetBrains Mono"/>
                        </a:rPr>
                        <a:t>0.988</a:t>
                      </a:r>
                    </a:p>
                  </a:txBody>
                  <a:tcPr anchor="ctr" marL="63500" marR="63500" marT="25400" marB="25400">
                    <a:lnL>
                      <a:noFill/>
                    </a:lnL>
                    <a:lnR>
                      <a:noFill/>
                    </a:lnR>
                    <a:lnT>
                      <a:noFill/>
                    </a:lnT>
                    <a:lnB>
                      <a:noFill/>
                    </a:lnB>
                    <a:solidFill>
                      <a:srgbClr val="ECFDF5"/>
                    </a:solidFill>
                  </a:tcPr>
                </a:tc>
                <a:tc>
                  <a:txBody>
                    <a:bodyPr/>
                    <a:lstStyle/>
                    <a:p>
                      <a:pPr algn="ctr">
                        <a:defRPr sz="1100" b="1">
                          <a:solidFill>
                            <a:srgbClr val="10B981"/>
                          </a:solidFill>
                        </a:defRPr>
                      </a:pPr>
                      <a:r>
                        <a:rPr b="1" sz="1425" i="0" u="none">
                          <a:solidFill>
                            <a:srgbClr val="065F46"/>
                          </a:solidFill>
                          <a:latin typeface="JetBrains Mono"/>
                        </a:rPr>
                        <a:t>0.996</a:t>
                      </a:r>
                    </a:p>
                  </a:txBody>
                  <a:tcPr anchor="ctr" marL="63500" marR="63500" marT="25400" marB="25400">
                    <a:lnL>
                      <a:noFill/>
                    </a:lnL>
                    <a:lnR>
                      <a:noFill/>
                    </a:lnR>
                    <a:lnT>
                      <a:noFill/>
                    </a:lnT>
                    <a:lnB>
                      <a:noFill/>
                    </a:lnB>
                    <a:solidFill>
                      <a:srgbClr val="ECFDF5"/>
                    </a:solidFill>
                  </a:tcPr>
                </a:tc>
                <a:tc>
                  <a:txBody>
                    <a:bodyPr/>
                    <a:lstStyle/>
                    <a:p>
                      <a:pPr algn="ctr">
                        <a:defRPr sz="1100" b="1">
                          <a:solidFill>
                            <a:srgbClr val="10B981"/>
                          </a:solidFill>
                        </a:defRPr>
                      </a:pPr>
                      <a:r>
                        <a:rPr b="1" sz="1425" i="0" u="none">
                          <a:solidFill>
                            <a:srgbClr val="B45309"/>
                          </a:solidFill>
                          <a:latin typeface="JetBrains Mono"/>
                        </a:rPr>
                        <a:t>2.46s</a:t>
                      </a:r>
                    </a:p>
                  </a:txBody>
                  <a:tcPr anchor="ctr" marL="63500" marR="63500" marT="25400" marB="25400">
                    <a:lnL>
                      <a:noFill/>
                    </a:lnL>
                    <a:lnR>
                      <a:noFill/>
                    </a:lnR>
                    <a:lnT>
                      <a:noFill/>
                    </a:lnT>
                    <a:lnB>
                      <a:noFill/>
                    </a:lnB>
                    <a:solidFill>
                      <a:srgbClr val="ECFDF5"/>
                    </a:solidFill>
                  </a:tcPr>
                </a:tc>
              </a:tr>
              <a:tr h="587828">
                <a:tc>
                  <a:txBody>
                    <a:bodyPr/>
                    <a:lstStyle/>
                    <a:p>
                      <a:pPr algn="l">
                        <a:defRPr sz="1050" b="0">
                          <a:solidFill>
                            <a:srgbClr val="1E293B"/>
                          </a:solidFill>
                        </a:defRPr>
                      </a:pPr>
                      <a:r>
                        <a:rPr b="1" sz="1425" i="0" u="none">
                          <a:solidFill>
                            <a:srgbClr val="0F2C59"/>
                          </a:solidFill>
                          <a:latin typeface="Be Vietnam Pro"/>
                        </a:rPr>
                        <a:t>Random Forest</a:t>
                      </a:r>
                    </a:p>
                  </a:txBody>
                  <a:tcPr anchor="ctr" marL="63500" marR="63500" marT="25400" marB="25400">
                    <a:lnL>
                      <a:noFill/>
                    </a:lnL>
                    <a:lnR>
                      <a:noFill/>
                    </a:lnR>
                    <a:lnT>
                      <a:noFill/>
                    </a:lnT>
                    <a:lnB>
                      <a:noFill/>
                    </a:lnB>
                    <a:solidFill>
                      <a:srgbClr val="FFFFFF"/>
                    </a:solidFill>
                  </a:tcPr>
                </a:tc>
                <a:tc>
                  <a:txBody>
                    <a:bodyPr/>
                    <a:lstStyle/>
                    <a:p>
                      <a:pPr algn="ctr">
                        <a:defRPr sz="1050" b="0">
                          <a:solidFill>
                            <a:srgbClr val="1E293B"/>
                          </a:solidFill>
                        </a:defRPr>
                      </a:pPr>
                      <a:r>
                        <a:rPr b="1" sz="1425" i="0" u="none">
                          <a:solidFill>
                            <a:srgbClr val="0F2C59"/>
                          </a:solidFill>
                          <a:latin typeface="JetBrains Mono"/>
                        </a:rPr>
                        <a:t>97.37%</a:t>
                      </a:r>
                    </a:p>
                  </a:txBody>
                  <a:tcPr anchor="ctr" marL="63500" marR="63500" marT="25400" marB="25400">
                    <a:lnL>
                      <a:noFill/>
                    </a:lnL>
                    <a:lnR>
                      <a:noFill/>
                    </a:lnR>
                    <a:lnT>
                      <a:noFill/>
                    </a:lnT>
                    <a:lnB>
                      <a:noFill/>
                    </a:lnB>
                    <a:solidFill>
                      <a:srgbClr val="FFFFFF"/>
                    </a:solidFill>
                  </a:tcPr>
                </a:tc>
                <a:tc>
                  <a:txBody>
                    <a:bodyPr/>
                    <a:lstStyle/>
                    <a:p>
                      <a:pPr algn="ctr">
                        <a:defRPr sz="1050" b="0">
                          <a:solidFill>
                            <a:srgbClr val="1E293B"/>
                          </a:solidFill>
                        </a:defRPr>
                      </a:pPr>
                      <a:r>
                        <a:rPr b="1" sz="1425" i="0" u="none">
                          <a:solidFill>
                            <a:srgbClr val="0D9488"/>
                          </a:solidFill>
                          <a:latin typeface="JetBrains Mono"/>
                        </a:rPr>
                        <a:t>1.000</a:t>
                      </a:r>
                    </a:p>
                  </a:txBody>
                  <a:tcPr anchor="ctr" marL="63500" marR="63500" marT="25400" marB="25400">
                    <a:lnL>
                      <a:noFill/>
                    </a:lnL>
                    <a:lnR>
                      <a:noFill/>
                    </a:lnR>
                    <a:lnT>
                      <a:noFill/>
                    </a:lnT>
                    <a:lnB>
                      <a:noFill/>
                    </a:lnB>
                    <a:solidFill>
                      <a:srgbClr val="FFFFFF"/>
                    </a:solidFill>
                  </a:tcPr>
                </a:tc>
                <a:tc>
                  <a:txBody>
                    <a:bodyPr/>
                    <a:lstStyle/>
                    <a:p>
                      <a:pPr algn="ctr">
                        <a:defRPr sz="1050" b="0">
                          <a:solidFill>
                            <a:srgbClr val="1E293B"/>
                          </a:solidFill>
                        </a:defRPr>
                      </a:pPr>
                      <a:r>
                        <a:rPr b="0" sz="1425" i="0" u="none">
                          <a:solidFill>
                            <a:srgbClr val="0F172A"/>
                          </a:solidFill>
                          <a:latin typeface="JetBrains Mono"/>
                        </a:rPr>
                        <a:t>0.929</a:t>
                      </a:r>
                    </a:p>
                  </a:txBody>
                  <a:tcPr anchor="ctr" marL="63500" marR="63500" marT="25400" marB="25400">
                    <a:lnL>
                      <a:noFill/>
                    </a:lnL>
                    <a:lnR>
                      <a:noFill/>
                    </a:lnR>
                    <a:lnT>
                      <a:noFill/>
                    </a:lnT>
                    <a:lnB>
                      <a:noFill/>
                    </a:lnB>
                    <a:solidFill>
                      <a:srgbClr val="FFFFFF"/>
                    </a:solidFill>
                  </a:tcPr>
                </a:tc>
                <a:tc>
                  <a:txBody>
                    <a:bodyPr/>
                    <a:lstStyle/>
                    <a:p>
                      <a:pPr algn="ctr">
                        <a:defRPr sz="1050" b="0">
                          <a:solidFill>
                            <a:srgbClr val="1E293B"/>
                          </a:solidFill>
                        </a:defRPr>
                      </a:pPr>
                      <a:r>
                        <a:rPr b="0" sz="1425" i="0" u="none">
                          <a:solidFill>
                            <a:srgbClr val="0F172A"/>
                          </a:solidFill>
                          <a:latin typeface="JetBrains Mono"/>
                        </a:rPr>
                        <a:t>0.963</a:t>
                      </a:r>
                    </a:p>
                  </a:txBody>
                  <a:tcPr anchor="ctr" marL="63500" marR="63500" marT="25400" marB="25400">
                    <a:lnL>
                      <a:noFill/>
                    </a:lnL>
                    <a:lnR>
                      <a:noFill/>
                    </a:lnR>
                    <a:lnT>
                      <a:noFill/>
                    </a:lnT>
                    <a:lnB>
                      <a:noFill/>
                    </a:lnB>
                    <a:solidFill>
                      <a:srgbClr val="FFFFFF"/>
                    </a:solidFill>
                  </a:tcPr>
                </a:tc>
                <a:tc>
                  <a:txBody>
                    <a:bodyPr/>
                    <a:lstStyle/>
                    <a:p>
                      <a:pPr algn="ctr">
                        <a:defRPr sz="1050" b="0">
                          <a:solidFill>
                            <a:srgbClr val="1E293B"/>
                          </a:solidFill>
                        </a:defRPr>
                      </a:pPr>
                      <a:r>
                        <a:rPr b="1" sz="1425" i="0" u="none">
                          <a:solidFill>
                            <a:srgbClr val="059669"/>
                          </a:solidFill>
                          <a:latin typeface="JetBrains Mono"/>
                        </a:rPr>
                        <a:t>0.998</a:t>
                      </a:r>
                    </a:p>
                  </a:txBody>
                  <a:tcPr anchor="ctr" marL="63500" marR="63500" marT="25400" marB="25400">
                    <a:lnL>
                      <a:noFill/>
                    </a:lnL>
                    <a:lnR>
                      <a:noFill/>
                    </a:lnR>
                    <a:lnT>
                      <a:noFill/>
                    </a:lnT>
                    <a:lnB>
                      <a:noFill/>
                    </a:lnB>
                    <a:solidFill>
                      <a:srgbClr val="FFFFFF"/>
                    </a:solidFill>
                  </a:tcPr>
                </a:tc>
                <a:tc>
                  <a:txBody>
                    <a:bodyPr/>
                    <a:lstStyle/>
                    <a:p>
                      <a:pPr algn="ctr">
                        <a:defRPr sz="1050" b="0">
                          <a:solidFill>
                            <a:srgbClr val="1E293B"/>
                          </a:solidFill>
                        </a:defRPr>
                      </a:pPr>
                      <a:r>
                        <a:rPr b="0" sz="1425" i="0" u="none">
                          <a:solidFill>
                            <a:srgbClr val="0F172A"/>
                          </a:solidFill>
                          <a:latin typeface="JetBrains Mono"/>
                        </a:rPr>
                        <a:t>0.35s</a:t>
                      </a:r>
                    </a:p>
                  </a:txBody>
                  <a:tcPr anchor="ctr" marL="63500" marR="63500" marT="25400" marB="25400">
                    <a:lnL>
                      <a:noFill/>
                    </a:lnL>
                    <a:lnR>
                      <a:noFill/>
                    </a:lnR>
                    <a:lnT>
                      <a:noFill/>
                    </a:lnT>
                    <a:lnB>
                      <a:noFill/>
                    </a:lnB>
                    <a:solidFill>
                      <a:srgbClr val="FFFFFF"/>
                    </a:solidFill>
                  </a:tcPr>
                </a:tc>
              </a:tr>
              <a:tr h="587828">
                <a:tc>
                  <a:txBody>
                    <a:bodyPr/>
                    <a:lstStyle/>
                    <a:p>
                      <a:pPr algn="l">
                        <a:defRPr sz="1050" b="0">
                          <a:solidFill>
                            <a:srgbClr val="1E293B"/>
                          </a:solidFill>
                        </a:defRPr>
                      </a:pPr>
                      <a:r>
                        <a:rPr b="1" sz="1425" i="0" u="none">
                          <a:solidFill>
                            <a:srgbClr val="0F2C59"/>
                          </a:solidFill>
                          <a:latin typeface="Be Vietnam Pro"/>
                        </a:rPr>
                        <a:t>AdaBoost</a:t>
                      </a:r>
                    </a:p>
                  </a:txBody>
                  <a:tcPr anchor="ctr" marL="63500" marR="63500" marT="25400" marB="25400">
                    <a:lnL>
                      <a:noFill/>
                    </a:lnL>
                    <a:lnR>
                      <a:noFill/>
                    </a:lnR>
                    <a:lnT>
                      <a:noFill/>
                    </a:lnT>
                    <a:lnB>
                      <a:noFill/>
                    </a:lnB>
                    <a:solidFill>
                      <a:srgbClr val="F8FAFC"/>
                    </a:solidFill>
                  </a:tcPr>
                </a:tc>
                <a:tc>
                  <a:txBody>
                    <a:bodyPr/>
                    <a:lstStyle/>
                    <a:p>
                      <a:pPr algn="ctr">
                        <a:defRPr sz="1050" b="0">
                          <a:solidFill>
                            <a:srgbClr val="1E293B"/>
                          </a:solidFill>
                        </a:defRPr>
                      </a:pPr>
                      <a:r>
                        <a:rPr b="1" sz="1425" i="0" u="none">
                          <a:solidFill>
                            <a:srgbClr val="0F2C59"/>
                          </a:solidFill>
                          <a:latin typeface="JetBrains Mono"/>
                        </a:rPr>
                        <a:t>97.37%</a:t>
                      </a:r>
                    </a:p>
                  </a:txBody>
                  <a:tcPr anchor="ctr" marL="63500" marR="63500" marT="25400" marB="25400">
                    <a:lnL>
                      <a:noFill/>
                    </a:lnL>
                    <a:lnR>
                      <a:noFill/>
                    </a:lnR>
                    <a:lnT>
                      <a:noFill/>
                    </a:lnT>
                    <a:lnB>
                      <a:noFill/>
                    </a:lnB>
                    <a:solidFill>
                      <a:srgbClr val="F8FAFC"/>
                    </a:solidFill>
                  </a:tcPr>
                </a:tc>
                <a:tc>
                  <a:txBody>
                    <a:bodyPr/>
                    <a:lstStyle/>
                    <a:p>
                      <a:pPr algn="ctr">
                        <a:defRPr sz="1050" b="0">
                          <a:solidFill>
                            <a:srgbClr val="1E293B"/>
                          </a:solidFill>
                        </a:defRPr>
                      </a:pPr>
                      <a:r>
                        <a:rPr b="1" sz="1425" i="0" u="none">
                          <a:solidFill>
                            <a:srgbClr val="0D9488"/>
                          </a:solidFill>
                          <a:latin typeface="JetBrains Mono"/>
                        </a:rPr>
                        <a:t>1.000</a:t>
                      </a:r>
                    </a:p>
                  </a:txBody>
                  <a:tcPr anchor="ctr" marL="63500" marR="63500" marT="25400" marB="25400">
                    <a:lnL>
                      <a:noFill/>
                    </a:lnL>
                    <a:lnR>
                      <a:noFill/>
                    </a:lnR>
                    <a:lnT>
                      <a:noFill/>
                    </a:lnT>
                    <a:lnB>
                      <a:noFill/>
                    </a:lnB>
                    <a:solidFill>
                      <a:srgbClr val="F8FAFC"/>
                    </a:solidFill>
                  </a:tcPr>
                </a:tc>
                <a:tc>
                  <a:txBody>
                    <a:bodyPr/>
                    <a:lstStyle/>
                    <a:p>
                      <a:pPr algn="ctr">
                        <a:defRPr sz="1050" b="0">
                          <a:solidFill>
                            <a:srgbClr val="1E293B"/>
                          </a:solidFill>
                        </a:defRPr>
                      </a:pPr>
                      <a:r>
                        <a:rPr b="0" sz="1425" i="0" u="none">
                          <a:solidFill>
                            <a:srgbClr val="0F172A"/>
                          </a:solidFill>
                          <a:latin typeface="JetBrains Mono"/>
                        </a:rPr>
                        <a:t>0.929</a:t>
                      </a:r>
                    </a:p>
                  </a:txBody>
                  <a:tcPr anchor="ctr" marL="63500" marR="63500" marT="25400" marB="25400">
                    <a:lnL>
                      <a:noFill/>
                    </a:lnL>
                    <a:lnR>
                      <a:noFill/>
                    </a:lnR>
                    <a:lnT>
                      <a:noFill/>
                    </a:lnT>
                    <a:lnB>
                      <a:noFill/>
                    </a:lnB>
                    <a:solidFill>
                      <a:srgbClr val="F8FAFC"/>
                    </a:solidFill>
                  </a:tcPr>
                </a:tc>
                <a:tc>
                  <a:txBody>
                    <a:bodyPr/>
                    <a:lstStyle/>
                    <a:p>
                      <a:pPr algn="ctr">
                        <a:defRPr sz="1050" b="0">
                          <a:solidFill>
                            <a:srgbClr val="1E293B"/>
                          </a:solidFill>
                        </a:defRPr>
                      </a:pPr>
                      <a:r>
                        <a:rPr b="0" sz="1425" i="0" u="none">
                          <a:solidFill>
                            <a:srgbClr val="0F172A"/>
                          </a:solidFill>
                          <a:latin typeface="JetBrains Mono"/>
                        </a:rPr>
                        <a:t>0.963</a:t>
                      </a:r>
                    </a:p>
                  </a:txBody>
                  <a:tcPr anchor="ctr" marL="63500" marR="63500" marT="25400" marB="25400">
                    <a:lnL>
                      <a:noFill/>
                    </a:lnL>
                    <a:lnR>
                      <a:noFill/>
                    </a:lnR>
                    <a:lnT>
                      <a:noFill/>
                    </a:lnT>
                    <a:lnB>
                      <a:noFill/>
                    </a:lnB>
                    <a:solidFill>
                      <a:srgbClr val="F8FAFC"/>
                    </a:solidFill>
                  </a:tcPr>
                </a:tc>
                <a:tc>
                  <a:txBody>
                    <a:bodyPr/>
                    <a:lstStyle/>
                    <a:p>
                      <a:pPr algn="ctr">
                        <a:defRPr sz="1050" b="0">
                          <a:solidFill>
                            <a:srgbClr val="1E293B"/>
                          </a:solidFill>
                        </a:defRPr>
                      </a:pPr>
                      <a:r>
                        <a:rPr b="0" sz="1425" i="0" u="none">
                          <a:solidFill>
                            <a:srgbClr val="0F172A"/>
                          </a:solidFill>
                          <a:latin typeface="JetBrains Mono"/>
                        </a:rPr>
                        <a:t>0.986</a:t>
                      </a:r>
                    </a:p>
                  </a:txBody>
                  <a:tcPr anchor="ctr" marL="63500" marR="63500" marT="25400" marB="25400">
                    <a:lnL>
                      <a:noFill/>
                    </a:lnL>
                    <a:lnR>
                      <a:noFill/>
                    </a:lnR>
                    <a:lnT>
                      <a:noFill/>
                    </a:lnT>
                    <a:lnB>
                      <a:noFill/>
                    </a:lnB>
                    <a:solidFill>
                      <a:srgbClr val="F8FAFC"/>
                    </a:solidFill>
                  </a:tcPr>
                </a:tc>
                <a:tc>
                  <a:txBody>
                    <a:bodyPr/>
                    <a:lstStyle/>
                    <a:p>
                      <a:pPr algn="ctr">
                        <a:defRPr sz="1050" b="0">
                          <a:solidFill>
                            <a:srgbClr val="1E293B"/>
                          </a:solidFill>
                        </a:defRPr>
                      </a:pPr>
                      <a:r>
                        <a:rPr b="0" sz="1425" i="0" u="none">
                          <a:solidFill>
                            <a:srgbClr val="0F172A"/>
                          </a:solidFill>
                          <a:latin typeface="JetBrains Mono"/>
                        </a:rPr>
                        <a:t>0.18s</a:t>
                      </a:r>
                    </a:p>
                  </a:txBody>
                  <a:tcPr anchor="ctr" marL="63500" marR="63500" marT="25400" marB="25400">
                    <a:lnL>
                      <a:noFill/>
                    </a:lnL>
                    <a:lnR>
                      <a:noFill/>
                    </a:lnR>
                    <a:lnT>
                      <a:noFill/>
                    </a:lnT>
                    <a:lnB>
                      <a:noFill/>
                    </a:lnB>
                    <a:solidFill>
                      <a:srgbClr val="F8FAFC"/>
                    </a:solidFill>
                  </a:tcPr>
                </a:tc>
              </a:tr>
              <a:tr h="587828">
                <a:tc>
                  <a:txBody>
                    <a:bodyPr/>
                    <a:lstStyle/>
                    <a:p>
                      <a:pPr algn="l">
                        <a:defRPr sz="1050" b="0">
                          <a:solidFill>
                            <a:srgbClr val="1E293B"/>
                          </a:solidFill>
                        </a:defRPr>
                      </a:pPr>
                      <a:r>
                        <a:rPr b="1" sz="1425" i="0" u="none">
                          <a:solidFill>
                            <a:srgbClr val="0F2C59"/>
                          </a:solidFill>
                          <a:latin typeface="Be Vietnam Pro"/>
                        </a:rPr>
                        <a:t>Soft Voting</a:t>
                      </a:r>
                    </a:p>
                  </a:txBody>
                  <a:tcPr anchor="ctr" marL="63500" marR="63500" marT="25400" marB="25400">
                    <a:lnL>
                      <a:noFill/>
                    </a:lnL>
                    <a:lnR>
                      <a:noFill/>
                    </a:lnR>
                    <a:lnT>
                      <a:noFill/>
                    </a:lnT>
                    <a:lnB>
                      <a:noFill/>
                    </a:lnB>
                    <a:solidFill>
                      <a:srgbClr val="FFFFFF"/>
                    </a:solidFill>
                  </a:tcPr>
                </a:tc>
                <a:tc>
                  <a:txBody>
                    <a:bodyPr/>
                    <a:lstStyle/>
                    <a:p>
                      <a:pPr algn="ctr">
                        <a:defRPr sz="1050" b="0">
                          <a:solidFill>
                            <a:srgbClr val="1E293B"/>
                          </a:solidFill>
                        </a:defRPr>
                      </a:pPr>
                      <a:r>
                        <a:rPr b="1" sz="1425" i="0" u="none">
                          <a:solidFill>
                            <a:srgbClr val="0F2C59"/>
                          </a:solidFill>
                          <a:latin typeface="JetBrains Mono"/>
                        </a:rPr>
                        <a:t>97.37%</a:t>
                      </a:r>
                    </a:p>
                  </a:txBody>
                  <a:tcPr anchor="ctr" marL="63500" marR="63500" marT="25400" marB="25400">
                    <a:lnL>
                      <a:noFill/>
                    </a:lnL>
                    <a:lnR>
                      <a:noFill/>
                    </a:lnR>
                    <a:lnT>
                      <a:noFill/>
                    </a:lnT>
                    <a:lnB>
                      <a:noFill/>
                    </a:lnB>
                    <a:solidFill>
                      <a:srgbClr val="FFFFFF"/>
                    </a:solidFill>
                  </a:tcPr>
                </a:tc>
                <a:tc>
                  <a:txBody>
                    <a:bodyPr/>
                    <a:lstStyle/>
                    <a:p>
                      <a:pPr algn="ctr">
                        <a:defRPr sz="1050" b="0">
                          <a:solidFill>
                            <a:srgbClr val="1E293B"/>
                          </a:solidFill>
                        </a:defRPr>
                      </a:pPr>
                      <a:r>
                        <a:rPr b="1" sz="1425" i="0" u="none">
                          <a:solidFill>
                            <a:srgbClr val="0D9488"/>
                          </a:solidFill>
                          <a:latin typeface="JetBrains Mono"/>
                        </a:rPr>
                        <a:t>1.000</a:t>
                      </a:r>
                    </a:p>
                  </a:txBody>
                  <a:tcPr anchor="ctr" marL="63500" marR="63500" marT="25400" marB="25400">
                    <a:lnL>
                      <a:noFill/>
                    </a:lnL>
                    <a:lnR>
                      <a:noFill/>
                    </a:lnR>
                    <a:lnT>
                      <a:noFill/>
                    </a:lnT>
                    <a:lnB>
                      <a:noFill/>
                    </a:lnB>
                    <a:solidFill>
                      <a:srgbClr val="FFFFFF"/>
                    </a:solidFill>
                  </a:tcPr>
                </a:tc>
                <a:tc>
                  <a:txBody>
                    <a:bodyPr/>
                    <a:lstStyle/>
                    <a:p>
                      <a:pPr algn="ctr">
                        <a:defRPr sz="1050" b="0">
                          <a:solidFill>
                            <a:srgbClr val="1E293B"/>
                          </a:solidFill>
                        </a:defRPr>
                      </a:pPr>
                      <a:r>
                        <a:rPr b="0" sz="1425" i="0" u="none">
                          <a:solidFill>
                            <a:srgbClr val="0F172A"/>
                          </a:solidFill>
                          <a:latin typeface="JetBrains Mono"/>
                        </a:rPr>
                        <a:t>0.929</a:t>
                      </a:r>
                    </a:p>
                  </a:txBody>
                  <a:tcPr anchor="ctr" marL="63500" marR="63500" marT="25400" marB="25400">
                    <a:lnL>
                      <a:noFill/>
                    </a:lnL>
                    <a:lnR>
                      <a:noFill/>
                    </a:lnR>
                    <a:lnT>
                      <a:noFill/>
                    </a:lnT>
                    <a:lnB>
                      <a:noFill/>
                    </a:lnB>
                    <a:solidFill>
                      <a:srgbClr val="FFFFFF"/>
                    </a:solidFill>
                  </a:tcPr>
                </a:tc>
                <a:tc>
                  <a:txBody>
                    <a:bodyPr/>
                    <a:lstStyle/>
                    <a:p>
                      <a:pPr algn="ctr">
                        <a:defRPr sz="1050" b="0">
                          <a:solidFill>
                            <a:srgbClr val="1E293B"/>
                          </a:solidFill>
                        </a:defRPr>
                      </a:pPr>
                      <a:r>
                        <a:rPr b="0" sz="1425" i="0" u="none">
                          <a:solidFill>
                            <a:srgbClr val="0F172A"/>
                          </a:solidFill>
                          <a:latin typeface="JetBrains Mono"/>
                        </a:rPr>
                        <a:t>0.963</a:t>
                      </a:r>
                    </a:p>
                  </a:txBody>
                  <a:tcPr anchor="ctr" marL="63500" marR="63500" marT="25400" marB="25400">
                    <a:lnL>
                      <a:noFill/>
                    </a:lnL>
                    <a:lnR>
                      <a:noFill/>
                    </a:lnR>
                    <a:lnT>
                      <a:noFill/>
                    </a:lnT>
                    <a:lnB>
                      <a:noFill/>
                    </a:lnB>
                    <a:solidFill>
                      <a:srgbClr val="FFFFFF"/>
                    </a:solidFill>
                  </a:tcPr>
                </a:tc>
                <a:tc>
                  <a:txBody>
                    <a:bodyPr/>
                    <a:lstStyle/>
                    <a:p>
                      <a:pPr algn="ctr">
                        <a:defRPr sz="1050" b="0">
                          <a:solidFill>
                            <a:srgbClr val="1E293B"/>
                          </a:solidFill>
                        </a:defRPr>
                      </a:pPr>
                      <a:r>
                        <a:rPr b="1" sz="1425" i="0" u="none">
                          <a:solidFill>
                            <a:srgbClr val="059669"/>
                          </a:solidFill>
                          <a:latin typeface="JetBrains Mono"/>
                        </a:rPr>
                        <a:t>0.997</a:t>
                      </a:r>
                    </a:p>
                  </a:txBody>
                  <a:tcPr anchor="ctr" marL="63500" marR="63500" marT="25400" marB="25400">
                    <a:lnL>
                      <a:noFill/>
                    </a:lnL>
                    <a:lnR>
                      <a:noFill/>
                    </a:lnR>
                    <a:lnT>
                      <a:noFill/>
                    </a:lnT>
                    <a:lnB>
                      <a:noFill/>
                    </a:lnB>
                    <a:solidFill>
                      <a:srgbClr val="FFFFFF"/>
                    </a:solidFill>
                  </a:tcPr>
                </a:tc>
                <a:tc>
                  <a:txBody>
                    <a:bodyPr/>
                    <a:lstStyle/>
                    <a:p>
                      <a:pPr algn="ctr">
                        <a:defRPr sz="1050" b="0">
                          <a:solidFill>
                            <a:srgbClr val="1E293B"/>
                          </a:solidFill>
                        </a:defRPr>
                      </a:pPr>
                      <a:r>
                        <a:rPr b="0" sz="1425" i="0" u="none">
                          <a:solidFill>
                            <a:srgbClr val="0F172A"/>
                          </a:solidFill>
                          <a:latin typeface="JetBrains Mono"/>
                        </a:rPr>
                        <a:t>0.38s</a:t>
                      </a:r>
                    </a:p>
                  </a:txBody>
                  <a:tcPr anchor="ctr" marL="63500" marR="63500" marT="25400" marB="25400">
                    <a:lnL>
                      <a:noFill/>
                    </a:lnL>
                    <a:lnR>
                      <a:noFill/>
                    </a:lnR>
                    <a:lnT>
                      <a:noFill/>
                    </a:lnT>
                    <a:lnB>
                      <a:noFill/>
                    </a:lnB>
                    <a:solidFill>
                      <a:srgbClr val="FFFFFF"/>
                    </a:solidFill>
                  </a:tcPr>
                </a:tc>
              </a:tr>
              <a:tr h="587828">
                <a:tc>
                  <a:txBody>
                    <a:bodyPr/>
                    <a:lstStyle/>
                    <a:p>
                      <a:pPr algn="l">
                        <a:defRPr sz="1050" b="0">
                          <a:solidFill>
                            <a:srgbClr val="1E293B"/>
                          </a:solidFill>
                        </a:defRPr>
                      </a:pPr>
                      <a:r>
                        <a:rPr b="1" sz="1425" i="0" u="none">
                          <a:solidFill>
                            <a:srgbClr val="0F2C59"/>
                          </a:solidFill>
                          <a:latin typeface="Be Vietnam Pro"/>
                        </a:rPr>
                        <a:t>Hard Voting (From scratch)</a:t>
                      </a:r>
                    </a:p>
                  </a:txBody>
                  <a:tcPr anchor="ctr" marL="63500" marR="63500" marT="25400" marB="25400">
                    <a:lnL>
                      <a:noFill/>
                    </a:lnL>
                    <a:lnR>
                      <a:noFill/>
                    </a:lnR>
                    <a:lnT>
                      <a:noFill/>
                    </a:lnT>
                    <a:lnB>
                      <a:noFill/>
                    </a:lnB>
                    <a:solidFill>
                      <a:srgbClr val="F8FAFC"/>
                    </a:solidFill>
                  </a:tcPr>
                </a:tc>
                <a:tc>
                  <a:txBody>
                    <a:bodyPr/>
                    <a:lstStyle/>
                    <a:p>
                      <a:pPr algn="ctr">
                        <a:defRPr sz="1050" b="0">
                          <a:solidFill>
                            <a:srgbClr val="1E293B"/>
                          </a:solidFill>
                        </a:defRPr>
                      </a:pPr>
                      <a:r>
                        <a:rPr b="1" sz="1425" i="0" u="none">
                          <a:solidFill>
                            <a:srgbClr val="0F2C59"/>
                          </a:solidFill>
                          <a:latin typeface="JetBrains Mono"/>
                        </a:rPr>
                        <a:t>97.37%</a:t>
                      </a:r>
                    </a:p>
                  </a:txBody>
                  <a:tcPr anchor="ctr" marL="63500" marR="63500" marT="25400" marB="25400">
                    <a:lnL>
                      <a:noFill/>
                    </a:lnL>
                    <a:lnR>
                      <a:noFill/>
                    </a:lnR>
                    <a:lnT>
                      <a:noFill/>
                    </a:lnT>
                    <a:lnB>
                      <a:noFill/>
                    </a:lnB>
                    <a:solidFill>
                      <a:srgbClr val="F8FAFC"/>
                    </a:solidFill>
                  </a:tcPr>
                </a:tc>
                <a:tc>
                  <a:txBody>
                    <a:bodyPr/>
                    <a:lstStyle/>
                    <a:p>
                      <a:pPr algn="ctr">
                        <a:defRPr sz="1050" b="0">
                          <a:solidFill>
                            <a:srgbClr val="1E293B"/>
                          </a:solidFill>
                        </a:defRPr>
                      </a:pPr>
                      <a:r>
                        <a:rPr b="1" sz="1425" i="0" u="none">
                          <a:solidFill>
                            <a:srgbClr val="0D9488"/>
                          </a:solidFill>
                          <a:latin typeface="JetBrains Mono"/>
                        </a:rPr>
                        <a:t>1.000</a:t>
                      </a:r>
                    </a:p>
                  </a:txBody>
                  <a:tcPr anchor="ctr" marL="63500" marR="63500" marT="25400" marB="25400">
                    <a:lnL>
                      <a:noFill/>
                    </a:lnL>
                    <a:lnR>
                      <a:noFill/>
                    </a:lnR>
                    <a:lnT>
                      <a:noFill/>
                    </a:lnT>
                    <a:lnB>
                      <a:noFill/>
                    </a:lnB>
                    <a:solidFill>
                      <a:srgbClr val="F8FAFC"/>
                    </a:solidFill>
                  </a:tcPr>
                </a:tc>
                <a:tc>
                  <a:txBody>
                    <a:bodyPr/>
                    <a:lstStyle/>
                    <a:p>
                      <a:pPr algn="ctr">
                        <a:defRPr sz="1050" b="0">
                          <a:solidFill>
                            <a:srgbClr val="1E293B"/>
                          </a:solidFill>
                        </a:defRPr>
                      </a:pPr>
                      <a:r>
                        <a:rPr b="0" sz="1425" i="0" u="none">
                          <a:solidFill>
                            <a:srgbClr val="0F172A"/>
                          </a:solidFill>
                          <a:latin typeface="JetBrains Mono"/>
                        </a:rPr>
                        <a:t>0.929</a:t>
                      </a:r>
                    </a:p>
                  </a:txBody>
                  <a:tcPr anchor="ctr" marL="63500" marR="63500" marT="25400" marB="25400">
                    <a:lnL>
                      <a:noFill/>
                    </a:lnL>
                    <a:lnR>
                      <a:noFill/>
                    </a:lnR>
                    <a:lnT>
                      <a:noFill/>
                    </a:lnT>
                    <a:lnB>
                      <a:noFill/>
                    </a:lnB>
                    <a:solidFill>
                      <a:srgbClr val="F8FAFC"/>
                    </a:solidFill>
                  </a:tcPr>
                </a:tc>
                <a:tc>
                  <a:txBody>
                    <a:bodyPr/>
                    <a:lstStyle/>
                    <a:p>
                      <a:pPr algn="ctr">
                        <a:defRPr sz="1050" b="0">
                          <a:solidFill>
                            <a:srgbClr val="1E293B"/>
                          </a:solidFill>
                        </a:defRPr>
                      </a:pPr>
                      <a:r>
                        <a:rPr b="0" sz="1425" i="0" u="none">
                          <a:solidFill>
                            <a:srgbClr val="0F172A"/>
                          </a:solidFill>
                          <a:latin typeface="JetBrains Mono"/>
                        </a:rPr>
                        <a:t>0.963</a:t>
                      </a:r>
                    </a:p>
                  </a:txBody>
                  <a:tcPr anchor="ctr" marL="63500" marR="63500" marT="25400" marB="25400">
                    <a:lnL>
                      <a:noFill/>
                    </a:lnL>
                    <a:lnR>
                      <a:noFill/>
                    </a:lnR>
                    <a:lnT>
                      <a:noFill/>
                    </a:lnT>
                    <a:lnB>
                      <a:noFill/>
                    </a:lnB>
                    <a:solidFill>
                      <a:srgbClr val="F8FAFC"/>
                    </a:solidFill>
                  </a:tcPr>
                </a:tc>
                <a:tc>
                  <a:txBody>
                    <a:bodyPr/>
                    <a:lstStyle/>
                    <a:p>
                      <a:pPr algn="ctr">
                        <a:defRPr sz="1050" b="0">
                          <a:solidFill>
                            <a:srgbClr val="1E293B"/>
                          </a:solidFill>
                        </a:defRPr>
                      </a:pPr>
                      <a:r>
                        <a:rPr b="0" sz="1425" i="0" u="none">
                          <a:solidFill>
                            <a:srgbClr val="0F172A"/>
                          </a:solidFill>
                          <a:latin typeface="JetBrains Mono"/>
                        </a:rPr>
                        <a:t>0.964</a:t>
                      </a:r>
                    </a:p>
                  </a:txBody>
                  <a:tcPr anchor="ctr" marL="63500" marR="63500" marT="25400" marB="25400">
                    <a:lnL>
                      <a:noFill/>
                    </a:lnL>
                    <a:lnR>
                      <a:noFill/>
                    </a:lnR>
                    <a:lnT>
                      <a:noFill/>
                    </a:lnT>
                    <a:lnB>
                      <a:noFill/>
                    </a:lnB>
                    <a:solidFill>
                      <a:srgbClr val="F8FAFC"/>
                    </a:solidFill>
                  </a:tcPr>
                </a:tc>
                <a:tc>
                  <a:txBody>
                    <a:bodyPr/>
                    <a:lstStyle/>
                    <a:p>
                      <a:pPr algn="ctr">
                        <a:defRPr sz="1050" b="0">
                          <a:solidFill>
                            <a:srgbClr val="1E293B"/>
                          </a:solidFill>
                        </a:defRPr>
                      </a:pPr>
                      <a:r>
                        <a:rPr b="1" sz="1425" i="0" u="none">
                          <a:solidFill>
                            <a:srgbClr val="059669"/>
                          </a:solidFill>
                          <a:latin typeface="JetBrains Mono"/>
                        </a:rPr>
                        <a:t>0.00005s</a:t>
                      </a:r>
                    </a:p>
                  </a:txBody>
                  <a:tcPr anchor="ctr" marL="63500" marR="63500" marT="25400" marB="25400">
                    <a:lnL>
                      <a:noFill/>
                    </a:lnL>
                    <a:lnR>
                      <a:noFill/>
                    </a:lnR>
                    <a:lnT>
                      <a:noFill/>
                    </a:lnT>
                    <a:lnB>
                      <a:noFill/>
                    </a:lnB>
                    <a:solidFill>
                      <a:srgbClr val="F8FAFC"/>
                    </a:solidFill>
                  </a:tcPr>
                </a:tc>
              </a:tr>
              <a:tr h="587832">
                <a:tc>
                  <a:txBody>
                    <a:bodyPr/>
                    <a:lstStyle/>
                    <a:p>
                      <a:pPr algn="l">
                        <a:defRPr sz="1050" b="0">
                          <a:solidFill>
                            <a:srgbClr val="94A3B8"/>
                          </a:solidFill>
                        </a:defRPr>
                      </a:pPr>
                      <a:r>
                        <a:rPr b="1" sz="1425" i="0" u="none">
                          <a:solidFill>
                            <a:srgbClr val="B45309"/>
                          </a:solidFill>
                          <a:latin typeface="Be Vietnam Pro"/>
                        </a:rPr>
                        <a:t>Decision Tree (Baseline)</a:t>
                      </a:r>
                    </a:p>
                  </a:txBody>
                  <a:tcPr anchor="ctr" marL="63500" marR="63500" marT="25400" marB="25400">
                    <a:lnL>
                      <a:noFill/>
                    </a:lnL>
                    <a:lnR>
                      <a:noFill/>
                    </a:lnR>
                    <a:lnT>
                      <a:noFill/>
                    </a:lnT>
                    <a:lnB>
                      <a:noFill/>
                    </a:lnB>
                    <a:solidFill>
                      <a:srgbClr val="FFFBEB"/>
                    </a:solidFill>
                  </a:tcPr>
                </a:tc>
                <a:tc>
                  <a:txBody>
                    <a:bodyPr/>
                    <a:lstStyle/>
                    <a:p>
                      <a:pPr algn="ctr">
                        <a:defRPr sz="1050" b="0">
                          <a:solidFill>
                            <a:srgbClr val="94A3B8"/>
                          </a:solidFill>
                        </a:defRPr>
                      </a:pPr>
                      <a:r>
                        <a:rPr b="1" sz="1425" i="0" u="none">
                          <a:solidFill>
                            <a:srgbClr val="B45309"/>
                          </a:solidFill>
                          <a:latin typeface="JetBrains Mono"/>
                        </a:rPr>
                        <a:t>90.35%</a:t>
                      </a:r>
                    </a:p>
                  </a:txBody>
                  <a:tcPr anchor="ctr" marL="63500" marR="63500" marT="25400" marB="25400">
                    <a:lnL>
                      <a:noFill/>
                    </a:lnL>
                    <a:lnR>
                      <a:noFill/>
                    </a:lnR>
                    <a:lnT>
                      <a:noFill/>
                    </a:lnT>
                    <a:lnB>
                      <a:noFill/>
                    </a:lnB>
                    <a:solidFill>
                      <a:srgbClr val="FFFBEB"/>
                    </a:solidFill>
                  </a:tcPr>
                </a:tc>
                <a:tc>
                  <a:txBody>
                    <a:bodyPr/>
                    <a:lstStyle/>
                    <a:p>
                      <a:pPr algn="ctr">
                        <a:defRPr sz="1050" b="0">
                          <a:solidFill>
                            <a:srgbClr val="94A3B8"/>
                          </a:solidFill>
                        </a:defRPr>
                      </a:pPr>
                      <a:r>
                        <a:rPr b="0" sz="1425" i="0" u="none">
                          <a:solidFill>
                            <a:srgbClr val="B45309"/>
                          </a:solidFill>
                          <a:latin typeface="JetBrains Mono"/>
                        </a:rPr>
                        <a:t>0.919</a:t>
                      </a:r>
                    </a:p>
                  </a:txBody>
                  <a:tcPr anchor="ctr" marL="63500" marR="63500" marT="25400" marB="25400">
                    <a:lnL>
                      <a:noFill/>
                    </a:lnL>
                    <a:lnR>
                      <a:noFill/>
                    </a:lnR>
                    <a:lnT>
                      <a:noFill/>
                    </a:lnT>
                    <a:lnB>
                      <a:noFill/>
                    </a:lnB>
                    <a:solidFill>
                      <a:srgbClr val="FFFBEB"/>
                    </a:solidFill>
                  </a:tcPr>
                </a:tc>
                <a:tc>
                  <a:txBody>
                    <a:bodyPr/>
                    <a:lstStyle/>
                    <a:p>
                      <a:pPr algn="ctr">
                        <a:defRPr sz="1050" b="0">
                          <a:solidFill>
                            <a:srgbClr val="94A3B8"/>
                          </a:solidFill>
                        </a:defRPr>
                      </a:pPr>
                      <a:r>
                        <a:rPr b="0" sz="1425" i="0" u="none">
                          <a:solidFill>
                            <a:srgbClr val="B45309"/>
                          </a:solidFill>
                          <a:latin typeface="JetBrains Mono"/>
                        </a:rPr>
                        <a:t>0.810</a:t>
                      </a:r>
                    </a:p>
                  </a:txBody>
                  <a:tcPr anchor="ctr" marL="63500" marR="63500" marT="25400" marB="25400">
                    <a:lnL>
                      <a:noFill/>
                    </a:lnL>
                    <a:lnR>
                      <a:noFill/>
                    </a:lnR>
                    <a:lnT>
                      <a:noFill/>
                    </a:lnT>
                    <a:lnB>
                      <a:noFill/>
                    </a:lnB>
                    <a:solidFill>
                      <a:srgbClr val="FFFBEB"/>
                    </a:solidFill>
                  </a:tcPr>
                </a:tc>
                <a:tc>
                  <a:txBody>
                    <a:bodyPr/>
                    <a:lstStyle/>
                    <a:p>
                      <a:pPr algn="ctr">
                        <a:defRPr sz="1050" b="0">
                          <a:solidFill>
                            <a:srgbClr val="94A3B8"/>
                          </a:solidFill>
                        </a:defRPr>
                      </a:pPr>
                      <a:r>
                        <a:rPr b="0" sz="1425" i="0" u="none">
                          <a:solidFill>
                            <a:srgbClr val="B45309"/>
                          </a:solidFill>
                          <a:latin typeface="JetBrains Mono"/>
                        </a:rPr>
                        <a:t>0.861</a:t>
                      </a:r>
                    </a:p>
                  </a:txBody>
                  <a:tcPr anchor="ctr" marL="63500" marR="63500" marT="25400" marB="25400">
                    <a:lnL>
                      <a:noFill/>
                    </a:lnL>
                    <a:lnR>
                      <a:noFill/>
                    </a:lnR>
                    <a:lnT>
                      <a:noFill/>
                    </a:lnT>
                    <a:lnB>
                      <a:noFill/>
                    </a:lnB>
                    <a:solidFill>
                      <a:srgbClr val="FFFBEB"/>
                    </a:solidFill>
                  </a:tcPr>
                </a:tc>
                <a:tc>
                  <a:txBody>
                    <a:bodyPr/>
                    <a:lstStyle/>
                    <a:p>
                      <a:pPr algn="ctr">
                        <a:defRPr sz="1050" b="0">
                          <a:solidFill>
                            <a:srgbClr val="94A3B8"/>
                          </a:solidFill>
                        </a:defRPr>
                      </a:pPr>
                      <a:r>
                        <a:rPr b="0" sz="1425" i="0" u="none">
                          <a:solidFill>
                            <a:srgbClr val="B45309"/>
                          </a:solidFill>
                          <a:latin typeface="JetBrains Mono"/>
                        </a:rPr>
                        <a:t>0.834</a:t>
                      </a:r>
                    </a:p>
                  </a:txBody>
                  <a:tcPr anchor="ctr" marL="63500" marR="63500" marT="25400" marB="25400">
                    <a:lnL>
                      <a:noFill/>
                    </a:lnL>
                    <a:lnR>
                      <a:noFill/>
                    </a:lnR>
                    <a:lnT>
                      <a:noFill/>
                    </a:lnT>
                    <a:lnB>
                      <a:noFill/>
                    </a:lnB>
                    <a:solidFill>
                      <a:srgbClr val="FFFBEB"/>
                    </a:solidFill>
                  </a:tcPr>
                </a:tc>
                <a:tc>
                  <a:txBody>
                    <a:bodyPr/>
                    <a:lstStyle/>
                    <a:p>
                      <a:pPr algn="ctr">
                        <a:defRPr sz="1050" b="0">
                          <a:solidFill>
                            <a:srgbClr val="94A3B8"/>
                          </a:solidFill>
                        </a:defRPr>
                      </a:pPr>
                      <a:r>
                        <a:rPr b="0" sz="1425" i="0" u="none">
                          <a:solidFill>
                            <a:srgbClr val="B45309"/>
                          </a:solidFill>
                          <a:latin typeface="JetBrains Mono"/>
                        </a:rPr>
                        <a:t>0.008s</a:t>
                      </a:r>
                    </a:p>
                  </a:txBody>
                  <a:tcPr anchor="ctr" marL="63500" marR="63500" marT="25400" marB="25400">
                    <a:lnL>
                      <a:noFill/>
                    </a:lnL>
                    <a:lnR>
                      <a:noFill/>
                    </a:lnR>
                    <a:lnT>
                      <a:noFill/>
                    </a:lnT>
                    <a:lnB>
                      <a:noFill/>
                    </a:lnB>
                    <a:solidFill>
                      <a:srgbClr val="FFFBEB"/>
                    </a:solidFill>
                  </a:tcPr>
                </a:tc>
              </a:tr>
            </a:tbl>
          </a:graphicData>
        </a:graphic>
      </p:graphicFrame>
      <p:sp>
        <p:nvSpPr>
          <p:cNvPr id="4" name="TextBox 3"/>
          <p:cNvSpPr txBox="1"/>
          <p:nvPr/>
        </p:nvSpPr>
        <p:spPr>
          <a:xfrm>
            <a:off x="571500" y="419100"/>
            <a:ext cx="11620500" cy="171450"/>
          </a:xfrm>
          <a:prstGeom prst="rect">
            <a:avLst/>
          </a:prstGeom>
          <a:noFill/>
        </p:spPr>
        <p:txBody>
          <a:bodyPr wrap="none" lIns="0" rIns="0" tIns="0" bIns="0" anchor="t">
            <a:spAutoFit/>
          </a:bodyPr>
          <a:lstStyle/>
          <a:p>
            <a:pPr algn="l"/>
            <a:r>
              <a:rPr b="1" sz="1050" i="0" u="none">
                <a:solidFill>
                  <a:srgbClr val="0D9488"/>
                </a:solidFill>
                <a:latin typeface="Be Vietnam Pro"/>
              </a:rPr>
              <a:t>PHẦN 2 • ĐỐI SÁNH THỰC NGHIỆM ĐỊNH LƯỢNG</a:t>
            </a:r>
          </a:p>
        </p:txBody>
      </p:sp>
      <p:sp>
        <p:nvSpPr>
          <p:cNvPr id="5" name="TextBox 4"/>
          <p:cNvSpPr txBox="1"/>
          <p:nvPr/>
        </p:nvSpPr>
        <p:spPr>
          <a:xfrm>
            <a:off x="571500" y="647700"/>
            <a:ext cx="11620500" cy="409575"/>
          </a:xfrm>
          <a:prstGeom prst="rect">
            <a:avLst/>
          </a:prstGeom>
          <a:noFill/>
        </p:spPr>
        <p:txBody>
          <a:bodyPr wrap="none" lIns="0" rIns="0" tIns="0" bIns="0" anchor="t">
            <a:spAutoFit/>
          </a:bodyPr>
          <a:lstStyle/>
          <a:p>
            <a:pPr algn="l"/>
            <a:r>
              <a:rPr b="1" sz="2550" i="0" u="none">
                <a:solidFill>
                  <a:srgbClr val="0F2C59"/>
                </a:solidFill>
                <a:latin typeface="Be Vietnam Pro"/>
              </a:rPr>
              <a:t>Bảng So sánh Hiệu năng Toàn diện (Baseline vs Ensemble)</a:t>
            </a:r>
          </a:p>
        </p:txBody>
      </p:sp>
      <p:sp>
        <p:nvSpPr>
          <p:cNvPr id="6" name="Rounded Rectangle 5"/>
          <p:cNvSpPr/>
          <p:nvPr/>
        </p:nvSpPr>
        <p:spPr>
          <a:xfrm>
            <a:off x="566928" y="5303520"/>
            <a:ext cx="11045952" cy="960120"/>
          </a:xfrm>
          <a:prstGeom prst="roundRect">
            <a:avLst/>
          </a:prstGeom>
          <a:solidFill>
            <a:srgbClr val="0F172A"/>
          </a:solidFill>
          <a:ln w="1524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rIns="228600"/>
          <a:lstStyle/>
          <a:p>
            <a:pPr algn="ctr">
              <a:defRPr sz="950" b="1">
                <a:solidFill>
                  <a:srgbClr val="10B981"/>
                </a:solidFill>
              </a:defRPr>
            </a:pPr>
            <a:r>
              <a:t>★ KẾT LUẬN ĐỊNH LƯỢNG THEO METRICS</a:t>
            </a:r>
          </a:p>
          <a:p>
            <a:pPr>
              <a:spcBef>
                <a:spcPts val="300"/>
              </a:spcBef>
              <a:defRPr sz="1050">
                <a:solidFill>
                  <a:srgbClr val="F1F5F9"/>
                </a:solidFill>
              </a:defRPr>
            </a:pPr>
            <a:r>
              <a:t>Stacking đạt Quán quân toàn diện (Accuracy 99.12%, F1-Score 0.988, ROC-AUC 0.998), tăng +8.77% so với Baseline. Cả 5 mô hình Ensemble đều triệt tiêu sai số và vượt trội hoàn toàn Decision Tree đơn lẻ trên toàn bộ 5 chỉ số lâm sàng.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3" name="TextBox 2"/>
          <p:cNvSpPr txBox="1"/>
          <p:nvPr/>
        </p:nvSpPr>
        <p:spPr>
          <a:xfrm>
            <a:off x="571500" y="419100"/>
            <a:ext cx="11620500" cy="171450"/>
          </a:xfrm>
          <a:prstGeom prst="rect">
            <a:avLst/>
          </a:prstGeom>
          <a:noFill/>
        </p:spPr>
        <p:txBody>
          <a:bodyPr wrap="none" lIns="0" rIns="0" tIns="0" bIns="0" anchor="t">
            <a:spAutoFit/>
          </a:bodyPr>
          <a:lstStyle/>
          <a:p>
            <a:pPr>
              <a:defRPr sz="950" b="1">
                <a:solidFill>
                  <a:srgbClr val="0E7490"/>
                </a:solidFill>
              </a:defRPr>
            </a:pPr>
            <a:r>
              <a:t>PHẦN 2 • GÓI C — ĐÁNH GIÁ NĂNG LỰC PHÂN TÁCH XÁC SUẤT (ROC-AUC)</a:t>
            </a:r>
          </a:p>
        </p:txBody>
      </p:sp>
      <p:sp>
        <p:nvSpPr>
          <p:cNvPr id="4" name="TextBox 3"/>
          <p:cNvSpPr txBox="1"/>
          <p:nvPr/>
        </p:nvSpPr>
        <p:spPr>
          <a:xfrm>
            <a:off x="571500" y="647700"/>
            <a:ext cx="11620500" cy="409575"/>
          </a:xfrm>
          <a:prstGeom prst="rect">
            <a:avLst/>
          </a:prstGeom>
          <a:noFill/>
        </p:spPr>
        <p:txBody>
          <a:bodyPr wrap="none" lIns="0" rIns="0" tIns="0" bIns="0" anchor="t">
            <a:spAutoFit/>
          </a:bodyPr>
          <a:lstStyle/>
          <a:p>
            <a:pPr>
              <a:defRPr sz="1800" b="1">
                <a:solidFill>
                  <a:srgbClr val="0F172A"/>
                </a:solidFill>
              </a:defRPr>
            </a:pPr>
            <a:r>
              <a:t>Đường cong ROC &amp; Năng lực Xếp hạng Phân loại Độc lập Ngưỡng</a:t>
            </a:r>
          </a:p>
        </p:txBody>
      </p:sp>
      <p:pic>
        <p:nvPicPr>
          <p:cNvPr id="5" name="Picture 4" descr="roc_curves.png"/>
          <p:cNvPicPr>
            <a:picLocks noChangeAspect="1"/>
          </p:cNvPicPr>
          <p:nvPr/>
        </p:nvPicPr>
        <p:blipFill>
          <a:blip r:embed="rId3"/>
          <a:stretch>
            <a:fillRect/>
          </a:stretch>
        </p:blipFill>
        <p:spPr>
          <a:xfrm>
            <a:off x="566928" y="1234440"/>
            <a:ext cx="5852160" cy="4983480"/>
          </a:xfrm>
          <a:prstGeom prst="rect">
            <a:avLst/>
          </a:prstGeom>
        </p:spPr>
      </p:pic>
      <p:sp>
        <p:nvSpPr>
          <p:cNvPr id="6" name="Rounded Rectangle 5"/>
          <p:cNvSpPr/>
          <p:nvPr/>
        </p:nvSpPr>
        <p:spPr>
          <a:xfrm>
            <a:off x="6629400" y="1234440"/>
            <a:ext cx="4992624" cy="49834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defRPr sz="1300" b="1">
                <a:solidFill>
                  <a:srgbClr val="0E7490"/>
                </a:solidFill>
              </a:defRPr>
            </a:pPr>
            <a:r>
              <a:t>KẾT LUẬN VỀ ĐƯỜNG CONG ROC-AUC</a:t>
            </a:r>
          </a:p>
          <a:p>
            <a:pPr>
              <a:spcBef>
                <a:spcPts val="800"/>
              </a:spcBef>
              <a:defRPr sz="1100" b="1">
                <a:solidFill>
                  <a:srgbClr val="1E293B"/>
                </a:solidFill>
              </a:defRPr>
            </a:pPr>
            <a:r>
              <a:t>• Năng lực phân tách vượt trội của Ensemble:</a:t>
            </a:r>
          </a:p>
          <a:p>
            <a:pPr>
              <a:defRPr sz="1000">
                <a:solidFill>
                  <a:srgbClr val="475569"/>
                </a:solidFill>
              </a:defRPr>
            </a:pPr>
            <a:r>
              <a:t>Đường cong ROC của các mô hình Ensemble (Random Forest AUC = 0.998, Soft Voting = 0.997, Stacking = 0.996) bám sát góc trên bên trái, vượt bậc so với Decision Tree cơ sở (0.834).</a:t>
            </a:r>
          </a:p>
          <a:p>
            <a:pPr>
              <a:spcBef>
                <a:spcPts val="800"/>
              </a:spcBef>
              <a:defRPr sz="1100" b="1">
                <a:solidFill>
                  <a:srgbClr val="1E293B"/>
                </a:solidFill>
              </a:defRPr>
            </a:pPr>
            <a:r>
              <a:t>• Độc lập với ngưỡng cắt (Threshold-independent):</a:t>
            </a:r>
          </a:p>
          <a:p>
            <a:pPr>
              <a:defRPr sz="1000">
                <a:solidFill>
                  <a:srgbClr val="475569"/>
                </a:solidFill>
              </a:defRPr>
            </a:pPr>
            <a:r>
              <a:t>Duy trì True Positive Rate (Recall) gần 100% ngay cả khi tỷ lệ dương tính giả FPR cực thấp (&lt; 2%), chứng minh năng lực phân loại xác suất vô cùng bền vững.</a:t>
            </a:r>
          </a:p>
          <a:p>
            <a:pPr>
              <a:spcBef>
                <a:spcPts val="800"/>
              </a:spcBef>
              <a:defRPr sz="1100" b="1">
                <a:solidFill>
                  <a:srgbClr val="1E293B"/>
                </a:solidFill>
              </a:defRPr>
            </a:pPr>
            <a:r>
              <a:t>• Ý nghĩa trong sàng lọc y tế lâm sàng:</a:t>
            </a:r>
          </a:p>
          <a:p>
            <a:pPr>
              <a:defRPr sz="1000">
                <a:solidFill>
                  <a:srgbClr val="475569"/>
                </a:solidFill>
              </a:defRPr>
            </a:pPr>
            <a:r>
              <a:t>Bác sĩ có thể tự do điều chỉnh ngưỡng xác suất phân loại để tối ưu hóa phát hiện bệnh mà không lo sợ làm tăng đột biến ca chẩn đoán nhầm.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622024" cy="685800"/>
          </a:xfrm>
          <a:prstGeom prst="rect">
            <a:avLst/>
          </a:prstGeom>
          <a:noFill/>
        </p:spPr>
        <p:txBody>
          <a:bodyPr wrap="none">
            <a:spAutoFit/>
          </a:bodyPr>
          <a:lstStyle/>
          <a:p>
            <a:pPr>
              <a:defRPr sz="950" b="1">
                <a:solidFill>
                  <a:srgbClr val="0E7490"/>
                </a:solidFill>
              </a:defRPr>
            </a:pPr>
            <a:r>
              <a:t>PHẦN 2 • GÓI C — MA TRẬN NHẦM LẪN &amp; CHI PHÍ SAI SỐ Y TẾ</a:t>
            </a:r>
          </a:p>
          <a:p>
            <a:pPr>
              <a:defRPr sz="1800" b="1">
                <a:solidFill>
                  <a:srgbClr val="0F172A"/>
                </a:solidFill>
              </a:defRPr>
            </a:pPr>
            <a:r>
              <a:t>Phân tích Chi phí Sai số Lâm sàng (False Positive vs False Negative)</a:t>
            </a:r>
          </a:p>
        </p:txBody>
      </p:sp>
      <p:pic>
        <p:nvPicPr>
          <p:cNvPr id="3" name="Picture 2" descr="confusion_matrices.png"/>
          <p:cNvPicPr>
            <a:picLocks noChangeAspect="1"/>
          </p:cNvPicPr>
          <p:nvPr/>
        </p:nvPicPr>
        <p:blipFill>
          <a:blip r:embed="rId2"/>
          <a:stretch>
            <a:fillRect/>
          </a:stretch>
        </p:blipFill>
        <p:spPr>
          <a:xfrm>
            <a:off x="566928" y="1234440"/>
            <a:ext cx="6583680" cy="4983480"/>
          </a:xfrm>
          <a:prstGeom prst="rect">
            <a:avLst/>
          </a:prstGeom>
        </p:spPr>
      </p:pic>
      <p:sp>
        <p:nvSpPr>
          <p:cNvPr id="4" name="Rounded Rectangle 3"/>
          <p:cNvSpPr/>
          <p:nvPr/>
        </p:nvSpPr>
        <p:spPr>
          <a:xfrm>
            <a:off x="7360920" y="1234440"/>
            <a:ext cx="4261104" cy="49834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274320"/>
          <a:lstStyle/>
          <a:p>
            <a:pPr algn="ctr">
              <a:defRPr sz="1300" b="1">
                <a:solidFill>
                  <a:srgbClr val="0E7490"/>
                </a:solidFill>
              </a:defRPr>
            </a:pPr>
            <a:r>
              <a:t>KẾT LUẬN MA TRẬN NHẦM LẪN</a:t>
            </a:r>
          </a:p>
          <a:p>
            <a:pPr>
              <a:spcBef>
                <a:spcPts val="800"/>
              </a:spcBef>
              <a:defRPr sz="1100" b="1">
                <a:solidFill>
                  <a:srgbClr val="1E293B"/>
                </a:solidFill>
              </a:defRPr>
            </a:pPr>
            <a:r>
              <a:t>• Triệt tiêu Dương tính giả (FP = 0):</a:t>
            </a:r>
          </a:p>
          <a:p>
            <a:pPr>
              <a:defRPr sz="1000">
                <a:solidFill>
                  <a:srgbClr val="475569"/>
                </a:solidFill>
              </a:defRPr>
            </a:pPr>
            <a:r>
              <a:t>Random Forest &amp; AdaBoost đạt Precision = 1.000 (100% trong số 72 ca u lành Benign được dự đoán chính xác tuyệt đối, không có ca nào bị chẩn đoán nhầm thành ung thư ác tính) -&gt; Tránh phẫu thuật sinh thiết xâm lấn và hoảng loạn tâm lý cho người bệnh.</a:t>
            </a:r>
          </a:p>
          <a:p>
            <a:pPr>
              <a:spcBef>
                <a:spcPts val="800"/>
              </a:spcBef>
              <a:defRPr sz="1100" b="1">
                <a:solidFill>
                  <a:srgbClr val="1E293B"/>
                </a:solidFill>
              </a:defRPr>
            </a:pPr>
            <a:r>
              <a:t>• Kiểm soát chặt chẽ ca bỏ sót (FN):</a:t>
            </a:r>
          </a:p>
          <a:p>
            <a:pPr>
              <a:defRPr sz="1000">
                <a:solidFill>
                  <a:srgbClr val="475569"/>
                </a:solidFill>
              </a:defRPr>
            </a:pPr>
            <a:r>
              <a:t>Chỉ có 3/42 ca ác tính Malignant bị bỏ sót trên toàn bộ tập test (Recall đạt 92.9% - 97.6% trên Stacking), thu hẹp tối đa sai sót so với Decision Tree (bỏ sót 8 ca, Recall chỉ 81.0%).</a:t>
            </a:r>
          </a:p>
          <a:p>
            <a:pPr>
              <a:spcBef>
                <a:spcPts val="800"/>
              </a:spcBef>
              <a:defRPr sz="1100" b="1">
                <a:solidFill>
                  <a:srgbClr val="1E293B"/>
                </a:solidFill>
              </a:defRPr>
            </a:pPr>
            <a:r>
              <a:t>• Ý nghĩa sàng lọc thực tế:</a:t>
            </a:r>
          </a:p>
          <a:p>
            <a:pPr>
              <a:defRPr sz="1000">
                <a:solidFill>
                  <a:srgbClr val="475569"/>
                </a:solidFill>
              </a:defRPr>
            </a:pPr>
            <a:r>
              <a:t>Trong bài toán ung thư, việc kết hợp đa mô hình mang lại độ tin cậy vượt bậc, hạn chế tối đa rủi ro chẩn đoán sai lệch.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622024" cy="685800"/>
          </a:xfrm>
          <a:prstGeom prst="rect">
            <a:avLst/>
          </a:prstGeom>
          <a:noFill/>
        </p:spPr>
        <p:txBody>
          <a:bodyPr wrap="none">
            <a:spAutoFit/>
          </a:bodyPr>
          <a:lstStyle/>
          <a:p>
            <a:pPr>
              <a:defRPr sz="950" b="1">
                <a:solidFill>
                  <a:srgbClr val="0E7490"/>
                </a:solidFill>
              </a:defRPr>
            </a:pPr>
            <a:r>
              <a:t>PHẦN 2 • GÓI C — TỔNG KẾT ĐÁNH GIÁ THỰC NGHIỆM TOÀN DIỆN</a:t>
            </a:r>
          </a:p>
          <a:p>
            <a:pPr>
              <a:defRPr sz="1900" b="1">
                <a:solidFill>
                  <a:srgbClr val="0F172A"/>
                </a:solidFill>
              </a:defRPr>
            </a:pPr>
            <a:r>
              <a:t>KẾT LUẬN THỰC NGHIỆM TỔNG THỂ VỀ ENSEMBLE LEARNING</a:t>
            </a:r>
          </a:p>
        </p:txBody>
      </p:sp>
      <p:sp>
        <p:nvSpPr>
          <p:cNvPr id="3" name="Rounded Rectangle 2"/>
          <p:cNvSpPr/>
          <p:nvPr/>
        </p:nvSpPr>
        <p:spPr>
          <a:xfrm>
            <a:off x="566928" y="1325880"/>
            <a:ext cx="3520440" cy="4892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228600"/>
          <a:lstStyle/>
          <a:p>
            <a:pPr algn="ctr">
              <a:defRPr sz="900" b="1">
                <a:solidFill>
                  <a:srgbClr val="166534"/>
                </a:solidFill>
              </a:defRPr>
            </a:pPr>
            <a:r>
              <a:t>HIỆU NĂNG ĐỘT PHÁ (+8.8%)</a:t>
            </a:r>
          </a:p>
          <a:p>
            <a:pPr>
              <a:spcBef>
                <a:spcPts val="800"/>
              </a:spcBef>
              <a:spcAft>
                <a:spcPts val="1200"/>
              </a:spcAft>
              <a:defRPr sz="1400" b="1">
                <a:solidFill>
                  <a:srgbClr val="0F172A"/>
                </a:solidFill>
              </a:defRPr>
            </a:pPr>
            <a:r>
              <a:t>Vượt Trội Mọi Mô Hình Cơ Sở</a:t>
            </a:r>
          </a:p>
          <a:p>
            <a:pPr>
              <a:spcBef>
                <a:spcPts val="800"/>
              </a:spcBef>
              <a:defRPr sz="1100">
                <a:solidFill>
                  <a:srgbClr val="334155"/>
                </a:solidFill>
              </a:defRPr>
            </a:pPr>
            <a:r>
              <a:t>✔  Ensemble nâng độ chính xác từ 90.35% (Cây đơn lẻ) lên 97.37% – 99.12%.</a:t>
            </a:r>
          </a:p>
          <a:p>
            <a:pPr>
              <a:spcBef>
                <a:spcPts val="800"/>
              </a:spcBef>
              <a:defRPr sz="1100">
                <a:solidFill>
                  <a:srgbClr val="334155"/>
                </a:solidFill>
              </a:defRPr>
            </a:pPr>
            <a:r>
              <a:t>✔  Stacking dẫn đầu với F1 = 0.988, ROC-AUC = 0.996 nhờ cơ chế Meta-learning tối ưu hóa xác suất.</a:t>
            </a:r>
          </a:p>
          <a:p>
            <a:pPr>
              <a:spcBef>
                <a:spcPts val="800"/>
              </a:spcBef>
              <a:defRPr sz="1100">
                <a:solidFill>
                  <a:srgbClr val="334155"/>
                </a:solidFill>
              </a:defRPr>
            </a:pPr>
            <a:r>
              <a:t>✔  Tất cả các phương pháp Ensemble đều vượt trội hơn mô hình Baseline.</a:t>
            </a:r>
          </a:p>
        </p:txBody>
      </p:sp>
      <p:sp>
        <p:nvSpPr>
          <p:cNvPr id="4" name="Rounded Rectangle 3"/>
          <p:cNvSpPr/>
          <p:nvPr/>
        </p:nvSpPr>
        <p:spPr>
          <a:xfrm>
            <a:off x="4334256" y="1325880"/>
            <a:ext cx="3520440" cy="4892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228600"/>
          <a:lstStyle/>
          <a:p>
            <a:pPr algn="ctr">
              <a:defRPr sz="900" b="1">
                <a:solidFill>
                  <a:srgbClr val="075985"/>
                </a:solidFill>
              </a:defRPr>
            </a:pPr>
            <a:r>
              <a:t>CHỐNG OVERFITTING BỀN VỮNG</a:t>
            </a:r>
          </a:p>
          <a:p>
            <a:pPr>
              <a:spcBef>
                <a:spcPts val="800"/>
              </a:spcBef>
              <a:spcAft>
                <a:spcPts val="1200"/>
              </a:spcAft>
              <a:defRPr sz="1400" b="1">
                <a:solidFill>
                  <a:srgbClr val="0F172A"/>
                </a:solidFill>
              </a:defRPr>
            </a:pPr>
            <a:r>
              <a:t>Triệt Tiêu Phương Sai &amp; Biến Động</a:t>
            </a:r>
          </a:p>
          <a:p>
            <a:pPr>
              <a:spcBef>
                <a:spcPts val="800"/>
              </a:spcBef>
              <a:defRPr sz="1100">
                <a:solidFill>
                  <a:srgbClr val="334155"/>
                </a:solidFill>
              </a:defRPr>
            </a:pPr>
            <a:r>
              <a:t>✔  Khắc phục hoàn toàn hiện tượng học vẹt và độ bất ổn định cao của Decision Tree đơn lẻ.</a:t>
            </a:r>
          </a:p>
          <a:p>
            <a:pPr>
              <a:spcBef>
                <a:spcPts val="800"/>
              </a:spcBef>
              <a:defRPr sz="1100">
                <a:solidFill>
                  <a:srgbClr val="334155"/>
                </a:solidFill>
              </a:defRPr>
            </a:pPr>
            <a:r>
              <a:t>✔  Random Forest làm mịn ranh giới bằng trung bình hóa hàng trăm cây độc lập.</a:t>
            </a:r>
          </a:p>
          <a:p>
            <a:pPr>
              <a:spcBef>
                <a:spcPts val="800"/>
              </a:spcBef>
              <a:defRPr sz="1100">
                <a:solidFill>
                  <a:srgbClr val="334155"/>
                </a:solidFill>
              </a:defRPr>
            </a:pPr>
            <a:r>
              <a:t>✔  AdaBoost tập trung tuần tự vào các mẫu khó, tối ưu hóa triệt để vùng biên quyết định.</a:t>
            </a:r>
          </a:p>
        </p:txBody>
      </p:sp>
      <p:sp>
        <p:nvSpPr>
          <p:cNvPr id="5" name="Rounded Rectangle 4"/>
          <p:cNvSpPr/>
          <p:nvPr/>
        </p:nvSpPr>
        <p:spPr>
          <a:xfrm>
            <a:off x="8101584" y="1325880"/>
            <a:ext cx="3520440" cy="4892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228600"/>
          <a:lstStyle/>
          <a:p>
            <a:pPr algn="ctr">
              <a:defRPr sz="900" b="1">
                <a:solidFill>
                  <a:srgbClr val="92400E"/>
                </a:solidFill>
              </a:defRPr>
            </a:pPr>
            <a:r>
              <a:t>SẴN SÀNG ỨNG DỤNG LÂM SÀNG</a:t>
            </a:r>
          </a:p>
          <a:p>
            <a:pPr>
              <a:spcBef>
                <a:spcPts val="800"/>
              </a:spcBef>
              <a:spcAft>
                <a:spcPts val="1200"/>
              </a:spcAft>
              <a:defRPr sz="1400" b="1">
                <a:solidFill>
                  <a:srgbClr val="0F172A"/>
                </a:solidFill>
              </a:defRPr>
            </a:pPr>
            <a:r>
              <a:t>Độ Tin Cậy Y Tế Chuẩn Mực</a:t>
            </a:r>
          </a:p>
          <a:p>
            <a:pPr>
              <a:spcBef>
                <a:spcPts val="800"/>
              </a:spcBef>
              <a:defRPr sz="1100">
                <a:solidFill>
                  <a:srgbClr val="334155"/>
                </a:solidFill>
              </a:defRPr>
            </a:pPr>
            <a:r>
              <a:t>✔  Precision = 1.000: Không có bất kỳ ca lành tính nào bị chẩn đoán nhầm thành ung thư ác tính.</a:t>
            </a:r>
          </a:p>
          <a:p>
            <a:pPr>
              <a:spcBef>
                <a:spcPts val="800"/>
              </a:spcBef>
              <a:defRPr sz="1100">
                <a:solidFill>
                  <a:srgbClr val="334155"/>
                </a:solidFill>
              </a:defRPr>
            </a:pPr>
            <a:r>
              <a:t>✔  Thời gian dự đoán suy luận cực nhanh (vài micro-giây), hoàn hảo cho thời gian thực.</a:t>
            </a:r>
          </a:p>
          <a:p>
            <a:pPr>
              <a:spcBef>
                <a:spcPts val="800"/>
              </a:spcBef>
              <a:defRPr sz="1100">
                <a:solidFill>
                  <a:srgbClr val="334155"/>
                </a:solidFill>
              </a:defRPr>
            </a:pPr>
            <a:r>
              <a:t>✔  Đóng vai trò trợ lý ý kiến thứ hai (Second Opinion) tin cậy cho bác sĩ chẩn đoán hình ảnh.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66928" y="2011680"/>
            <a:ext cx="3529584" cy="4160520"/>
          </a:xfrm>
          <a:prstGeom prst="roundRect">
            <a:avLst>
              <a:gd name="adj" fmla="val 383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34256" y="2011680"/>
            <a:ext cx="3529584" cy="4160520"/>
          </a:xfrm>
          <a:prstGeom prst="roundRect">
            <a:avLst>
              <a:gd name="adj" fmla="val 383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92440" y="2011680"/>
            <a:ext cx="3529584" cy="4160520"/>
          </a:xfrm>
          <a:prstGeom prst="roundRect">
            <a:avLst>
              <a:gd name="adj" fmla="val 383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795528" y="2331720"/>
            <a:ext cx="457200" cy="457200"/>
          </a:xfrm>
          <a:prstGeom prst="rect">
            <a:avLst/>
          </a:prstGeom>
        </p:spPr>
      </p:pic>
      <p:pic>
        <p:nvPicPr>
          <p:cNvPr id="6" name="Picture 5" descr="image.png"/>
          <p:cNvPicPr>
            <a:picLocks noChangeAspect="1"/>
          </p:cNvPicPr>
          <p:nvPr/>
        </p:nvPicPr>
        <p:blipFill>
          <a:blip r:embed="rId3"/>
          <a:stretch>
            <a:fillRect/>
          </a:stretch>
        </p:blipFill>
        <p:spPr>
          <a:xfrm>
            <a:off x="4562856" y="2331720"/>
            <a:ext cx="457200" cy="457200"/>
          </a:xfrm>
          <a:prstGeom prst="rect">
            <a:avLst/>
          </a:prstGeom>
        </p:spPr>
      </p:pic>
      <p:pic>
        <p:nvPicPr>
          <p:cNvPr id="7" name="Picture 6" descr="image.png"/>
          <p:cNvPicPr>
            <a:picLocks noChangeAspect="1"/>
          </p:cNvPicPr>
          <p:nvPr/>
        </p:nvPicPr>
        <p:blipFill>
          <a:blip r:embed="rId4"/>
          <a:stretch>
            <a:fillRect/>
          </a:stretch>
        </p:blipFill>
        <p:spPr>
          <a:xfrm>
            <a:off x="8321040" y="2331720"/>
            <a:ext cx="457200" cy="457200"/>
          </a:xfrm>
          <a:prstGeom prst="rect">
            <a:avLst/>
          </a:prstGeom>
        </p:spPr>
      </p:pic>
      <p:pic>
        <p:nvPicPr>
          <p:cNvPr id="8" name="Picture 7" descr="image.png"/>
          <p:cNvPicPr>
            <a:picLocks noChangeAspect="1"/>
          </p:cNvPicPr>
          <p:nvPr/>
        </p:nvPicPr>
        <p:blipFill>
          <a:blip r:embed="rId5"/>
          <a:stretch>
            <a:fillRect/>
          </a:stretch>
        </p:blipFill>
        <p:spPr>
          <a:xfrm>
            <a:off x="914400" y="2450592"/>
            <a:ext cx="209550" cy="209550"/>
          </a:xfrm>
          <a:prstGeom prst="rect">
            <a:avLst/>
          </a:prstGeom>
        </p:spPr>
      </p:pic>
      <p:pic>
        <p:nvPicPr>
          <p:cNvPr id="9" name="Picture 8" descr="image.png"/>
          <p:cNvPicPr>
            <a:picLocks noChangeAspect="1"/>
          </p:cNvPicPr>
          <p:nvPr/>
        </p:nvPicPr>
        <p:blipFill>
          <a:blip r:embed="rId6"/>
          <a:stretch>
            <a:fillRect/>
          </a:stretch>
        </p:blipFill>
        <p:spPr>
          <a:xfrm>
            <a:off x="4681728" y="2450592"/>
            <a:ext cx="180975" cy="209550"/>
          </a:xfrm>
          <a:prstGeom prst="rect">
            <a:avLst/>
          </a:prstGeom>
        </p:spPr>
      </p:pic>
      <p:pic>
        <p:nvPicPr>
          <p:cNvPr id="10" name="Picture 9" descr="image.png"/>
          <p:cNvPicPr>
            <a:picLocks noChangeAspect="1"/>
          </p:cNvPicPr>
          <p:nvPr/>
        </p:nvPicPr>
        <p:blipFill>
          <a:blip r:embed="rId7"/>
          <a:stretch>
            <a:fillRect/>
          </a:stretch>
        </p:blipFill>
        <p:spPr>
          <a:xfrm>
            <a:off x="8439912" y="2450592"/>
            <a:ext cx="238125" cy="209550"/>
          </a:xfrm>
          <a:prstGeom prst="rect">
            <a:avLst/>
          </a:prstGeom>
        </p:spPr>
      </p:pic>
      <p:sp>
        <p:nvSpPr>
          <p:cNvPr id="11" name="TextBox 10"/>
          <p:cNvSpPr txBox="1"/>
          <p:nvPr/>
        </p:nvSpPr>
        <p:spPr>
          <a:xfrm>
            <a:off x="571500" y="419100"/>
            <a:ext cx="11620500" cy="171450"/>
          </a:xfrm>
          <a:prstGeom prst="rect">
            <a:avLst/>
          </a:prstGeom>
          <a:noFill/>
        </p:spPr>
        <p:txBody>
          <a:bodyPr wrap="none" lIns="0" rIns="0" tIns="0" bIns="0" anchor="t">
            <a:spAutoFit/>
          </a:bodyPr>
          <a:lstStyle/>
          <a:p>
            <a:pPr algn="l"/>
            <a:r>
              <a:rPr b="1" sz="1050" i="0" u="none">
                <a:solidFill>
                  <a:srgbClr val="0D9488"/>
                </a:solidFill>
                <a:latin typeface="Be Vietnam Pro"/>
              </a:rPr>
              <a:t>PHẦN 2 • TỔNG KẾT HỌC THUẬT &amp; ỨNG DỤNG LÂM SÀNG</a:t>
            </a:r>
          </a:p>
        </p:txBody>
      </p:sp>
      <p:sp>
        <p:nvSpPr>
          <p:cNvPr id="12" name="TextBox 11"/>
          <p:cNvSpPr txBox="1"/>
          <p:nvPr/>
        </p:nvSpPr>
        <p:spPr>
          <a:xfrm>
            <a:off x="571500" y="647700"/>
            <a:ext cx="11620500" cy="409575"/>
          </a:xfrm>
          <a:prstGeom prst="rect">
            <a:avLst/>
          </a:prstGeom>
          <a:noFill/>
        </p:spPr>
        <p:txBody>
          <a:bodyPr wrap="none" lIns="0" rIns="0" tIns="0" bIns="0" anchor="t">
            <a:spAutoFit/>
          </a:bodyPr>
          <a:lstStyle/>
          <a:p>
            <a:pPr algn="l"/>
            <a:r>
              <a:rPr b="1" sz="2550" i="0" u="none">
                <a:solidFill>
                  <a:srgbClr val="0F2C59"/>
                </a:solidFill>
                <a:latin typeface="Be Vietnam Pro"/>
              </a:rPr>
              <a:t>Phân tích Đánh đổi (Trade-offs) &amp; Nhận xét Khoa học</a:t>
            </a:r>
          </a:p>
        </p:txBody>
      </p:sp>
      <p:sp>
        <p:nvSpPr>
          <p:cNvPr id="13" name="TextBox 12"/>
          <p:cNvSpPr txBox="1"/>
          <p:nvPr/>
        </p:nvSpPr>
        <p:spPr>
          <a:xfrm>
            <a:off x="795528" y="3017520"/>
            <a:ext cx="3063240" cy="365760"/>
          </a:xfrm>
          <a:prstGeom prst="rect">
            <a:avLst/>
          </a:prstGeom>
          <a:noFill/>
        </p:spPr>
        <p:txBody>
          <a:bodyPr wrap="none" lIns="0" rIns="0" tIns="0" bIns="0" anchor="t">
            <a:spAutoFit/>
          </a:bodyPr>
          <a:lstStyle/>
          <a:p>
            <a:pPr algn="l">
              <a:defRPr sz="1300" b="1">
                <a:solidFill>
                  <a:srgbClr val="0F172A"/>
                </a:solidFill>
              </a:defRPr>
            </a:pPr>
            <a:r>
              <a:rPr b="1" sz="1650" i="0" u="none">
                <a:solidFill>
                  <a:srgbClr val="0F2C59"/>
                </a:solidFill>
                <a:latin typeface="Be Vietnam Pro"/>
              </a:rPr>
              <a:t>Bias-Variance Tradeoff</a:t>
            </a:r>
          </a:p>
        </p:txBody>
      </p:sp>
      <p:sp>
        <p:nvSpPr>
          <p:cNvPr id="14" name="TextBox 13"/>
          <p:cNvSpPr txBox="1"/>
          <p:nvPr/>
        </p:nvSpPr>
        <p:spPr>
          <a:xfrm>
            <a:off x="4562856" y="3017520"/>
            <a:ext cx="3063240" cy="365760"/>
          </a:xfrm>
          <a:prstGeom prst="rect">
            <a:avLst/>
          </a:prstGeom>
          <a:noFill/>
        </p:spPr>
        <p:txBody>
          <a:bodyPr wrap="none" lIns="0" rIns="0" tIns="0" bIns="0" anchor="t">
            <a:spAutoFit/>
          </a:bodyPr>
          <a:lstStyle/>
          <a:p>
            <a:pPr algn="l">
              <a:defRPr sz="1300" b="1">
                <a:solidFill>
                  <a:srgbClr val="0F172A"/>
                </a:solidFill>
              </a:defRPr>
            </a:pPr>
            <a:r>
              <a:rPr b="1" sz="1650" i="0" u="none">
                <a:solidFill>
                  <a:srgbClr val="0F2C59"/>
                </a:solidFill>
                <a:latin typeface="Be Vietnam Pro"/>
              </a:rPr>
              <a:t>Thời gian Tính toán</a:t>
            </a:r>
          </a:p>
        </p:txBody>
      </p:sp>
      <p:sp>
        <p:nvSpPr>
          <p:cNvPr id="15" name="TextBox 14"/>
          <p:cNvSpPr txBox="1"/>
          <p:nvPr/>
        </p:nvSpPr>
        <p:spPr>
          <a:xfrm>
            <a:off x="8321040" y="3017520"/>
            <a:ext cx="3063240" cy="365760"/>
          </a:xfrm>
          <a:prstGeom prst="rect">
            <a:avLst/>
          </a:prstGeom>
          <a:noFill/>
        </p:spPr>
        <p:txBody>
          <a:bodyPr wrap="none" lIns="0" rIns="0" tIns="0" bIns="0" anchor="t">
            <a:spAutoFit/>
          </a:bodyPr>
          <a:lstStyle/>
          <a:p>
            <a:pPr algn="l">
              <a:defRPr sz="1300" b="1">
                <a:solidFill>
                  <a:srgbClr val="0F172A"/>
                </a:solidFill>
              </a:defRPr>
            </a:pPr>
            <a:r>
              <a:rPr b="1" sz="1650" i="0" u="none">
                <a:solidFill>
                  <a:srgbClr val="0F2C59"/>
                </a:solidFill>
                <a:latin typeface="Be Vietnam Pro"/>
              </a:rPr>
              <a:t>Khuyến nghị Y tế</a:t>
            </a:r>
          </a:p>
        </p:txBody>
      </p:sp>
      <p:sp>
        <p:nvSpPr>
          <p:cNvPr id="16" name="TextBox 15"/>
          <p:cNvSpPr txBox="1"/>
          <p:nvPr/>
        </p:nvSpPr>
        <p:spPr>
          <a:xfrm>
            <a:off x="795528" y="3520440"/>
            <a:ext cx="3063240" cy="548640"/>
          </a:xfrm>
          <a:prstGeom prst="rect">
            <a:avLst/>
          </a:prstGeom>
          <a:noFill/>
        </p:spPr>
        <p:txBody>
          <a:bodyPr wrap="square" lIns="0" rIns="0" tIns="0" bIns="0" anchor="t">
            <a:spAutoFit/>
          </a:bodyPr>
          <a:lstStyle/>
          <a:p>
            <a:pPr algn="l">
              <a:defRPr sz="1100">
                <a:solidFill>
                  <a:srgbClr val="475569"/>
                </a:solidFill>
              </a:defRPr>
            </a:pPr>
            <a:r>
              <a:rPr b="1" sz="1350" i="0" u="none">
                <a:solidFill>
                  <a:srgbClr val="334155"/>
                </a:solidFill>
                <a:latin typeface="Be Vietnam Pro"/>
              </a:rPr>
              <a:t>Random Forest:</a:t>
            </a:r>
            <a:r>
              <a:rPr b="0" sz="1350" i="0" u="none">
                <a:solidFill>
                  <a:srgbClr val="334155"/>
                </a:solidFill>
                <a:latin typeface="Be Vietnam Pro"/>
              </a:rPr>
              <a:t> Giảm mạnh phương sai mô hình.</a:t>
            </a:r>
          </a:p>
        </p:txBody>
      </p:sp>
      <p:sp>
        <p:nvSpPr>
          <p:cNvPr id="17" name="TextBox 16"/>
          <p:cNvSpPr txBox="1"/>
          <p:nvPr/>
        </p:nvSpPr>
        <p:spPr>
          <a:xfrm>
            <a:off x="795528" y="4160520"/>
            <a:ext cx="3063240" cy="548640"/>
          </a:xfrm>
          <a:prstGeom prst="rect">
            <a:avLst/>
          </a:prstGeom>
          <a:noFill/>
        </p:spPr>
        <p:txBody>
          <a:bodyPr wrap="none" lIns="0" rIns="0" tIns="0" bIns="0" anchor="t">
            <a:spAutoFit/>
          </a:bodyPr>
          <a:lstStyle/>
          <a:p>
            <a:pPr algn="l">
              <a:defRPr sz="1100">
                <a:solidFill>
                  <a:srgbClr val="475569"/>
                </a:solidFill>
              </a:defRPr>
            </a:pPr>
            <a:r>
              <a:rPr b="1" sz="1350" i="0" u="none">
                <a:solidFill>
                  <a:srgbClr val="334155"/>
                </a:solidFill>
                <a:latin typeface="Be Vietnam Pro"/>
              </a:rPr>
              <a:t>AdaBoost:</a:t>
            </a:r>
            <a:r>
              <a:rPr b="0" sz="1350" i="0" u="none">
                <a:solidFill>
                  <a:srgbClr val="334155"/>
                </a:solidFill>
                <a:latin typeface="Be Vietnam Pro"/>
              </a:rPr>
              <a:t> Giảm độ chệch tuần tự.</a:t>
            </a:r>
          </a:p>
        </p:txBody>
      </p:sp>
      <p:sp>
        <p:nvSpPr>
          <p:cNvPr id="18" name="TextBox 17"/>
          <p:cNvSpPr txBox="1"/>
          <p:nvPr/>
        </p:nvSpPr>
        <p:spPr>
          <a:xfrm>
            <a:off x="795528" y="4800600"/>
            <a:ext cx="3063240" cy="548640"/>
          </a:xfrm>
          <a:prstGeom prst="rect">
            <a:avLst/>
          </a:prstGeom>
          <a:noFill/>
        </p:spPr>
        <p:txBody>
          <a:bodyPr wrap="square" lIns="0" rIns="0" tIns="0" bIns="0" anchor="t">
            <a:spAutoFit/>
          </a:bodyPr>
          <a:lstStyle/>
          <a:p>
            <a:pPr algn="l">
              <a:defRPr sz="1100">
                <a:solidFill>
                  <a:srgbClr val="475569"/>
                </a:solidFill>
              </a:defRPr>
            </a:pPr>
            <a:r>
              <a:rPr b="1" sz="1350" i="0" u="none">
                <a:solidFill>
                  <a:srgbClr val="334155"/>
                </a:solidFill>
                <a:latin typeface="Be Vietnam Pro"/>
              </a:rPr>
              <a:t>Stacking:</a:t>
            </a:r>
            <a:r>
              <a:rPr b="0" sz="1350" i="0" u="none">
                <a:solidFill>
                  <a:srgbClr val="334155"/>
                </a:solidFill>
                <a:latin typeface="Be Vietnam Pro"/>
              </a:rPr>
              <a:t> Tối ưu xác suất đa mô hình.</a:t>
            </a:r>
          </a:p>
        </p:txBody>
      </p:sp>
      <p:sp>
        <p:nvSpPr>
          <p:cNvPr id="19" name="TextBox 18"/>
          <p:cNvSpPr txBox="1"/>
          <p:nvPr/>
        </p:nvSpPr>
        <p:spPr>
          <a:xfrm>
            <a:off x="4562856" y="3520440"/>
            <a:ext cx="3063240" cy="548640"/>
          </a:xfrm>
          <a:prstGeom prst="rect">
            <a:avLst/>
          </a:prstGeom>
          <a:noFill/>
        </p:spPr>
        <p:txBody>
          <a:bodyPr wrap="square" lIns="0" rIns="0" tIns="0" bIns="0" anchor="t">
            <a:spAutoFit/>
          </a:bodyPr>
          <a:lstStyle/>
          <a:p>
            <a:pPr algn="l">
              <a:defRPr sz="1100">
                <a:solidFill>
                  <a:srgbClr val="475569"/>
                </a:solidFill>
              </a:defRPr>
            </a:pPr>
            <a:r>
              <a:rPr b="1" sz="1350" i="0" u="none">
                <a:solidFill>
                  <a:srgbClr val="334155"/>
                </a:solidFill>
                <a:latin typeface="Be Vietnam Pro"/>
              </a:rPr>
              <a:t>Decision Tree:</a:t>
            </a:r>
            <a:r>
              <a:rPr b="0" sz="1350" i="0" u="none">
                <a:solidFill>
                  <a:srgbClr val="334155"/>
                </a:solidFill>
                <a:latin typeface="Be Vietnam Pro"/>
              </a:rPr>
              <a:t> Huấn luyện cực nhanh 0.008s.</a:t>
            </a:r>
          </a:p>
        </p:txBody>
      </p:sp>
      <p:sp>
        <p:nvSpPr>
          <p:cNvPr id="20" name="TextBox 19"/>
          <p:cNvSpPr txBox="1"/>
          <p:nvPr/>
        </p:nvSpPr>
        <p:spPr>
          <a:xfrm>
            <a:off x="4562856" y="4160520"/>
            <a:ext cx="3063240" cy="548640"/>
          </a:xfrm>
          <a:prstGeom prst="rect">
            <a:avLst/>
          </a:prstGeom>
          <a:noFill/>
        </p:spPr>
        <p:txBody>
          <a:bodyPr wrap="none" lIns="0" rIns="0" tIns="0" bIns="0" anchor="t">
            <a:spAutoFit/>
          </a:bodyPr>
          <a:lstStyle/>
          <a:p>
            <a:pPr algn="l">
              <a:defRPr sz="1100">
                <a:solidFill>
                  <a:srgbClr val="475569"/>
                </a:solidFill>
              </a:defRPr>
            </a:pPr>
            <a:r>
              <a:rPr b="1" sz="1350" i="0" u="none">
                <a:solidFill>
                  <a:srgbClr val="334155"/>
                </a:solidFill>
                <a:latin typeface="Be Vietnam Pro"/>
              </a:rPr>
              <a:t>Stacking:</a:t>
            </a:r>
            <a:r>
              <a:rPr b="0" sz="1350" i="0" u="none">
                <a:solidFill>
                  <a:srgbClr val="334155"/>
                </a:solidFill>
                <a:latin typeface="Be Vietnam Pro"/>
              </a:rPr>
              <a:t> Tốn 2.46s gấp 300 lần.</a:t>
            </a:r>
          </a:p>
        </p:txBody>
      </p:sp>
      <p:sp>
        <p:nvSpPr>
          <p:cNvPr id="21" name="TextBox 20"/>
          <p:cNvSpPr txBox="1"/>
          <p:nvPr/>
        </p:nvSpPr>
        <p:spPr>
          <a:xfrm>
            <a:off x="4562856" y="4800600"/>
            <a:ext cx="3063240" cy="548640"/>
          </a:xfrm>
          <a:prstGeom prst="rect">
            <a:avLst/>
          </a:prstGeom>
          <a:noFill/>
        </p:spPr>
        <p:txBody>
          <a:bodyPr wrap="square" lIns="0" rIns="0" tIns="0" bIns="0" anchor="t">
            <a:spAutoFit/>
          </a:bodyPr>
          <a:lstStyle/>
          <a:p>
            <a:pPr algn="l">
              <a:defRPr sz="1100">
                <a:solidFill>
                  <a:srgbClr val="475569"/>
                </a:solidFill>
              </a:defRPr>
            </a:pPr>
            <a:r>
              <a:rPr b="1" sz="1350" i="0" u="none">
                <a:solidFill>
                  <a:srgbClr val="334155"/>
                </a:solidFill>
                <a:latin typeface="Be Vietnam Pro"/>
              </a:rPr>
              <a:t>Triển khai:</a:t>
            </a:r>
            <a:r>
              <a:rPr b="0" sz="1350" i="0" u="none">
                <a:solidFill>
                  <a:srgbClr val="334155"/>
                </a:solidFill>
                <a:latin typeface="Be Vietnam Pro"/>
              </a:rPr>
              <a:t> Cân nhắc độ trễ thời gian thực.</a:t>
            </a:r>
          </a:p>
        </p:txBody>
      </p:sp>
      <p:sp>
        <p:nvSpPr>
          <p:cNvPr id="22" name="TextBox 21"/>
          <p:cNvSpPr txBox="1"/>
          <p:nvPr/>
        </p:nvSpPr>
        <p:spPr>
          <a:xfrm>
            <a:off x="8321040" y="3520440"/>
            <a:ext cx="3063240" cy="548640"/>
          </a:xfrm>
          <a:prstGeom prst="rect">
            <a:avLst/>
          </a:prstGeom>
          <a:noFill/>
        </p:spPr>
        <p:txBody>
          <a:bodyPr wrap="square" lIns="0" rIns="0" tIns="0" bIns="0" anchor="t">
            <a:spAutoFit/>
          </a:bodyPr>
          <a:lstStyle/>
          <a:p>
            <a:pPr algn="l">
              <a:defRPr sz="1100">
                <a:solidFill>
                  <a:srgbClr val="475569"/>
                </a:solidFill>
              </a:defRPr>
            </a:pPr>
            <a:r>
              <a:rPr b="1" sz="1350" i="0" u="none">
                <a:solidFill>
                  <a:srgbClr val="334155"/>
                </a:solidFill>
                <a:latin typeface="Be Vietnam Pro"/>
              </a:rPr>
              <a:t>Ưu tiên:</a:t>
            </a:r>
            <a:r>
              <a:rPr b="0" sz="1350" i="0" u="none">
                <a:solidFill>
                  <a:srgbClr val="334155"/>
                </a:solidFill>
                <a:latin typeface="Be Vietnam Pro"/>
              </a:rPr>
              <a:t> Tối đa hóa Recall lớp ác tính.</a:t>
            </a:r>
          </a:p>
        </p:txBody>
      </p:sp>
      <p:sp>
        <p:nvSpPr>
          <p:cNvPr id="23" name="TextBox 22"/>
          <p:cNvSpPr txBox="1"/>
          <p:nvPr/>
        </p:nvSpPr>
        <p:spPr>
          <a:xfrm>
            <a:off x="8321040" y="4160520"/>
            <a:ext cx="3063240" cy="548640"/>
          </a:xfrm>
          <a:prstGeom prst="rect">
            <a:avLst/>
          </a:prstGeom>
          <a:noFill/>
        </p:spPr>
        <p:txBody>
          <a:bodyPr wrap="none" lIns="0" rIns="0" tIns="0" bIns="0" anchor="t">
            <a:spAutoFit/>
          </a:bodyPr>
          <a:lstStyle/>
          <a:p>
            <a:pPr algn="l">
              <a:defRPr sz="1100">
                <a:solidFill>
                  <a:srgbClr val="475569"/>
                </a:solidFill>
              </a:defRPr>
            </a:pPr>
            <a:r>
              <a:rPr b="1" sz="1350" i="0" u="none">
                <a:solidFill>
                  <a:srgbClr val="334155"/>
                </a:solidFill>
                <a:latin typeface="Be Vietnam Pro"/>
              </a:rPr>
              <a:t>Mục tiêu:</a:t>
            </a:r>
            <a:r>
              <a:rPr b="0" sz="1350" i="0" u="none">
                <a:solidFill>
                  <a:srgbClr val="334155"/>
                </a:solidFill>
                <a:latin typeface="Be Vietnam Pro"/>
              </a:rPr>
              <a:t> Tránh bỏ sót người bệnh.</a:t>
            </a:r>
          </a:p>
        </p:txBody>
      </p:sp>
      <p:sp>
        <p:nvSpPr>
          <p:cNvPr id="24" name="TextBox 23"/>
          <p:cNvSpPr txBox="1"/>
          <p:nvPr/>
        </p:nvSpPr>
        <p:spPr>
          <a:xfrm>
            <a:off x="8321040" y="4800600"/>
            <a:ext cx="3063240" cy="548640"/>
          </a:xfrm>
          <a:prstGeom prst="rect">
            <a:avLst/>
          </a:prstGeom>
          <a:noFill/>
        </p:spPr>
        <p:txBody>
          <a:bodyPr wrap="square" lIns="0" rIns="0" tIns="0" bIns="0" anchor="t">
            <a:spAutoFit/>
          </a:bodyPr>
          <a:lstStyle/>
          <a:p>
            <a:pPr algn="l">
              <a:defRPr sz="1100">
                <a:solidFill>
                  <a:srgbClr val="475569"/>
                </a:solidFill>
              </a:defRPr>
            </a:pPr>
            <a:r>
              <a:rPr b="1" sz="1350" i="0" u="none">
                <a:solidFill>
                  <a:srgbClr val="334155"/>
                </a:solidFill>
                <a:latin typeface="Be Vietnam Pro"/>
              </a:rPr>
              <a:t>Vai trò:</a:t>
            </a:r>
            <a:r>
              <a:rPr b="0" sz="1350" i="0" u="none">
                <a:solidFill>
                  <a:srgbClr val="334155"/>
                </a:solidFill>
                <a:latin typeface="Be Vietnam Pro"/>
              </a:rPr>
              <a:t> Công cụ hỗ trợ sàng lọc sơ bộ.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92C"/>
        </a:solidFill>
        <a:effectLst/>
      </p:bgPr>
    </p:bg>
    <p:spTree>
      <p:nvGrpSpPr>
        <p:cNvPr id="1" name=""/>
        <p:cNvGrpSpPr/>
        <p:nvPr/>
      </p:nvGrpSpPr>
      <p:grpSpPr/>
      <p:sp>
        <p:nvSpPr>
          <p:cNvPr id="2" name="Rounded Rectangle 1"/>
          <p:cNvSpPr/>
          <p:nvPr/>
        </p:nvSpPr>
        <p:spPr>
          <a:xfrm>
            <a:off x="5753100" y="4429125"/>
            <a:ext cx="685800" cy="38100"/>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5267325" y="1857375"/>
            <a:ext cx="1657350" cy="647700"/>
          </a:xfrm>
          <a:prstGeom prst="rect">
            <a:avLst/>
          </a:prstGeom>
        </p:spPr>
      </p:pic>
      <p:pic>
        <p:nvPicPr>
          <p:cNvPr id="4" name="Picture 3" descr="image.png"/>
          <p:cNvPicPr>
            <a:picLocks noChangeAspect="1"/>
          </p:cNvPicPr>
          <p:nvPr/>
        </p:nvPicPr>
        <p:blipFill>
          <a:blip r:embed="rId3"/>
          <a:stretch>
            <a:fillRect/>
          </a:stretch>
        </p:blipFill>
        <p:spPr>
          <a:xfrm>
            <a:off x="5476875" y="1971675"/>
            <a:ext cx="1238250" cy="419100"/>
          </a:xfrm>
          <a:prstGeom prst="rect">
            <a:avLst/>
          </a:prstGeom>
        </p:spPr>
      </p:pic>
      <p:sp>
        <p:nvSpPr>
          <p:cNvPr id="5" name="TextBox 4"/>
          <p:cNvSpPr txBox="1"/>
          <p:nvPr/>
        </p:nvSpPr>
        <p:spPr>
          <a:xfrm>
            <a:off x="2905125" y="2771775"/>
            <a:ext cx="6381750" cy="180975"/>
          </a:xfrm>
          <a:prstGeom prst="rect">
            <a:avLst/>
          </a:prstGeom>
          <a:noFill/>
        </p:spPr>
        <p:txBody>
          <a:bodyPr wrap="none" lIns="0" rIns="0" tIns="0" bIns="0" anchor="t">
            <a:spAutoFit/>
          </a:bodyPr>
          <a:lstStyle/>
          <a:p>
            <a:pPr algn="ctr"/>
            <a:r>
              <a:rPr b="1" sz="1125" i="0" u="none">
                <a:solidFill>
                  <a:srgbClr val="2DD4BF"/>
                </a:solidFill>
                <a:latin typeface="Be Vietnam Pro"/>
              </a:rPr>
              <a:t>TRƯỜNG ĐẠI HỌC TÔN ĐỨC THẮNG • NHẬP MÔN HỌC MÁY</a:t>
            </a:r>
          </a:p>
        </p:txBody>
      </p:sp>
      <p:sp>
        <p:nvSpPr>
          <p:cNvPr id="6" name="TextBox 5"/>
          <p:cNvSpPr txBox="1"/>
          <p:nvPr/>
        </p:nvSpPr>
        <p:spPr>
          <a:xfrm>
            <a:off x="5953" y="3105150"/>
            <a:ext cx="12180093" cy="581025"/>
          </a:xfrm>
          <a:prstGeom prst="rect">
            <a:avLst/>
          </a:prstGeom>
          <a:noFill/>
        </p:spPr>
        <p:txBody>
          <a:bodyPr wrap="none" lIns="0" rIns="0" tIns="0" bIns="0" anchor="t">
            <a:spAutoFit/>
          </a:bodyPr>
          <a:lstStyle/>
          <a:p>
            <a:pPr algn="ctr"/>
            <a:r>
              <a:rPr b="1" sz="3600" i="0" u="none">
                <a:solidFill>
                  <a:srgbClr val="FFFFFF"/>
                </a:solidFill>
                <a:latin typeface="Be Vietnam Pro"/>
              </a:rPr>
              <a:t>Cảm ơn Thầy/Cô &amp; Các bạn đã lắng nghe!</a:t>
            </a:r>
          </a:p>
        </p:txBody>
      </p:sp>
      <p:sp>
        <p:nvSpPr>
          <p:cNvPr id="7" name="TextBox 6"/>
          <p:cNvSpPr txBox="1"/>
          <p:nvPr/>
        </p:nvSpPr>
        <p:spPr>
          <a:xfrm>
            <a:off x="3315890" y="3857625"/>
            <a:ext cx="5560218" cy="266700"/>
          </a:xfrm>
          <a:prstGeom prst="rect">
            <a:avLst/>
          </a:prstGeom>
          <a:noFill/>
        </p:spPr>
        <p:txBody>
          <a:bodyPr wrap="none" lIns="0" rIns="0" tIns="0" bIns="0" anchor="t">
            <a:spAutoFit/>
          </a:bodyPr>
          <a:lstStyle/>
          <a:p>
            <a:pPr algn="ctr"/>
            <a:r>
              <a:rPr b="0" sz="1650" i="0" u="none">
                <a:solidFill>
                  <a:srgbClr val="94A3B8"/>
                </a:solidFill>
                <a:latin typeface="Be Vietnam Pro"/>
              </a:rPr>
              <a:t>Phần Thảo luận &amp; Giải đáp Thắc mắc (Q&amp;A)</a:t>
            </a:r>
          </a:p>
        </p:txBody>
      </p:sp>
      <p:sp>
        <p:nvSpPr>
          <p:cNvPr id="8" name="TextBox 7"/>
          <p:cNvSpPr txBox="1"/>
          <p:nvPr/>
        </p:nvSpPr>
        <p:spPr>
          <a:xfrm>
            <a:off x="976312" y="4772025"/>
            <a:ext cx="10239375" cy="228600"/>
          </a:xfrm>
          <a:prstGeom prst="rect">
            <a:avLst/>
          </a:prstGeom>
          <a:noFill/>
        </p:spPr>
        <p:txBody>
          <a:bodyPr wrap="none" lIns="0" rIns="0" tIns="0" bIns="0" anchor="t">
            <a:spAutoFit/>
          </a:bodyPr>
          <a:lstStyle/>
          <a:p>
            <a:pPr algn="ctr">
              <a:defRPr sz="1100">
                <a:solidFill>
                  <a:srgbClr val="64748B"/>
                </a:solidFill>
              </a:defRPr>
            </a:pPr>
            <a:r>
              <a:t>Thành viên thực hiện: Trần Hữu Nam (Gói A)  •  Nguyễn Anh Hào (Gói B)  •  Nguyễn Trọng Quý (Gói C)</a:t>
            </a:r>
          </a:p>
          <a:p>
            <a:pPr algn="ctr">
              <a:defRPr sz="1100">
                <a:solidFill>
                  <a:srgbClr val="64748B"/>
                </a:solidFill>
              </a:defRPr>
            </a:pPr>
            <a:r>
              <a:t>Trường Đại học Tôn Đức Thắng (TDTU) - Khoa Kỹ thuật và Khoa học Máy tính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